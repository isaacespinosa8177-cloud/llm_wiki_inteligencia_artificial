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Helvetica World" pitchFamily="2" charset="0"/>
      <p:regular r:id="rId22"/>
    </p:embeddedFont>
    <p:embeddedFont>
      <p:font typeface="Helvetica World Bold" pitchFamily="2" charset="0"/>
      <p:regular r:id="rId23"/>
    </p:embeddedFont>
    <p:embeddedFont>
      <p:font typeface="Helvetica World Bold Italics" pitchFamily="2" charset="0"/>
      <p:regular r:id="rId24"/>
    </p:embeddedFont>
    <p:embeddedFont>
      <p:font typeface="Telegraf"/>
      <p:regular r:id="rId25"/>
    </p:embeddedFont>
    <p:embeddedFont>
      <p:font typeface="Telegraf Medium"/>
      <p:regular r:id="rId26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4BA5C-A732-493B-B0BD-2A5E7919B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EC84C-EEF1-4C8E-9173-F2B626188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92E27-8BC2-40C8-82B1-F066D55E1AF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20734-5E70-4CE8-95F4-5EEA4377DF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74734-29FE-4888-9D8A-9EBA7EC68A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27AA-2637-44BA-BB4B-5858424F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FA4A1-E5DA-4A4D-ACCD-9F5E4212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42468-B95D-438E-8FC2-BDAB33385F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DE0F7-F519-4232-8026-3AB697B4DBA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08F94-9CF1-4FC4-A37D-E78F9C71BD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163BE-8548-471D-9263-110F68A64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F57E8-E5DB-404C-8ACE-C702203E3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B7C7C-8FEB-4722-8D34-88E40F2BEE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83A9A-DE73-4E14-AF8A-B75683FB9D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4C9FC-F102-421E-A3A5-BE968074EA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E3B0-6D43-4D55-9DEA-69231E18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0A6C-4188-4C27-973F-2B135591A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83E5E-7B24-4117-BEEB-30A1DA8FC04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E233C-2A6B-46B3-8525-B1BE4BD1E6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9F5E5-2A97-4DC3-A796-A70B68FC78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A4AC0-9AA1-44FE-8A80-725F5294CB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48731-533C-4158-BC52-CE7992CB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E4165-1B06-40E6-8E9D-A6357748D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9AE7B-D4C1-4682-872D-CC9BE9D1D68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E7B1AC-5951-4ABA-96D9-F3ECA1F4BC4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B342EC-A24F-4A97-A07D-52316C36CB8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92CD0-40B4-4F1B-B415-8DFF5565BE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A2DE86-656C-4791-A973-8FCAEAD173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C429A7-E75E-4498-A5DE-6AC77A901E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F8C8-75F7-45EE-9E4E-50C9B52A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5F75E-FF18-4E71-B03F-40C976476B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74DDD-74F9-4206-977A-FEABC55BD7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AF228-2772-4E9B-8E43-FE9267D750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D17E29-ACAA-41B2-870C-5B253D4394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445156-164F-465E-976F-BF947FD072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FAB08-D0C8-4107-AD19-429B7866D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E7B2-826F-4C65-93C8-951B06D0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FF2F7-1D64-4776-B4D5-1DF5E85F7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3A011-1549-4546-904F-B67B8F844C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45E9A-5417-4AF2-B803-F3837323C5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4BD4D-5BED-4979-8D10-7293E1BC27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EE874-A106-4D5D-8301-72D7C2F233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2AD8-E0E5-47B4-8E37-29595271E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2FE5A-CC6D-4028-A841-719510E1D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1329D-37CE-4120-B535-2A8C95E18C9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6226E-5A0E-4DEF-A514-DE120375B3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AB525-EF23-4FDB-9D79-5039109C99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F9A4A-D77F-4C11-BE3E-4D6DF6CB6A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E6EE3-C174-4F03-ACA1-AD5D12A56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5873C-AF67-47B8-93A7-A2C737300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8B61C-488E-4010-A3DD-641684C503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E4A1D-9F9A-4024-8C5E-BCFBC8C0C5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0B994-DDC7-476F-8A32-0402FB5CF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EC5F19-5FA6-49A8-BC2A-453B1FE55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C2684-8364-4E77-811D-E2AB2C206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F76C8-DB7A-42FF-80CA-B3216563C1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D5F14-5B16-43F5-89FF-4B638BC66B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7C4CD-57AE-49D7-BC25-68458D2E2A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47664-968E-4615-A464-A0594DD88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B417C-F780-4588-9198-5F3A571D6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EFD1E-4702-4F0A-BAA1-AB34FBBB814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EF013-0BEA-4D49-9D44-C05A23B5ABD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25224-7A2B-49A5-B5F8-5F856DD02B3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5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4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svg"/><Relationship Id="rId4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0428D5B-1666-4E13-9358-9AD3D8ECECD0}"/>
              </a:ext>
            </a:extLst>
          </p:cNvPr>
          <p:cNvSpPr>
            <a:spLocks noGrp="1"/>
          </p:cNvSpPr>
          <p:nvPr/>
        </p:nvSpPr>
        <p:spPr>
          <a:xfrm>
            <a:off x="10050573" y="2056415"/>
            <a:ext cx="7210168" cy="6518130"/>
          </a:xfrm>
          <a:custGeom>
            <a:avLst/>
            <a:gdLst/>
            <a:ahLst/>
            <a:cxnLst/>
            <a:rect l="l" t="t" r="r" b="b"/>
            <a:pathLst>
              <a:path w="6351270" h="5741670">
                <a:moveTo>
                  <a:pt x="0" y="542290"/>
                </a:moveTo>
                <a:lnTo>
                  <a:pt x="0" y="2392680"/>
                </a:lnTo>
                <a:cubicBezTo>
                  <a:pt x="0" y="2691130"/>
                  <a:pt x="242570" y="2933700"/>
                  <a:pt x="542290" y="2933700"/>
                </a:cubicBezTo>
                <a:lnTo>
                  <a:pt x="1148080" y="2933700"/>
                </a:lnTo>
                <a:cubicBezTo>
                  <a:pt x="1447800" y="2933700"/>
                  <a:pt x="1690370" y="3176270"/>
                  <a:pt x="1690370" y="3475990"/>
                </a:cubicBezTo>
                <a:lnTo>
                  <a:pt x="1690370" y="5199380"/>
                </a:lnTo>
                <a:cubicBezTo>
                  <a:pt x="1690370" y="5499100"/>
                  <a:pt x="1932940" y="5741670"/>
                  <a:pt x="2232660" y="5741670"/>
                </a:cubicBezTo>
                <a:lnTo>
                  <a:pt x="3599180" y="5741670"/>
                </a:lnTo>
                <a:cubicBezTo>
                  <a:pt x="3735070" y="5741670"/>
                  <a:pt x="3867150" y="5689600"/>
                  <a:pt x="3967480" y="5598160"/>
                </a:cubicBezTo>
                <a:lnTo>
                  <a:pt x="6177280" y="3553460"/>
                </a:lnTo>
                <a:cubicBezTo>
                  <a:pt x="6287770" y="3450590"/>
                  <a:pt x="6351270" y="3307080"/>
                  <a:pt x="6351270" y="3155950"/>
                </a:cubicBezTo>
                <a:lnTo>
                  <a:pt x="6351270" y="542290"/>
                </a:lnTo>
                <a:cubicBezTo>
                  <a:pt x="6350000" y="242570"/>
                  <a:pt x="6107430" y="0"/>
                  <a:pt x="5807710" y="0"/>
                </a:cubicBezTo>
                <a:lnTo>
                  <a:pt x="542290" y="0"/>
                </a:lnTo>
                <a:cubicBezTo>
                  <a:pt x="242570" y="0"/>
                  <a:pt x="0" y="242570"/>
                  <a:pt x="0" y="542290"/>
                </a:cubicBezTo>
                <a:close/>
              </a:path>
            </a:pathLst>
          </a:custGeom>
          <a:blipFill>
            <a:blip r:embed="rId3"/>
            <a:stretch>
              <a:fillRect l="-4613" r="-70499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4802039-6AA9-4089-B37C-51121D9BF8D6}"/>
              </a:ext>
            </a:extLst>
          </p:cNvPr>
          <p:cNvSpPr>
            <a:spLocks noGrp="1"/>
          </p:cNvSpPr>
          <p:nvPr/>
        </p:nvSpPr>
        <p:spPr>
          <a:xfrm>
            <a:off x="1028700" y="6647440"/>
            <a:ext cx="47625" cy="67806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9994C87-A94B-471E-A4A3-C2CDC991CEEE}"/>
              </a:ext>
            </a:extLst>
          </p:cNvPr>
          <p:cNvSpPr>
            <a:spLocks noGrp="1"/>
          </p:cNvSpPr>
          <p:nvPr/>
        </p:nvSpPr>
        <p:spPr>
          <a:xfrm>
            <a:off x="12344694" y="3494900"/>
            <a:ext cx="4033272" cy="3297200"/>
          </a:xfrm>
          <a:custGeom>
            <a:avLst/>
            <a:gdLst/>
            <a:ahLst/>
            <a:cxnLst/>
            <a:rect l="l" t="t" r="r" b="b"/>
            <a:pathLst>
              <a:path w="4033272" h="3297200">
                <a:moveTo>
                  <a:pt x="0" y="0"/>
                </a:moveTo>
                <a:lnTo>
                  <a:pt x="4033272" y="0"/>
                </a:lnTo>
                <a:lnTo>
                  <a:pt x="4033272" y="3297200"/>
                </a:lnTo>
                <a:lnTo>
                  <a:pt x="0" y="3297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5362D63-8644-4D23-B1FB-44CF2B772022}"/>
              </a:ext>
            </a:extLst>
          </p:cNvPr>
          <p:cNvSpPr>
            <a:spLocks noGrp="1"/>
          </p:cNvSpPr>
          <p:nvPr/>
        </p:nvSpPr>
        <p:spPr>
          <a:xfrm>
            <a:off x="12086786" y="2489253"/>
            <a:ext cx="515814" cy="839343"/>
          </a:xfrm>
          <a:custGeom>
            <a:avLst/>
            <a:gdLst/>
            <a:ahLst/>
            <a:cxnLst/>
            <a:rect l="l" t="t" r="r" b="b"/>
            <a:pathLst>
              <a:path w="515814" h="839343">
                <a:moveTo>
                  <a:pt x="0" y="0"/>
                </a:moveTo>
                <a:lnTo>
                  <a:pt x="515815" y="0"/>
                </a:lnTo>
                <a:lnTo>
                  <a:pt x="515815" y="839343"/>
                </a:lnTo>
                <a:lnTo>
                  <a:pt x="0" y="839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B26BC1A-8DB9-440B-8D5F-0A81982CEC34}"/>
              </a:ext>
            </a:extLst>
          </p:cNvPr>
          <p:cNvSpPr>
            <a:spLocks noGrp="1"/>
          </p:cNvSpPr>
          <p:nvPr/>
        </p:nvSpPr>
        <p:spPr>
          <a:xfrm>
            <a:off x="1028700" y="1818290"/>
            <a:ext cx="9021873" cy="426537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1125"/>
              </a:lnSpc>
              <a:spcBef>
                <a:spcPct val="0"/>
              </a:spcBef>
              <a:buNone/>
            </a:pPr>
            <a:r>
              <a:rPr sz="7946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Optimization and Biology-Inspired Agents</a:t>
            </a:r>
          </a:p>
        </p:txBody>
      </p:sp>
    </p:spTree>
    <p:extLst>
      <p:ext uri="{BB962C8B-B14F-4D97-AF65-F5344CB8AC3E}">
        <p14:creationId xmlns:p14="http://schemas.microsoft.com/office/powerpoint/2010/main" val="1413132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00EA32E-F971-4660-AACD-2CAEB89CD685}"/>
              </a:ext>
            </a:extLst>
          </p:cNvPr>
          <p:cNvSpPr>
            <a:spLocks noGrp="1"/>
          </p:cNvSpPr>
          <p:nvPr/>
        </p:nvSpPr>
        <p:spPr>
          <a:xfrm flipH="1" flipV="1">
            <a:off x="7567305" y="4097650"/>
            <a:ext cx="222105" cy="172434"/>
          </a:xfrm>
          <a:custGeom>
            <a:avLst/>
            <a:gdLst/>
            <a:ahLst/>
            <a:cxnLst/>
            <a:rect l="l" t="t" r="r" b="b"/>
            <a:pathLst>
              <a:path w="222105" h="172434">
                <a:moveTo>
                  <a:pt x="222105" y="172434"/>
                </a:moveTo>
                <a:lnTo>
                  <a:pt x="0" y="172434"/>
                </a:lnTo>
                <a:lnTo>
                  <a:pt x="0" y="0"/>
                </a:lnTo>
                <a:lnTo>
                  <a:pt x="222105" y="0"/>
                </a:lnTo>
                <a:lnTo>
                  <a:pt x="222105" y="17243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D530763-5527-41A3-8EA5-F3072E0FE74B}"/>
              </a:ext>
            </a:extLst>
          </p:cNvPr>
          <p:cNvSpPr>
            <a:spLocks noGrp="1"/>
          </p:cNvSpPr>
          <p:nvPr/>
        </p:nvSpPr>
        <p:spPr>
          <a:xfrm>
            <a:off x="843435" y="7170392"/>
            <a:ext cx="9338377" cy="223643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286"/>
              </a:lnSpc>
              <a:buNone/>
            </a:pPr>
            <a:r>
              <a:rPr sz="8286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Evolutionary Computation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A3C45C4-6020-45C0-B4A2-A57612E67A30}"/>
              </a:ext>
            </a:extLst>
          </p:cNvPr>
          <p:cNvSpPr>
            <a:spLocks noGrp="1"/>
          </p:cNvSpPr>
          <p:nvPr/>
        </p:nvSpPr>
        <p:spPr>
          <a:xfrm>
            <a:off x="657125" y="1508843"/>
            <a:ext cx="7969174" cy="4783098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4"/>
            <a:stretch>
              <a:fillRect b="-25583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7453A9B-99EF-49DF-8A2A-3735F80D9C28}"/>
              </a:ext>
            </a:extLst>
          </p:cNvPr>
          <p:cNvSpPr>
            <a:spLocks noGrp="1"/>
          </p:cNvSpPr>
          <p:nvPr/>
        </p:nvSpPr>
        <p:spPr>
          <a:xfrm>
            <a:off x="9144000" y="713026"/>
            <a:ext cx="8830237" cy="8860949"/>
          </a:xfrm>
          <a:custGeom>
            <a:avLst/>
            <a:gdLst/>
            <a:ahLst/>
            <a:cxnLst/>
            <a:rect l="l" t="t" r="r" b="b"/>
            <a:pathLst>
              <a:path w="2325659" h="2333748">
                <a:moveTo>
                  <a:pt x="26303" y="0"/>
                </a:moveTo>
                <a:lnTo>
                  <a:pt x="2299357" y="0"/>
                </a:lnTo>
                <a:cubicBezTo>
                  <a:pt x="2313883" y="0"/>
                  <a:pt x="2325659" y="11776"/>
                  <a:pt x="2325659" y="26303"/>
                </a:cubicBezTo>
                <a:lnTo>
                  <a:pt x="2325659" y="2307445"/>
                </a:lnTo>
                <a:cubicBezTo>
                  <a:pt x="2325659" y="2321972"/>
                  <a:pt x="2313883" y="2333748"/>
                  <a:pt x="2299357" y="2333748"/>
                </a:cubicBezTo>
                <a:lnTo>
                  <a:pt x="26303" y="2333748"/>
                </a:lnTo>
                <a:cubicBezTo>
                  <a:pt x="11776" y="2333748"/>
                  <a:pt x="0" y="2321972"/>
                  <a:pt x="0" y="2307445"/>
                </a:cubicBezTo>
                <a:lnTo>
                  <a:pt x="0" y="26303"/>
                </a:lnTo>
                <a:cubicBezTo>
                  <a:pt x="0" y="11776"/>
                  <a:pt x="11776" y="0"/>
                  <a:pt x="26303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7518787-BB67-47E1-81CF-17104B1C7D93}"/>
              </a:ext>
            </a:extLst>
          </p:cNvPr>
          <p:cNvSpPr>
            <a:spLocks noGrp="1"/>
          </p:cNvSpPr>
          <p:nvPr/>
        </p:nvSpPr>
        <p:spPr>
          <a:xfrm>
            <a:off x="9144000" y="568366"/>
            <a:ext cx="8830237" cy="9005609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C7AFD5C-18AC-4CC1-9905-DB1B63829AEE}"/>
              </a:ext>
            </a:extLst>
          </p:cNvPr>
          <p:cNvSpPr>
            <a:spLocks noGrp="1"/>
          </p:cNvSpPr>
          <p:nvPr/>
        </p:nvSpPr>
        <p:spPr>
          <a:xfrm>
            <a:off x="9282567" y="923925"/>
            <a:ext cx="8144055" cy="855554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69288" indent="-334644" algn="l">
              <a:lnSpc>
                <a:spcPts val="4866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arose from the need to solve combinatorial optimization problems using the principles and mechanisms of biological evolution.</a:t>
            </a:r>
          </a:p>
          <a:p>
            <a:pPr marL="669288" indent="-334644" algn="l">
              <a:lnSpc>
                <a:spcPts val="4866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Its creator was Lawrence J. Fogel (1960), who used these concepts to demonstrate the evolution of finite-state machines.</a:t>
            </a:r>
          </a:p>
          <a:p>
            <a:pPr marL="669288" indent="-334644" algn="l">
              <a:lnSpc>
                <a:spcPts val="4866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Later, Rechenberg and Hans-Paul Schwefel (1970) proposed evolutionary strategies for parameter optimization.</a:t>
            </a:r>
          </a:p>
          <a:p>
            <a:pPr marL="669288" indent="-334644" algn="l">
              <a:lnSpc>
                <a:spcPts val="4866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John H. Holland (1975) proposed genetic algorithms as a general model that could adapt to any process.</a:t>
            </a:r>
          </a:p>
          <a:p>
            <a:pPr algn="l">
              <a:lnSpc>
                <a:spcPts val="4339"/>
              </a:lnSpc>
              <a:buNone/>
            </a:pPr>
            <a:endParaRPr sz="30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1509538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ABDAE43-E117-4238-B825-F3CC5EAFE5CC}"/>
              </a:ext>
            </a:extLst>
          </p:cNvPr>
          <p:cNvSpPr>
            <a:spLocks noGrp="1"/>
          </p:cNvSpPr>
          <p:nvPr/>
        </p:nvSpPr>
        <p:spPr>
          <a:xfrm>
            <a:off x="1028700" y="6854324"/>
            <a:ext cx="8722985" cy="3927373"/>
          </a:xfrm>
          <a:custGeom>
            <a:avLst/>
            <a:gdLst/>
            <a:ahLst/>
            <a:cxnLst/>
            <a:rect l="l" t="t" r="r" b="b"/>
            <a:pathLst>
              <a:path w="8459470" h="3808730">
                <a:moveTo>
                  <a:pt x="458470" y="0"/>
                </a:moveTo>
                <a:lnTo>
                  <a:pt x="8001000" y="0"/>
                </a:lnTo>
                <a:cubicBezTo>
                  <a:pt x="8255000" y="0"/>
                  <a:pt x="8459470" y="205740"/>
                  <a:pt x="8459470" y="458470"/>
                </a:cubicBezTo>
                <a:lnTo>
                  <a:pt x="8459470" y="2320290"/>
                </a:lnTo>
                <a:cubicBezTo>
                  <a:pt x="8459470" y="2451100"/>
                  <a:pt x="8403590" y="2576830"/>
                  <a:pt x="8304530" y="2663190"/>
                </a:cubicBezTo>
                <a:lnTo>
                  <a:pt x="7141210" y="3693160"/>
                </a:lnTo>
                <a:cubicBezTo>
                  <a:pt x="7057390" y="3768090"/>
                  <a:pt x="6949440" y="3808730"/>
                  <a:pt x="6836410" y="3808730"/>
                </a:cubicBezTo>
                <a:lnTo>
                  <a:pt x="3760470" y="3808730"/>
                </a:lnTo>
                <a:cubicBezTo>
                  <a:pt x="3506470" y="3808730"/>
                  <a:pt x="3302000" y="3602990"/>
                  <a:pt x="3302000" y="3350260"/>
                </a:cubicBezTo>
                <a:lnTo>
                  <a:pt x="3302000" y="3227070"/>
                </a:lnTo>
                <a:cubicBezTo>
                  <a:pt x="3302000" y="2973070"/>
                  <a:pt x="3096260" y="2768600"/>
                  <a:pt x="2843530" y="2768600"/>
                </a:cubicBezTo>
                <a:lnTo>
                  <a:pt x="458470" y="2768600"/>
                </a:lnTo>
                <a:cubicBezTo>
                  <a:pt x="205740" y="2768600"/>
                  <a:pt x="0" y="2562860"/>
                  <a:pt x="0" y="2310130"/>
                </a:cubicBezTo>
                <a:lnTo>
                  <a:pt x="0" y="458470"/>
                </a:lnTo>
                <a:cubicBezTo>
                  <a:pt x="0" y="205740"/>
                  <a:pt x="205740" y="0"/>
                  <a:pt x="458470" y="0"/>
                </a:cubicBezTo>
                <a:close/>
              </a:path>
            </a:pathLst>
          </a:custGeom>
          <a:blipFill>
            <a:blip r:embed="rId3"/>
            <a:stretch>
              <a:fillRect b="-772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6D11650-D219-4A31-B87C-AB31E17649A4}"/>
              </a:ext>
            </a:extLst>
          </p:cNvPr>
          <p:cNvSpPr>
            <a:spLocks noGrp="1"/>
          </p:cNvSpPr>
          <p:nvPr/>
        </p:nvSpPr>
        <p:spPr>
          <a:xfrm>
            <a:off x="4931318" y="7407362"/>
            <a:ext cx="2549347" cy="715942"/>
          </a:xfrm>
          <a:custGeom>
            <a:avLst/>
            <a:gdLst/>
            <a:ahLst/>
            <a:cxnLst/>
            <a:rect l="l" t="t" r="r" b="b"/>
            <a:pathLst>
              <a:path w="2549347" h="715942">
                <a:moveTo>
                  <a:pt x="0" y="0"/>
                </a:moveTo>
                <a:lnTo>
                  <a:pt x="2549347" y="0"/>
                </a:lnTo>
                <a:lnTo>
                  <a:pt x="2549347" y="715941"/>
                </a:lnTo>
                <a:lnTo>
                  <a:pt x="0" y="715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3E3BFC-386E-4888-A1B3-9DF80E922BDC}"/>
              </a:ext>
            </a:extLst>
          </p:cNvPr>
          <p:cNvSpPr>
            <a:spLocks noGrp="1"/>
          </p:cNvSpPr>
          <p:nvPr/>
        </p:nvSpPr>
        <p:spPr>
          <a:xfrm>
            <a:off x="6685523" y="5853265"/>
            <a:ext cx="2458477" cy="4238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19"/>
              </a:lnSpc>
              <a:buNone/>
            </a:pPr>
            <a:r>
              <a:rPr sz="2599" b="1" i="1" dirty="0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Global Maximum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831EAC3-3965-4D5B-AC01-539F2DD72737}"/>
              </a:ext>
            </a:extLst>
          </p:cNvPr>
          <p:cNvSpPr>
            <a:spLocks noGrp="1"/>
          </p:cNvSpPr>
          <p:nvPr/>
        </p:nvSpPr>
        <p:spPr>
          <a:xfrm>
            <a:off x="1787101" y="7195430"/>
            <a:ext cx="2439524" cy="685100"/>
          </a:xfrm>
          <a:custGeom>
            <a:avLst/>
            <a:gdLst/>
            <a:ahLst/>
            <a:cxnLst/>
            <a:rect l="l" t="t" r="r" b="b"/>
            <a:pathLst>
              <a:path w="2439524" h="685100">
                <a:moveTo>
                  <a:pt x="0" y="0"/>
                </a:moveTo>
                <a:lnTo>
                  <a:pt x="2439524" y="0"/>
                </a:lnTo>
                <a:lnTo>
                  <a:pt x="2439524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86B64C0-96DC-46E7-B0DF-8899B78C0897}"/>
              </a:ext>
            </a:extLst>
          </p:cNvPr>
          <p:cNvSpPr>
            <a:spLocks noGrp="1"/>
          </p:cNvSpPr>
          <p:nvPr/>
        </p:nvSpPr>
        <p:spPr>
          <a:xfrm>
            <a:off x="1964972" y="7326049"/>
            <a:ext cx="2458477" cy="4238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l">
              <a:lnSpc>
                <a:spcPts val="3119"/>
              </a:lnSpc>
              <a:spcBef>
                <a:spcPct val="0"/>
              </a:spcBef>
              <a:buNone/>
            </a:pPr>
            <a:r>
              <a:rPr sz="2599" b="1" i="1" u="none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Local Maximum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F07FB58-45D9-4CD7-A7C9-653455523370}"/>
              </a:ext>
            </a:extLst>
          </p:cNvPr>
          <p:cNvSpPr>
            <a:spLocks noGrp="1"/>
          </p:cNvSpPr>
          <p:nvPr/>
        </p:nvSpPr>
        <p:spPr>
          <a:xfrm>
            <a:off x="7656854" y="6434652"/>
            <a:ext cx="515814" cy="839343"/>
          </a:xfrm>
          <a:custGeom>
            <a:avLst/>
            <a:gdLst/>
            <a:ahLst/>
            <a:cxnLst/>
            <a:rect l="l" t="t" r="r" b="b"/>
            <a:pathLst>
              <a:path w="515814" h="839343">
                <a:moveTo>
                  <a:pt x="0" y="0"/>
                </a:moveTo>
                <a:lnTo>
                  <a:pt x="515815" y="0"/>
                </a:lnTo>
                <a:lnTo>
                  <a:pt x="515815" y="839343"/>
                </a:lnTo>
                <a:lnTo>
                  <a:pt x="0" y="839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0E12196-96D5-4DF7-B953-15352A10ED38}"/>
              </a:ext>
            </a:extLst>
          </p:cNvPr>
          <p:cNvSpPr>
            <a:spLocks noGrp="1"/>
          </p:cNvSpPr>
          <p:nvPr/>
        </p:nvSpPr>
        <p:spPr>
          <a:xfrm>
            <a:off x="2748956" y="8013233"/>
            <a:ext cx="515814" cy="839343"/>
          </a:xfrm>
          <a:custGeom>
            <a:avLst/>
            <a:gdLst/>
            <a:ahLst/>
            <a:cxnLst/>
            <a:rect l="l" t="t" r="r" b="b"/>
            <a:pathLst>
              <a:path w="515814" h="839343">
                <a:moveTo>
                  <a:pt x="0" y="0"/>
                </a:moveTo>
                <a:lnTo>
                  <a:pt x="515814" y="0"/>
                </a:lnTo>
                <a:lnTo>
                  <a:pt x="515814" y="839343"/>
                </a:lnTo>
                <a:lnTo>
                  <a:pt x="0" y="839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80ADFA9-8BDD-43F1-8B79-6E32CF52DB96}"/>
              </a:ext>
            </a:extLst>
          </p:cNvPr>
          <p:cNvSpPr>
            <a:spLocks noGrp="1"/>
          </p:cNvSpPr>
          <p:nvPr/>
        </p:nvSpPr>
        <p:spPr>
          <a:xfrm>
            <a:off x="5754566" y="8123303"/>
            <a:ext cx="515814" cy="839343"/>
          </a:xfrm>
          <a:custGeom>
            <a:avLst/>
            <a:gdLst/>
            <a:ahLst/>
            <a:cxnLst/>
            <a:rect l="l" t="t" r="r" b="b"/>
            <a:pathLst>
              <a:path w="515814" h="839343">
                <a:moveTo>
                  <a:pt x="0" y="0"/>
                </a:moveTo>
                <a:lnTo>
                  <a:pt x="515814" y="0"/>
                </a:lnTo>
                <a:lnTo>
                  <a:pt x="515814" y="839343"/>
                </a:lnTo>
                <a:lnTo>
                  <a:pt x="0" y="839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E9C00D8-5B1D-471F-B3D4-A322E5E8FE98}"/>
              </a:ext>
            </a:extLst>
          </p:cNvPr>
          <p:cNvSpPr>
            <a:spLocks noGrp="1"/>
          </p:cNvSpPr>
          <p:nvPr/>
        </p:nvSpPr>
        <p:spPr>
          <a:xfrm>
            <a:off x="5041142" y="7515149"/>
            <a:ext cx="2458477" cy="4238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l">
              <a:lnSpc>
                <a:spcPts val="3119"/>
              </a:lnSpc>
              <a:spcBef>
                <a:spcPct val="0"/>
              </a:spcBef>
              <a:buNone/>
            </a:pPr>
            <a:r>
              <a:rPr sz="2599" b="1" i="1" u="none" dirty="0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Global Minimum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BF1DFD4-CA98-4F96-AC38-2772ED4F28AD}"/>
              </a:ext>
            </a:extLst>
          </p:cNvPr>
          <p:cNvSpPr>
            <a:spLocks noGrp="1"/>
          </p:cNvSpPr>
          <p:nvPr/>
        </p:nvSpPr>
        <p:spPr>
          <a:xfrm>
            <a:off x="10256510" y="1717022"/>
            <a:ext cx="7505401" cy="7541278"/>
          </a:xfrm>
          <a:custGeom>
            <a:avLst/>
            <a:gdLst/>
            <a:ahLst/>
            <a:cxnLst/>
            <a:rect l="l" t="t" r="r" b="b"/>
            <a:pathLst>
              <a:path w="1976731" h="1986180">
                <a:moveTo>
                  <a:pt x="30945" y="0"/>
                </a:moveTo>
                <a:lnTo>
                  <a:pt x="1945786" y="0"/>
                </a:lnTo>
                <a:cubicBezTo>
                  <a:pt x="1953993" y="0"/>
                  <a:pt x="1961864" y="3260"/>
                  <a:pt x="1967667" y="9064"/>
                </a:cubicBezTo>
                <a:cubicBezTo>
                  <a:pt x="1973471" y="14867"/>
                  <a:pt x="1976731" y="22738"/>
                  <a:pt x="1976731" y="30945"/>
                </a:cubicBezTo>
                <a:lnTo>
                  <a:pt x="1976731" y="1955235"/>
                </a:lnTo>
                <a:cubicBezTo>
                  <a:pt x="1976731" y="1963442"/>
                  <a:pt x="1973471" y="1971313"/>
                  <a:pt x="1967667" y="1977117"/>
                </a:cubicBezTo>
                <a:cubicBezTo>
                  <a:pt x="1961864" y="1982920"/>
                  <a:pt x="1953993" y="1986180"/>
                  <a:pt x="1945786" y="1986180"/>
                </a:cubicBezTo>
                <a:lnTo>
                  <a:pt x="30945" y="1986180"/>
                </a:lnTo>
                <a:cubicBezTo>
                  <a:pt x="22738" y="1986180"/>
                  <a:pt x="14867" y="1982920"/>
                  <a:pt x="9064" y="1977117"/>
                </a:cubicBezTo>
                <a:cubicBezTo>
                  <a:pt x="3260" y="1971313"/>
                  <a:pt x="0" y="1963442"/>
                  <a:pt x="0" y="1955235"/>
                </a:cubicBezTo>
                <a:lnTo>
                  <a:pt x="0" y="30945"/>
                </a:lnTo>
                <a:cubicBezTo>
                  <a:pt x="0" y="22738"/>
                  <a:pt x="3260" y="14867"/>
                  <a:pt x="9064" y="9064"/>
                </a:cubicBezTo>
                <a:cubicBezTo>
                  <a:pt x="14867" y="3260"/>
                  <a:pt x="22738" y="0"/>
                  <a:pt x="3094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6A14C5E-DE63-4915-A5BF-630C6226BAD7}"/>
              </a:ext>
            </a:extLst>
          </p:cNvPr>
          <p:cNvSpPr>
            <a:spLocks noGrp="1"/>
          </p:cNvSpPr>
          <p:nvPr/>
        </p:nvSpPr>
        <p:spPr>
          <a:xfrm>
            <a:off x="10256510" y="1572362"/>
            <a:ext cx="7505401" cy="768593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5870869-3CEA-47A0-9730-8E358E17E928}"/>
              </a:ext>
            </a:extLst>
          </p:cNvPr>
          <p:cNvSpPr>
            <a:spLocks noGrp="1"/>
          </p:cNvSpPr>
          <p:nvPr/>
        </p:nvSpPr>
        <p:spPr>
          <a:xfrm>
            <a:off x="10471879" y="2054127"/>
            <a:ext cx="6987106" cy="78636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47"/>
              </a:lnSpc>
              <a:buNone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Evolution may be nature’s most elegant and powerful path to adaptation: the fittest individuals pass their traits from one generation to the next to perpetuate the species.</a:t>
            </a:r>
          </a:p>
          <a:p>
            <a:pPr marL="604519" indent="-302260" algn="l">
              <a:lnSpc>
                <a:spcPts val="3947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Adaptation:</a:t>
            </a: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the ability to survive and behave appropriately in relation to the environment.</a:t>
            </a:r>
          </a:p>
          <a:p>
            <a:pPr marL="604519" indent="-302260" algn="l">
              <a:lnSpc>
                <a:spcPts val="3947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Heredity:</a:t>
            </a: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passing traits from individuals to a new generation.</a:t>
            </a:r>
          </a:p>
          <a:p>
            <a:pPr marL="604519" indent="-302260" algn="l">
              <a:lnSpc>
                <a:spcPts val="3947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Natural selection:</a:t>
            </a: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the fittest individuals are more likely to pass on their traits.</a:t>
            </a:r>
          </a:p>
          <a:p>
            <a:pPr algn="l">
              <a:lnSpc>
                <a:spcPts val="3165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2374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6A2EFC75-91E5-469B-A450-4B3E048FD524}"/>
              </a:ext>
            </a:extLst>
          </p:cNvPr>
          <p:cNvSpPr>
            <a:spLocks noGrp="1"/>
          </p:cNvSpPr>
          <p:nvPr/>
        </p:nvSpPr>
        <p:spPr>
          <a:xfrm>
            <a:off x="585050" y="606286"/>
            <a:ext cx="9166635" cy="4665954"/>
          </a:xfrm>
          <a:custGeom>
            <a:avLst/>
            <a:gdLst/>
            <a:ahLst/>
            <a:cxnLst/>
            <a:rect l="l" t="t" r="r" b="b"/>
            <a:pathLst>
              <a:path w="2414258" h="1228893">
                <a:moveTo>
                  <a:pt x="25337" y="0"/>
                </a:moveTo>
                <a:lnTo>
                  <a:pt x="2388920" y="0"/>
                </a:lnTo>
                <a:cubicBezTo>
                  <a:pt x="2402914" y="0"/>
                  <a:pt x="2414258" y="11344"/>
                  <a:pt x="2414258" y="25337"/>
                </a:cubicBezTo>
                <a:lnTo>
                  <a:pt x="2414258" y="1203556"/>
                </a:lnTo>
                <a:cubicBezTo>
                  <a:pt x="2414258" y="1217549"/>
                  <a:pt x="2402914" y="1228893"/>
                  <a:pt x="2388920" y="1228893"/>
                </a:cubicBezTo>
                <a:lnTo>
                  <a:pt x="25337" y="1228893"/>
                </a:lnTo>
                <a:cubicBezTo>
                  <a:pt x="11344" y="1228893"/>
                  <a:pt x="0" y="1217549"/>
                  <a:pt x="0" y="1203556"/>
                </a:cubicBezTo>
                <a:lnTo>
                  <a:pt x="0" y="25337"/>
                </a:lnTo>
                <a:cubicBezTo>
                  <a:pt x="0" y="11344"/>
                  <a:pt x="11344" y="0"/>
                  <a:pt x="25337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305FB7C-CAF0-401B-B0CC-7195FF2A5BB9}"/>
              </a:ext>
            </a:extLst>
          </p:cNvPr>
          <p:cNvSpPr>
            <a:spLocks noGrp="1"/>
          </p:cNvSpPr>
          <p:nvPr/>
        </p:nvSpPr>
        <p:spPr>
          <a:xfrm>
            <a:off x="585050" y="461626"/>
            <a:ext cx="9166635" cy="481061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6495244-BB3C-42D2-B017-4A599B34A2F4}"/>
              </a:ext>
            </a:extLst>
          </p:cNvPr>
          <p:cNvSpPr>
            <a:spLocks noGrp="1"/>
          </p:cNvSpPr>
          <p:nvPr/>
        </p:nvSpPr>
        <p:spPr>
          <a:xfrm>
            <a:off x="873668" y="1433665"/>
            <a:ext cx="8660810" cy="35480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454"/>
              </a:lnSpc>
              <a:buNone/>
            </a:pPr>
            <a:r>
              <a:rPr sz="2878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Optimization seeks global maximum or minimum solution points and avoids confusing them with local points.</a:t>
            </a:r>
          </a:p>
          <a:p>
            <a:pPr algn="l">
              <a:lnSpc>
                <a:spcPts val="3454"/>
              </a:lnSpc>
              <a:buNone/>
            </a:pPr>
            <a:r>
              <a:rPr sz="2878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If we treat every point in a function’s solution space as an individual in a species, we can evaluate its fitness and replicate an evolutionary process in which only individuals converging on global maxima or minima survive.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9F51D05-0318-4E79-86B3-6D4E48D99545}"/>
              </a:ext>
            </a:extLst>
          </p:cNvPr>
          <p:cNvSpPr>
            <a:spLocks noGrp="1"/>
          </p:cNvSpPr>
          <p:nvPr/>
        </p:nvSpPr>
        <p:spPr>
          <a:xfrm>
            <a:off x="975202" y="886739"/>
            <a:ext cx="7912233" cy="4238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19"/>
              </a:lnSpc>
              <a:buNone/>
            </a:pPr>
            <a:r>
              <a:rPr sz="2599" b="1" i="1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How Can This Help Us Optimize Functions?</a:t>
            </a:r>
          </a:p>
        </p:txBody>
      </p:sp>
    </p:spTree>
    <p:extLst>
      <p:ext uri="{BB962C8B-B14F-4D97-AF65-F5344CB8AC3E}">
        <p14:creationId xmlns:p14="http://schemas.microsoft.com/office/powerpoint/2010/main" val="1984944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089EC0F-B5A9-47D9-B431-B368B6A865F6}"/>
              </a:ext>
            </a:extLst>
          </p:cNvPr>
          <p:cNvSpPr>
            <a:spLocks noGrp="1"/>
          </p:cNvSpPr>
          <p:nvPr/>
        </p:nvSpPr>
        <p:spPr>
          <a:xfrm>
            <a:off x="5999991" y="1028700"/>
            <a:ext cx="6285469" cy="5682185"/>
          </a:xfrm>
          <a:custGeom>
            <a:avLst/>
            <a:gdLst/>
            <a:ahLst/>
            <a:cxnLst/>
            <a:rect l="l" t="t" r="r" b="b"/>
            <a:pathLst>
              <a:path w="6351270" h="5741670">
                <a:moveTo>
                  <a:pt x="0" y="542290"/>
                </a:moveTo>
                <a:lnTo>
                  <a:pt x="0" y="2392680"/>
                </a:lnTo>
                <a:cubicBezTo>
                  <a:pt x="0" y="2691130"/>
                  <a:pt x="242570" y="2933700"/>
                  <a:pt x="542290" y="2933700"/>
                </a:cubicBezTo>
                <a:lnTo>
                  <a:pt x="1148080" y="2933700"/>
                </a:lnTo>
                <a:cubicBezTo>
                  <a:pt x="1447800" y="2933700"/>
                  <a:pt x="1690370" y="3176270"/>
                  <a:pt x="1690370" y="3475990"/>
                </a:cubicBezTo>
                <a:lnTo>
                  <a:pt x="1690370" y="5199380"/>
                </a:lnTo>
                <a:cubicBezTo>
                  <a:pt x="1690370" y="5499100"/>
                  <a:pt x="1932940" y="5741670"/>
                  <a:pt x="2232660" y="5741670"/>
                </a:cubicBezTo>
                <a:lnTo>
                  <a:pt x="3599180" y="5741670"/>
                </a:lnTo>
                <a:cubicBezTo>
                  <a:pt x="3735070" y="5741670"/>
                  <a:pt x="3867150" y="5689600"/>
                  <a:pt x="3967480" y="5598160"/>
                </a:cubicBezTo>
                <a:lnTo>
                  <a:pt x="6177280" y="3553460"/>
                </a:lnTo>
                <a:cubicBezTo>
                  <a:pt x="6287770" y="3450590"/>
                  <a:pt x="6351270" y="3307080"/>
                  <a:pt x="6351270" y="3155950"/>
                </a:cubicBezTo>
                <a:lnTo>
                  <a:pt x="6351270" y="542290"/>
                </a:lnTo>
                <a:cubicBezTo>
                  <a:pt x="6350000" y="242570"/>
                  <a:pt x="6107430" y="0"/>
                  <a:pt x="5807710" y="0"/>
                </a:cubicBezTo>
                <a:lnTo>
                  <a:pt x="542290" y="0"/>
                </a:lnTo>
                <a:cubicBezTo>
                  <a:pt x="242570" y="0"/>
                  <a:pt x="0" y="242570"/>
                  <a:pt x="0" y="542290"/>
                </a:cubicBezTo>
                <a:close/>
              </a:path>
            </a:pathLst>
          </a:custGeom>
          <a:blipFill>
            <a:blip r:embed="rId3"/>
            <a:stretch>
              <a:fillRect t="-5308" b="-5308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BA76E7E-4E0D-465C-8353-FCB67375BE6D}"/>
              </a:ext>
            </a:extLst>
          </p:cNvPr>
          <p:cNvSpPr>
            <a:spLocks noGrp="1"/>
          </p:cNvSpPr>
          <p:nvPr/>
        </p:nvSpPr>
        <p:spPr>
          <a:xfrm>
            <a:off x="699668" y="515960"/>
            <a:ext cx="4612621" cy="2768495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4"/>
            <a:stretch>
              <a:fillRect t="-5502" b="-550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21A53DD-4011-4F2C-AEAF-7D4DECBB3D0F}"/>
              </a:ext>
            </a:extLst>
          </p:cNvPr>
          <p:cNvSpPr>
            <a:spLocks noGrp="1"/>
          </p:cNvSpPr>
          <p:nvPr/>
        </p:nvSpPr>
        <p:spPr>
          <a:xfrm>
            <a:off x="10002855" y="5868455"/>
            <a:ext cx="7969174" cy="4783098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5"/>
            <a:stretch>
              <a:fillRect b="-25583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1C3C2D9-8394-47B1-9726-899DAB506E83}"/>
              </a:ext>
            </a:extLst>
          </p:cNvPr>
          <p:cNvSpPr>
            <a:spLocks noGrp="1"/>
          </p:cNvSpPr>
          <p:nvPr/>
        </p:nvSpPr>
        <p:spPr>
          <a:xfrm>
            <a:off x="699668" y="7447171"/>
            <a:ext cx="7538665" cy="3394153"/>
          </a:xfrm>
          <a:custGeom>
            <a:avLst/>
            <a:gdLst/>
            <a:ahLst/>
            <a:cxnLst/>
            <a:rect l="l" t="t" r="r" b="b"/>
            <a:pathLst>
              <a:path w="8459470" h="3808730">
                <a:moveTo>
                  <a:pt x="458470" y="0"/>
                </a:moveTo>
                <a:lnTo>
                  <a:pt x="8001000" y="0"/>
                </a:lnTo>
                <a:cubicBezTo>
                  <a:pt x="8255000" y="0"/>
                  <a:pt x="8459470" y="205740"/>
                  <a:pt x="8459470" y="458470"/>
                </a:cubicBezTo>
                <a:lnTo>
                  <a:pt x="8459470" y="2320290"/>
                </a:lnTo>
                <a:cubicBezTo>
                  <a:pt x="8459470" y="2451100"/>
                  <a:pt x="8403590" y="2576830"/>
                  <a:pt x="8304530" y="2663190"/>
                </a:cubicBezTo>
                <a:lnTo>
                  <a:pt x="7141210" y="3693160"/>
                </a:lnTo>
                <a:cubicBezTo>
                  <a:pt x="7057390" y="3768090"/>
                  <a:pt x="6949440" y="3808730"/>
                  <a:pt x="6836410" y="3808730"/>
                </a:cubicBezTo>
                <a:lnTo>
                  <a:pt x="3760470" y="3808730"/>
                </a:lnTo>
                <a:cubicBezTo>
                  <a:pt x="3506470" y="3808730"/>
                  <a:pt x="3302000" y="3602990"/>
                  <a:pt x="3302000" y="3350260"/>
                </a:cubicBezTo>
                <a:lnTo>
                  <a:pt x="3302000" y="3227070"/>
                </a:lnTo>
                <a:cubicBezTo>
                  <a:pt x="3302000" y="2973070"/>
                  <a:pt x="3096260" y="2768600"/>
                  <a:pt x="2843530" y="2768600"/>
                </a:cubicBezTo>
                <a:lnTo>
                  <a:pt x="458470" y="2768600"/>
                </a:lnTo>
                <a:cubicBezTo>
                  <a:pt x="205740" y="2768600"/>
                  <a:pt x="0" y="2562860"/>
                  <a:pt x="0" y="2310130"/>
                </a:cubicBezTo>
                <a:lnTo>
                  <a:pt x="0" y="458470"/>
                </a:lnTo>
                <a:cubicBezTo>
                  <a:pt x="0" y="205740"/>
                  <a:pt x="205740" y="0"/>
                  <a:pt x="458470" y="0"/>
                </a:cubicBezTo>
                <a:close/>
              </a:path>
            </a:pathLst>
          </a:custGeom>
          <a:blipFill>
            <a:blip r:embed="rId6"/>
            <a:stretch>
              <a:fillRect t="-12467" b="-12467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EC95180-B6AA-41D8-BDBD-1C15205B14CA}"/>
              </a:ext>
            </a:extLst>
          </p:cNvPr>
          <p:cNvSpPr>
            <a:spLocks noGrp="1"/>
          </p:cNvSpPr>
          <p:nvPr/>
        </p:nvSpPr>
        <p:spPr>
          <a:xfrm>
            <a:off x="12971907" y="1900207"/>
            <a:ext cx="4612621" cy="2768495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7"/>
            <a:stretch>
              <a:fillRect t="-5502" b="-550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8873251-5540-4FE6-BAC2-C5D580E01CFE}"/>
              </a:ext>
            </a:extLst>
          </p:cNvPr>
          <p:cNvSpPr>
            <a:spLocks noGrp="1"/>
          </p:cNvSpPr>
          <p:nvPr/>
        </p:nvSpPr>
        <p:spPr>
          <a:xfrm>
            <a:off x="699668" y="3714015"/>
            <a:ext cx="6647616" cy="339025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599"/>
              </a:lnSpc>
              <a:buNone/>
            </a:pPr>
            <a:r>
              <a:rPr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Bio-Inspired Algorithms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F7C5B36-E852-46CA-87AF-A6450CA47F06}"/>
              </a:ext>
            </a:extLst>
          </p:cNvPr>
          <p:cNvSpPr>
            <a:spLocks noGrp="1"/>
          </p:cNvSpPr>
          <p:nvPr/>
        </p:nvSpPr>
        <p:spPr>
          <a:xfrm>
            <a:off x="1387797" y="371815"/>
            <a:ext cx="1618180" cy="25971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  <a:buNone/>
            </a:pPr>
            <a:r>
              <a:rPr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</a:rPr>
              <a:t>SALFORD &amp; CO.</a:t>
            </a:r>
          </a:p>
        </p:txBody>
      </p:sp>
    </p:spTree>
    <p:extLst>
      <p:ext uri="{BB962C8B-B14F-4D97-AF65-F5344CB8AC3E}">
        <p14:creationId xmlns:p14="http://schemas.microsoft.com/office/powerpoint/2010/main" val="196305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948E50C-5F8E-4092-8F65-6F72C137EBE1}"/>
              </a:ext>
            </a:extLst>
          </p:cNvPr>
          <p:cNvSpPr>
            <a:spLocks noGrp="1"/>
          </p:cNvSpPr>
          <p:nvPr/>
        </p:nvSpPr>
        <p:spPr>
          <a:xfrm>
            <a:off x="4591790" y="-487659"/>
            <a:ext cx="47625" cy="794612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60689ED-4A7C-4DFA-A60D-E8BC88AD954A}"/>
              </a:ext>
            </a:extLst>
          </p:cNvPr>
          <p:cNvSpPr>
            <a:spLocks noGrp="1"/>
          </p:cNvSpPr>
          <p:nvPr/>
        </p:nvSpPr>
        <p:spPr>
          <a:xfrm>
            <a:off x="9865231" y="6003589"/>
            <a:ext cx="6792075" cy="3150151"/>
          </a:xfrm>
          <a:custGeom>
            <a:avLst/>
            <a:gdLst/>
            <a:ahLst/>
            <a:cxnLst/>
            <a:rect l="l" t="t" r="r" b="b"/>
            <a:pathLst>
              <a:path w="1788859" h="829670">
                <a:moveTo>
                  <a:pt x="34195" y="0"/>
                </a:moveTo>
                <a:lnTo>
                  <a:pt x="1754664" y="0"/>
                </a:lnTo>
                <a:cubicBezTo>
                  <a:pt x="1763733" y="0"/>
                  <a:pt x="1772431" y="3603"/>
                  <a:pt x="1778844" y="10016"/>
                </a:cubicBezTo>
                <a:cubicBezTo>
                  <a:pt x="1785257" y="16428"/>
                  <a:pt x="1788859" y="25126"/>
                  <a:pt x="1788859" y="34195"/>
                </a:cubicBezTo>
                <a:lnTo>
                  <a:pt x="1788859" y="795474"/>
                </a:lnTo>
                <a:cubicBezTo>
                  <a:pt x="1788859" y="804543"/>
                  <a:pt x="1785257" y="813241"/>
                  <a:pt x="1778844" y="819654"/>
                </a:cubicBezTo>
                <a:cubicBezTo>
                  <a:pt x="1772431" y="826067"/>
                  <a:pt x="1763733" y="829670"/>
                  <a:pt x="1754664" y="829670"/>
                </a:cubicBezTo>
                <a:lnTo>
                  <a:pt x="34195" y="829670"/>
                </a:lnTo>
                <a:cubicBezTo>
                  <a:pt x="25126" y="829670"/>
                  <a:pt x="16428" y="826067"/>
                  <a:pt x="10016" y="819654"/>
                </a:cubicBezTo>
                <a:cubicBezTo>
                  <a:pt x="3603" y="813241"/>
                  <a:pt x="0" y="804543"/>
                  <a:pt x="0" y="795474"/>
                </a:cubicBezTo>
                <a:lnTo>
                  <a:pt x="0" y="34195"/>
                </a:lnTo>
                <a:cubicBezTo>
                  <a:pt x="0" y="25126"/>
                  <a:pt x="3603" y="16428"/>
                  <a:pt x="10016" y="10016"/>
                </a:cubicBezTo>
                <a:cubicBezTo>
                  <a:pt x="16428" y="3603"/>
                  <a:pt x="25126" y="0"/>
                  <a:pt x="3419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6A331D3-63A4-4308-A653-8CBFC38C60C4}"/>
              </a:ext>
            </a:extLst>
          </p:cNvPr>
          <p:cNvSpPr>
            <a:spLocks noGrp="1"/>
          </p:cNvSpPr>
          <p:nvPr/>
        </p:nvSpPr>
        <p:spPr>
          <a:xfrm>
            <a:off x="9865231" y="5858929"/>
            <a:ext cx="6792075" cy="329481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A435E41-847D-4BD9-BC7F-F31A437D1468}"/>
              </a:ext>
            </a:extLst>
          </p:cNvPr>
          <p:cNvSpPr>
            <a:spLocks noGrp="1"/>
          </p:cNvSpPr>
          <p:nvPr/>
        </p:nvSpPr>
        <p:spPr>
          <a:xfrm>
            <a:off x="9086384" y="432975"/>
            <a:ext cx="9917390" cy="4465133"/>
          </a:xfrm>
          <a:custGeom>
            <a:avLst/>
            <a:gdLst/>
            <a:ahLst/>
            <a:cxnLst/>
            <a:rect l="l" t="t" r="r" b="b"/>
            <a:pathLst>
              <a:path w="8459470" h="3808730">
                <a:moveTo>
                  <a:pt x="458470" y="0"/>
                </a:moveTo>
                <a:lnTo>
                  <a:pt x="8001000" y="0"/>
                </a:lnTo>
                <a:cubicBezTo>
                  <a:pt x="8255000" y="0"/>
                  <a:pt x="8459470" y="205740"/>
                  <a:pt x="8459470" y="458470"/>
                </a:cubicBezTo>
                <a:lnTo>
                  <a:pt x="8459470" y="2320290"/>
                </a:lnTo>
                <a:cubicBezTo>
                  <a:pt x="8459470" y="2451100"/>
                  <a:pt x="8403590" y="2576830"/>
                  <a:pt x="8304530" y="2663190"/>
                </a:cubicBezTo>
                <a:lnTo>
                  <a:pt x="7141210" y="3693160"/>
                </a:lnTo>
                <a:cubicBezTo>
                  <a:pt x="7057390" y="3768090"/>
                  <a:pt x="6949440" y="3808730"/>
                  <a:pt x="6836410" y="3808730"/>
                </a:cubicBezTo>
                <a:lnTo>
                  <a:pt x="3760470" y="3808730"/>
                </a:lnTo>
                <a:cubicBezTo>
                  <a:pt x="3506470" y="3808730"/>
                  <a:pt x="3302000" y="3602990"/>
                  <a:pt x="3302000" y="3350260"/>
                </a:cubicBezTo>
                <a:lnTo>
                  <a:pt x="3302000" y="3227070"/>
                </a:lnTo>
                <a:cubicBezTo>
                  <a:pt x="3302000" y="2973070"/>
                  <a:pt x="3096260" y="2768600"/>
                  <a:pt x="2843530" y="2768600"/>
                </a:cubicBezTo>
                <a:lnTo>
                  <a:pt x="458470" y="2768600"/>
                </a:lnTo>
                <a:cubicBezTo>
                  <a:pt x="205740" y="2768600"/>
                  <a:pt x="0" y="2562860"/>
                  <a:pt x="0" y="2310130"/>
                </a:cubicBezTo>
                <a:lnTo>
                  <a:pt x="0" y="458470"/>
                </a:lnTo>
                <a:cubicBezTo>
                  <a:pt x="0" y="205740"/>
                  <a:pt x="205740" y="0"/>
                  <a:pt x="458470" y="0"/>
                </a:cubicBezTo>
                <a:close/>
              </a:path>
            </a:pathLst>
          </a:custGeom>
          <a:blipFill>
            <a:blip r:embed="rId3"/>
            <a:stretch>
              <a:fillRect t="-23989" b="-23989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9838AA4-747E-497B-BB11-11157EC509B8}"/>
              </a:ext>
            </a:extLst>
          </p:cNvPr>
          <p:cNvSpPr>
            <a:spLocks noGrp="1"/>
          </p:cNvSpPr>
          <p:nvPr/>
        </p:nvSpPr>
        <p:spPr>
          <a:xfrm>
            <a:off x="714868" y="528225"/>
            <a:ext cx="8429132" cy="28487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592"/>
              </a:lnSpc>
              <a:buNone/>
            </a:pPr>
            <a:r>
              <a:rPr sz="10592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Genetic Algorithms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EDFF7D9-92F9-4300-ABD8-E66906334EE6}"/>
              </a:ext>
            </a:extLst>
          </p:cNvPr>
          <p:cNvSpPr>
            <a:spLocks noGrp="1"/>
          </p:cNvSpPr>
          <p:nvPr/>
        </p:nvSpPr>
        <p:spPr>
          <a:xfrm>
            <a:off x="714868" y="3600597"/>
            <a:ext cx="7801468" cy="76962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  <a:buNone/>
            </a:pPr>
            <a:r>
              <a:rPr sz="4200" dirty="0">
                <a:solidFill>
                  <a:srgbClr val="A6A6A6"/>
                </a:solidFill>
                <a:latin typeface="Telegraf"/>
                <a:ea typeface="Telegraf"/>
                <a:cs typeface="Telegraf"/>
              </a:rPr>
              <a:t>John Holland - 1992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D613B81-7FE1-4AD7-B6D1-59E332B5B7D5}"/>
              </a:ext>
            </a:extLst>
          </p:cNvPr>
          <p:cNvSpPr>
            <a:spLocks noGrp="1"/>
          </p:cNvSpPr>
          <p:nvPr/>
        </p:nvSpPr>
        <p:spPr>
          <a:xfrm>
            <a:off x="10315923" y="6355079"/>
            <a:ext cx="5831464" cy="28975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79"/>
              </a:lnSpc>
              <a:buNone/>
            </a:pPr>
            <a:r>
              <a:rPr sz="26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They result from applying the principles of natural selection to computing:</a:t>
            </a:r>
          </a:p>
          <a:p>
            <a:pPr algn="l">
              <a:lnSpc>
                <a:spcPts val="3779"/>
              </a:lnSpc>
              <a:buNone/>
            </a:pPr>
            <a:r>
              <a:rPr sz="26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Variation</a:t>
            </a:r>
          </a:p>
          <a:p>
            <a:pPr algn="l">
              <a:lnSpc>
                <a:spcPts val="3779"/>
              </a:lnSpc>
              <a:buNone/>
            </a:pPr>
            <a:r>
              <a:rPr sz="26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Selection</a:t>
            </a:r>
          </a:p>
          <a:p>
            <a:pPr algn="l">
              <a:lnSpc>
                <a:spcPts val="3779"/>
              </a:lnSpc>
              <a:buNone/>
            </a:pPr>
            <a:r>
              <a:rPr sz="26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Heredity</a:t>
            </a:r>
          </a:p>
          <a:p>
            <a:pPr algn="l">
              <a:lnSpc>
                <a:spcPts val="3779"/>
              </a:lnSpc>
              <a:buNone/>
            </a:pPr>
            <a:endParaRPr sz="2699" b="1" dirty="0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050EB8F-97BD-4ECA-8AB5-733329162D0E}"/>
              </a:ext>
            </a:extLst>
          </p:cNvPr>
          <p:cNvSpPr>
            <a:spLocks noGrp="1"/>
          </p:cNvSpPr>
          <p:nvPr/>
        </p:nvSpPr>
        <p:spPr>
          <a:xfrm>
            <a:off x="714868" y="5098890"/>
            <a:ext cx="7997442" cy="4368946"/>
          </a:xfrm>
          <a:custGeom>
            <a:avLst/>
            <a:gdLst/>
            <a:ahLst/>
            <a:cxnLst/>
            <a:rect l="l" t="t" r="r" b="b"/>
            <a:pathLst>
              <a:path w="2106322" h="1150669">
                <a:moveTo>
                  <a:pt x="29041" y="0"/>
                </a:moveTo>
                <a:lnTo>
                  <a:pt x="2077281" y="0"/>
                </a:lnTo>
                <a:cubicBezTo>
                  <a:pt x="2084983" y="0"/>
                  <a:pt x="2092370" y="3060"/>
                  <a:pt x="2097816" y="8506"/>
                </a:cubicBezTo>
                <a:cubicBezTo>
                  <a:pt x="2103262" y="13952"/>
                  <a:pt x="2106322" y="21339"/>
                  <a:pt x="2106322" y="29041"/>
                </a:cubicBezTo>
                <a:lnTo>
                  <a:pt x="2106322" y="1121628"/>
                </a:lnTo>
                <a:cubicBezTo>
                  <a:pt x="2106322" y="1129330"/>
                  <a:pt x="2103262" y="1136717"/>
                  <a:pt x="2097816" y="1142163"/>
                </a:cubicBezTo>
                <a:cubicBezTo>
                  <a:pt x="2092370" y="1147609"/>
                  <a:pt x="2084983" y="1150669"/>
                  <a:pt x="2077281" y="1150669"/>
                </a:cubicBezTo>
                <a:lnTo>
                  <a:pt x="29041" y="1150669"/>
                </a:lnTo>
                <a:cubicBezTo>
                  <a:pt x="13002" y="1150669"/>
                  <a:pt x="0" y="1137667"/>
                  <a:pt x="0" y="1121628"/>
                </a:cubicBezTo>
                <a:lnTo>
                  <a:pt x="0" y="29041"/>
                </a:lnTo>
                <a:cubicBezTo>
                  <a:pt x="0" y="21339"/>
                  <a:pt x="3060" y="13952"/>
                  <a:pt x="8506" y="8506"/>
                </a:cubicBezTo>
                <a:cubicBezTo>
                  <a:pt x="13952" y="3060"/>
                  <a:pt x="21339" y="0"/>
                  <a:pt x="29041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11FC769-D09F-4AE4-9341-7EB8F6087300}"/>
              </a:ext>
            </a:extLst>
          </p:cNvPr>
          <p:cNvSpPr>
            <a:spLocks noGrp="1"/>
          </p:cNvSpPr>
          <p:nvPr/>
        </p:nvSpPr>
        <p:spPr>
          <a:xfrm>
            <a:off x="714868" y="4954230"/>
            <a:ext cx="7997442" cy="451360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2A1B64E-0B39-45AE-8B24-333FDB1B34EF}"/>
              </a:ext>
            </a:extLst>
          </p:cNvPr>
          <p:cNvSpPr>
            <a:spLocks noGrp="1"/>
          </p:cNvSpPr>
          <p:nvPr/>
        </p:nvSpPr>
        <p:spPr>
          <a:xfrm>
            <a:off x="1102363" y="5297791"/>
            <a:ext cx="7222452" cy="440817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79"/>
              </a:lnSpc>
              <a:buNone/>
            </a:pPr>
            <a:r>
              <a:rPr sz="26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Code representation:</a:t>
            </a:r>
          </a:p>
          <a:p>
            <a:pPr algn="l">
              <a:lnSpc>
                <a:spcPts val="3779"/>
              </a:lnSpc>
              <a:buNone/>
            </a:pPr>
            <a:r>
              <a:rPr sz="26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Individuals:</a:t>
            </a:r>
            <a:r>
              <a:rPr sz="26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bit strings.</a:t>
            </a:r>
          </a:p>
          <a:p>
            <a:pPr algn="l">
              <a:lnSpc>
                <a:spcPts val="3779"/>
              </a:lnSpc>
              <a:buNone/>
            </a:pPr>
            <a:r>
              <a:rPr sz="26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Evaluation:</a:t>
            </a:r>
            <a:r>
              <a:rPr sz="2699" u="sng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through a fitness function that seeks a point with a higher or lower value</a:t>
            </a:r>
          </a:p>
          <a:p>
            <a:pPr algn="l">
              <a:lnSpc>
                <a:spcPts val="3779"/>
              </a:lnSpc>
              <a:buNone/>
            </a:pPr>
            <a:r>
              <a:rPr sz="26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Reproduction:</a:t>
            </a:r>
            <a:r>
              <a:rPr sz="26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through the crossover operation.</a:t>
            </a:r>
          </a:p>
          <a:p>
            <a:pPr algn="l">
              <a:lnSpc>
                <a:spcPts val="3779"/>
              </a:lnSpc>
              <a:buNone/>
            </a:pPr>
            <a:r>
              <a:rPr sz="26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Variation:</a:t>
            </a:r>
            <a:r>
              <a:rPr sz="26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mutation is emulated by changing a bit with a certain probability.</a:t>
            </a:r>
          </a:p>
          <a:p>
            <a:pPr algn="l">
              <a:lnSpc>
                <a:spcPts val="3779"/>
              </a:lnSpc>
              <a:buNone/>
            </a:pPr>
            <a:endParaRPr sz="26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132477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2F62BD2-E8B3-460B-95DE-9BC6FAD5600B}"/>
              </a:ext>
            </a:extLst>
          </p:cNvPr>
          <p:cNvSpPr>
            <a:spLocks noGrp="1"/>
          </p:cNvSpPr>
          <p:nvPr/>
        </p:nvSpPr>
        <p:spPr>
          <a:xfrm>
            <a:off x="1146759" y="4301398"/>
            <a:ext cx="6525269" cy="2906797"/>
          </a:xfrm>
          <a:custGeom>
            <a:avLst/>
            <a:gdLst/>
            <a:ahLst/>
            <a:cxnLst/>
            <a:rect l="l" t="t" r="r" b="b"/>
            <a:pathLst>
              <a:path w="1718589" h="765576">
                <a:moveTo>
                  <a:pt x="35594" y="0"/>
                </a:moveTo>
                <a:lnTo>
                  <a:pt x="1682996" y="0"/>
                </a:lnTo>
                <a:cubicBezTo>
                  <a:pt x="1692436" y="0"/>
                  <a:pt x="1701489" y="3750"/>
                  <a:pt x="1708164" y="10425"/>
                </a:cubicBezTo>
                <a:cubicBezTo>
                  <a:pt x="1714840" y="17100"/>
                  <a:pt x="1718589" y="26154"/>
                  <a:pt x="1718589" y="35594"/>
                </a:cubicBezTo>
                <a:lnTo>
                  <a:pt x="1718589" y="729983"/>
                </a:lnTo>
                <a:cubicBezTo>
                  <a:pt x="1718589" y="749640"/>
                  <a:pt x="1702654" y="765576"/>
                  <a:pt x="1682996" y="765576"/>
                </a:cubicBezTo>
                <a:lnTo>
                  <a:pt x="35594" y="765576"/>
                </a:lnTo>
                <a:cubicBezTo>
                  <a:pt x="15936" y="765576"/>
                  <a:pt x="0" y="749640"/>
                  <a:pt x="0" y="729983"/>
                </a:cubicBezTo>
                <a:lnTo>
                  <a:pt x="0" y="35594"/>
                </a:lnTo>
                <a:cubicBezTo>
                  <a:pt x="0" y="15936"/>
                  <a:pt x="15936" y="0"/>
                  <a:pt x="35594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B0C8362-9396-47BA-A563-A941423750F2}"/>
              </a:ext>
            </a:extLst>
          </p:cNvPr>
          <p:cNvSpPr>
            <a:spLocks noGrp="1"/>
          </p:cNvSpPr>
          <p:nvPr/>
        </p:nvSpPr>
        <p:spPr>
          <a:xfrm>
            <a:off x="1146759" y="4156738"/>
            <a:ext cx="6525269" cy="305145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1906807-C646-4E29-ABBD-67D8B7056145}"/>
              </a:ext>
            </a:extLst>
          </p:cNvPr>
          <p:cNvSpPr>
            <a:spLocks noGrp="1"/>
          </p:cNvSpPr>
          <p:nvPr/>
        </p:nvSpPr>
        <p:spPr>
          <a:xfrm>
            <a:off x="10448096" y="1920427"/>
            <a:ext cx="6396624" cy="6456896"/>
          </a:xfrm>
          <a:custGeom>
            <a:avLst/>
            <a:gdLst/>
            <a:ahLst/>
            <a:cxnLst/>
            <a:rect l="l" t="t" r="r" b="b"/>
            <a:pathLst>
              <a:path w="6396624" h="6456896">
                <a:moveTo>
                  <a:pt x="0" y="0"/>
                </a:moveTo>
                <a:lnTo>
                  <a:pt x="6396624" y="0"/>
                </a:lnTo>
                <a:lnTo>
                  <a:pt x="6396624" y="6456896"/>
                </a:lnTo>
                <a:lnTo>
                  <a:pt x="0" y="6456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9558" b="-14425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0927221-C6CC-40FE-BE07-E5C221E23F34}"/>
              </a:ext>
            </a:extLst>
          </p:cNvPr>
          <p:cNvSpPr>
            <a:spLocks noGrp="1"/>
          </p:cNvSpPr>
          <p:nvPr/>
        </p:nvSpPr>
        <p:spPr>
          <a:xfrm>
            <a:off x="1472598" y="5139350"/>
            <a:ext cx="6108135" cy="229208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65"/>
              </a:lnSpc>
              <a:buNone/>
            </a:pPr>
            <a:r>
              <a:rPr sz="2638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parents exchange bit sections at the same position</a:t>
            </a:r>
          </a:p>
          <a:p>
            <a:pPr algn="l">
              <a:lnSpc>
                <a:spcPts val="3165"/>
              </a:lnSpc>
              <a:buNone/>
            </a:pPr>
            <a:r>
              <a:rPr sz="2638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This idea can be generalized to single-point, two-point, or k-point crossover.</a:t>
            </a:r>
          </a:p>
          <a:p>
            <a:pPr algn="l">
              <a:lnSpc>
                <a:spcPts val="3165"/>
              </a:lnSpc>
              <a:buNone/>
            </a:pPr>
            <a:endParaRPr sz="2638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2374"/>
              </a:lnSpc>
              <a:buNone/>
            </a:pPr>
            <a:endParaRPr sz="2638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6A33B41-610B-40BB-856D-4A7F0340B643}"/>
              </a:ext>
            </a:extLst>
          </p:cNvPr>
          <p:cNvSpPr>
            <a:spLocks noGrp="1"/>
          </p:cNvSpPr>
          <p:nvPr/>
        </p:nvSpPr>
        <p:spPr>
          <a:xfrm>
            <a:off x="1146759" y="877973"/>
            <a:ext cx="6525269" cy="3223400"/>
          </a:xfrm>
          <a:custGeom>
            <a:avLst/>
            <a:gdLst/>
            <a:ahLst/>
            <a:cxnLst/>
            <a:rect l="l" t="t" r="r" b="b"/>
            <a:pathLst>
              <a:path w="1718589" h="848961">
                <a:moveTo>
                  <a:pt x="35594" y="0"/>
                </a:moveTo>
                <a:lnTo>
                  <a:pt x="1682996" y="0"/>
                </a:lnTo>
                <a:cubicBezTo>
                  <a:pt x="1692436" y="0"/>
                  <a:pt x="1701489" y="3750"/>
                  <a:pt x="1708164" y="10425"/>
                </a:cubicBezTo>
                <a:cubicBezTo>
                  <a:pt x="1714840" y="17100"/>
                  <a:pt x="1718589" y="26154"/>
                  <a:pt x="1718589" y="35594"/>
                </a:cubicBezTo>
                <a:lnTo>
                  <a:pt x="1718589" y="813368"/>
                </a:lnTo>
                <a:cubicBezTo>
                  <a:pt x="1718589" y="833026"/>
                  <a:pt x="1702654" y="848961"/>
                  <a:pt x="1682996" y="848961"/>
                </a:cubicBezTo>
                <a:lnTo>
                  <a:pt x="35594" y="848961"/>
                </a:lnTo>
                <a:cubicBezTo>
                  <a:pt x="15936" y="848961"/>
                  <a:pt x="0" y="833026"/>
                  <a:pt x="0" y="813368"/>
                </a:cubicBezTo>
                <a:lnTo>
                  <a:pt x="0" y="35594"/>
                </a:lnTo>
                <a:cubicBezTo>
                  <a:pt x="0" y="15936"/>
                  <a:pt x="15936" y="0"/>
                  <a:pt x="35594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F5CE6C8-724F-4D4A-A542-E04A9A08CC61}"/>
              </a:ext>
            </a:extLst>
          </p:cNvPr>
          <p:cNvSpPr>
            <a:spLocks noGrp="1"/>
          </p:cNvSpPr>
          <p:nvPr/>
        </p:nvSpPr>
        <p:spPr>
          <a:xfrm>
            <a:off x="1146759" y="733313"/>
            <a:ext cx="6525269" cy="336806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C46E639-7D69-4AAB-8479-D43C82FF8ADC}"/>
              </a:ext>
            </a:extLst>
          </p:cNvPr>
          <p:cNvSpPr>
            <a:spLocks noGrp="1"/>
          </p:cNvSpPr>
          <p:nvPr/>
        </p:nvSpPr>
        <p:spPr>
          <a:xfrm>
            <a:off x="1146759" y="7431147"/>
            <a:ext cx="6591789" cy="2350475"/>
          </a:xfrm>
          <a:custGeom>
            <a:avLst/>
            <a:gdLst/>
            <a:ahLst/>
            <a:cxnLst/>
            <a:rect l="l" t="t" r="r" b="b"/>
            <a:pathLst>
              <a:path w="1736109" h="619055">
                <a:moveTo>
                  <a:pt x="35234" y="0"/>
                </a:moveTo>
                <a:lnTo>
                  <a:pt x="1700875" y="0"/>
                </a:lnTo>
                <a:cubicBezTo>
                  <a:pt x="1710219" y="0"/>
                  <a:pt x="1719181" y="3712"/>
                  <a:pt x="1725789" y="10320"/>
                </a:cubicBezTo>
                <a:cubicBezTo>
                  <a:pt x="1732397" y="16928"/>
                  <a:pt x="1736109" y="25890"/>
                  <a:pt x="1736109" y="35234"/>
                </a:cubicBezTo>
                <a:lnTo>
                  <a:pt x="1736109" y="583821"/>
                </a:lnTo>
                <a:cubicBezTo>
                  <a:pt x="1736109" y="593165"/>
                  <a:pt x="1732397" y="602127"/>
                  <a:pt x="1725789" y="608735"/>
                </a:cubicBezTo>
                <a:cubicBezTo>
                  <a:pt x="1719181" y="615343"/>
                  <a:pt x="1710219" y="619055"/>
                  <a:pt x="1700875" y="619055"/>
                </a:cubicBezTo>
                <a:lnTo>
                  <a:pt x="35234" y="619055"/>
                </a:lnTo>
                <a:cubicBezTo>
                  <a:pt x="15775" y="619055"/>
                  <a:pt x="0" y="603280"/>
                  <a:pt x="0" y="583821"/>
                </a:cubicBezTo>
                <a:lnTo>
                  <a:pt x="0" y="35234"/>
                </a:lnTo>
                <a:cubicBezTo>
                  <a:pt x="0" y="15775"/>
                  <a:pt x="15775" y="0"/>
                  <a:pt x="35234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0C328F0-389E-42B5-97E2-D4BD5D19B45D}"/>
              </a:ext>
            </a:extLst>
          </p:cNvPr>
          <p:cNvSpPr>
            <a:spLocks noGrp="1"/>
          </p:cNvSpPr>
          <p:nvPr/>
        </p:nvSpPr>
        <p:spPr>
          <a:xfrm>
            <a:off x="1146759" y="7286487"/>
            <a:ext cx="6591789" cy="249513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CC588D45-63AD-4AB3-9591-DC0F8C773FA6}"/>
              </a:ext>
            </a:extLst>
          </p:cNvPr>
          <p:cNvSpPr>
            <a:spLocks noGrp="1"/>
          </p:cNvSpPr>
          <p:nvPr/>
        </p:nvSpPr>
        <p:spPr>
          <a:xfrm rot="-5309723" flipH="1" flipV="1">
            <a:off x="8769252" y="787643"/>
            <a:ext cx="933115" cy="2408038"/>
          </a:xfrm>
          <a:custGeom>
            <a:avLst/>
            <a:gdLst/>
            <a:ahLst/>
            <a:cxnLst/>
            <a:rect l="l" t="t" r="r" b="b"/>
            <a:pathLst>
              <a:path w="933115" h="2408038">
                <a:moveTo>
                  <a:pt x="933114" y="2408038"/>
                </a:moveTo>
                <a:lnTo>
                  <a:pt x="0" y="2408038"/>
                </a:lnTo>
                <a:lnTo>
                  <a:pt x="0" y="0"/>
                </a:lnTo>
                <a:lnTo>
                  <a:pt x="933114" y="0"/>
                </a:lnTo>
                <a:lnTo>
                  <a:pt x="933114" y="240803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DB5FC70-672C-4B1E-9A0C-52698E992A19}"/>
              </a:ext>
            </a:extLst>
          </p:cNvPr>
          <p:cNvSpPr>
            <a:spLocks noGrp="1"/>
          </p:cNvSpPr>
          <p:nvPr/>
        </p:nvSpPr>
        <p:spPr>
          <a:xfrm>
            <a:off x="1472598" y="4581851"/>
            <a:ext cx="5556588" cy="4238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19"/>
              </a:lnSpc>
              <a:buNone/>
            </a:pPr>
            <a:r>
              <a:rPr sz="2599" b="1" i="1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Crossover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96EF743-72DC-4297-9D84-D3FBEB6AE791}"/>
              </a:ext>
            </a:extLst>
          </p:cNvPr>
          <p:cNvSpPr>
            <a:spLocks noGrp="1"/>
          </p:cNvSpPr>
          <p:nvPr/>
        </p:nvSpPr>
        <p:spPr>
          <a:xfrm>
            <a:off x="1472598" y="1272195"/>
            <a:ext cx="5991651" cy="26899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65"/>
              </a:lnSpc>
              <a:buNone/>
            </a:pPr>
            <a:endParaRPr/>
          </a:p>
          <a:p>
            <a:pPr algn="l">
              <a:lnSpc>
                <a:spcPts val="3165"/>
              </a:lnSpc>
              <a:buNone/>
            </a:pPr>
            <a:r>
              <a:rPr sz="2638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Represents a point in the solution space.</a:t>
            </a:r>
          </a:p>
          <a:p>
            <a:pPr algn="l">
              <a:lnSpc>
                <a:spcPts val="3165"/>
              </a:lnSpc>
              <a:buNone/>
            </a:pPr>
            <a:r>
              <a:rPr sz="2638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sequence of 1s and 0s representing a decimal number encoded in binary.</a:t>
            </a:r>
          </a:p>
          <a:p>
            <a:pPr algn="l">
              <a:lnSpc>
                <a:spcPts val="2374"/>
              </a:lnSpc>
              <a:buNone/>
            </a:pPr>
            <a:endParaRPr sz="2638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4E82803-7EF2-4EA1-8E9B-16E782039A0F}"/>
              </a:ext>
            </a:extLst>
          </p:cNvPr>
          <p:cNvSpPr>
            <a:spLocks noGrp="1"/>
          </p:cNvSpPr>
          <p:nvPr/>
        </p:nvSpPr>
        <p:spPr>
          <a:xfrm>
            <a:off x="1472598" y="1069788"/>
            <a:ext cx="5558021" cy="4238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19"/>
              </a:lnSpc>
              <a:buNone/>
            </a:pPr>
            <a:r>
              <a:rPr sz="2599" b="1" i="1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Chromosome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972BA9B-AA0D-4FCF-AAAD-7F5C47C880EE}"/>
              </a:ext>
            </a:extLst>
          </p:cNvPr>
          <p:cNvSpPr>
            <a:spLocks noGrp="1"/>
          </p:cNvSpPr>
          <p:nvPr/>
        </p:nvSpPr>
        <p:spPr>
          <a:xfrm>
            <a:off x="1476291" y="8188958"/>
            <a:ext cx="6104442" cy="14963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65"/>
              </a:lnSpc>
              <a:buNone/>
            </a:pPr>
            <a:r>
              <a:rPr sz="2638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bit flip may be generated for each bit in the chromosome depending</a:t>
            </a:r>
          </a:p>
          <a:p>
            <a:pPr algn="l">
              <a:lnSpc>
                <a:spcPts val="3165"/>
              </a:lnSpc>
              <a:buNone/>
            </a:pPr>
            <a:r>
              <a:rPr sz="2638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on a given probability.</a:t>
            </a:r>
          </a:p>
          <a:p>
            <a:pPr algn="l">
              <a:lnSpc>
                <a:spcPts val="2374"/>
              </a:lnSpc>
              <a:buNone/>
            </a:pPr>
            <a:endParaRPr sz="2638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47D6248-5E1A-46A3-AC86-BD76217B9AF8}"/>
              </a:ext>
            </a:extLst>
          </p:cNvPr>
          <p:cNvSpPr>
            <a:spLocks noGrp="1"/>
          </p:cNvSpPr>
          <p:nvPr/>
        </p:nvSpPr>
        <p:spPr>
          <a:xfrm>
            <a:off x="1488728" y="7574596"/>
            <a:ext cx="6014359" cy="4238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19"/>
              </a:lnSpc>
              <a:buNone/>
            </a:pPr>
            <a:r>
              <a:rPr sz="2599" b="1" i="1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Mutation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5081A9B-0B4C-4A51-83CC-C7F34061E6F7}"/>
              </a:ext>
            </a:extLst>
          </p:cNvPr>
          <p:cNvSpPr>
            <a:spLocks noGrp="1"/>
          </p:cNvSpPr>
          <p:nvPr/>
        </p:nvSpPr>
        <p:spPr>
          <a:xfrm>
            <a:off x="12729979" y="1281720"/>
            <a:ext cx="5558021" cy="4238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19"/>
              </a:lnSpc>
              <a:buNone/>
            </a:pPr>
            <a:r>
              <a:rPr sz="2599" b="1" i="1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Single point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9557752-5846-4AE1-86E6-D4D124EFD6DF}"/>
              </a:ext>
            </a:extLst>
          </p:cNvPr>
          <p:cNvSpPr>
            <a:spLocks noGrp="1"/>
          </p:cNvSpPr>
          <p:nvPr/>
        </p:nvSpPr>
        <p:spPr>
          <a:xfrm>
            <a:off x="9830419" y="6784332"/>
            <a:ext cx="617677" cy="4238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19"/>
              </a:lnSpc>
              <a:buNone/>
            </a:pPr>
            <a:r>
              <a:rPr sz="2599" b="1" i="1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h1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351DE5B-3DC8-46BE-9D6A-4945AE2A2F7C}"/>
              </a:ext>
            </a:extLst>
          </p:cNvPr>
          <p:cNvSpPr>
            <a:spLocks noGrp="1"/>
          </p:cNvSpPr>
          <p:nvPr/>
        </p:nvSpPr>
        <p:spPr>
          <a:xfrm>
            <a:off x="9830419" y="7774621"/>
            <a:ext cx="617677" cy="4238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19"/>
              </a:lnSpc>
              <a:buNone/>
            </a:pPr>
            <a:r>
              <a:rPr sz="2599" b="1" i="1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h2</a:t>
            </a:r>
          </a:p>
        </p:txBody>
      </p:sp>
    </p:spTree>
    <p:extLst>
      <p:ext uri="{BB962C8B-B14F-4D97-AF65-F5344CB8AC3E}">
        <p14:creationId xmlns:p14="http://schemas.microsoft.com/office/powerpoint/2010/main" val="2145469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8FCE84-0F04-4BE8-8E60-E74B3FE82FDD}"/>
              </a:ext>
            </a:extLst>
          </p:cNvPr>
          <p:cNvSpPr>
            <a:spLocks noGrp="1"/>
          </p:cNvSpPr>
          <p:nvPr/>
        </p:nvSpPr>
        <p:spPr>
          <a:xfrm>
            <a:off x="1400830" y="1833295"/>
            <a:ext cx="15486340" cy="6620411"/>
          </a:xfrm>
          <a:custGeom>
            <a:avLst/>
            <a:gdLst/>
            <a:ahLst/>
            <a:cxnLst/>
            <a:rect l="l" t="t" r="r" b="b"/>
            <a:pathLst>
              <a:path w="15486340" h="6620411">
                <a:moveTo>
                  <a:pt x="0" y="0"/>
                </a:moveTo>
                <a:lnTo>
                  <a:pt x="15486340" y="0"/>
                </a:lnTo>
                <a:lnTo>
                  <a:pt x="15486340" y="6620410"/>
                </a:lnTo>
                <a:lnTo>
                  <a:pt x="0" y="662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980929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DA5D815-D72D-470B-A30A-58ED9DE8BB55}"/>
              </a:ext>
            </a:extLst>
          </p:cNvPr>
          <p:cNvSpPr>
            <a:spLocks noGrp="1"/>
          </p:cNvSpPr>
          <p:nvPr/>
        </p:nvSpPr>
        <p:spPr>
          <a:xfrm>
            <a:off x="935086" y="549393"/>
            <a:ext cx="13332279" cy="12622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824"/>
              </a:lnSpc>
              <a:buNone/>
            </a:pPr>
            <a:r>
              <a:rPr sz="8824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Particle Swarm Optimization 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A53A47E-9573-4245-8D55-E00D04B1DDA5}"/>
              </a:ext>
            </a:extLst>
          </p:cNvPr>
          <p:cNvSpPr>
            <a:spLocks noGrp="1"/>
          </p:cNvSpPr>
          <p:nvPr/>
        </p:nvSpPr>
        <p:spPr>
          <a:xfrm>
            <a:off x="10661830" y="2576307"/>
            <a:ext cx="6855715" cy="4114800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3"/>
            <a:stretch>
              <a:fillRect t="-33305" b="-33305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13534ED-4B36-406B-BF07-923ED0F98871}"/>
              </a:ext>
            </a:extLst>
          </p:cNvPr>
          <p:cNvSpPr>
            <a:spLocks noGrp="1"/>
          </p:cNvSpPr>
          <p:nvPr/>
        </p:nvSpPr>
        <p:spPr>
          <a:xfrm>
            <a:off x="935086" y="2781733"/>
            <a:ext cx="11337125" cy="7096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  <a:buNone/>
            </a:pPr>
            <a:r>
              <a:rPr sz="3900" dirty="0">
                <a:solidFill>
                  <a:srgbClr val="A6A6A6"/>
                </a:solidFill>
                <a:latin typeface="Telegraf"/>
                <a:ea typeface="Telegraf"/>
                <a:cs typeface="Telegraf"/>
              </a:rPr>
              <a:t>James Kennedy and Russell Eberhart  - 1995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E6001EF-73B6-4D74-BD5D-1E059011BF29}"/>
              </a:ext>
            </a:extLst>
          </p:cNvPr>
          <p:cNvSpPr>
            <a:spLocks noGrp="1"/>
          </p:cNvSpPr>
          <p:nvPr/>
        </p:nvSpPr>
        <p:spPr>
          <a:xfrm>
            <a:off x="7565425" y="-4861822"/>
            <a:ext cx="71600" cy="13476939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42CD15E-1E80-4F24-B444-B33380033E2F}"/>
              </a:ext>
            </a:extLst>
          </p:cNvPr>
          <p:cNvSpPr>
            <a:spLocks noGrp="1"/>
          </p:cNvSpPr>
          <p:nvPr/>
        </p:nvSpPr>
        <p:spPr>
          <a:xfrm>
            <a:off x="935086" y="3736701"/>
            <a:ext cx="8678536" cy="5908813"/>
          </a:xfrm>
          <a:custGeom>
            <a:avLst/>
            <a:gdLst/>
            <a:ahLst/>
            <a:cxnLst/>
            <a:rect l="l" t="t" r="r" b="b"/>
            <a:pathLst>
              <a:path w="2285705" h="1556231">
                <a:moveTo>
                  <a:pt x="26762" y="0"/>
                </a:moveTo>
                <a:lnTo>
                  <a:pt x="2258943" y="0"/>
                </a:lnTo>
                <a:cubicBezTo>
                  <a:pt x="2273723" y="0"/>
                  <a:pt x="2285705" y="11982"/>
                  <a:pt x="2285705" y="26762"/>
                </a:cubicBezTo>
                <a:lnTo>
                  <a:pt x="2285705" y="1529468"/>
                </a:lnTo>
                <a:cubicBezTo>
                  <a:pt x="2285705" y="1536566"/>
                  <a:pt x="2282885" y="1543373"/>
                  <a:pt x="2277867" y="1548392"/>
                </a:cubicBezTo>
                <a:cubicBezTo>
                  <a:pt x="2272848" y="1553411"/>
                  <a:pt x="2266041" y="1556231"/>
                  <a:pt x="2258943" y="1556231"/>
                </a:cubicBezTo>
                <a:lnTo>
                  <a:pt x="26762" y="1556231"/>
                </a:lnTo>
                <a:cubicBezTo>
                  <a:pt x="11982" y="1556231"/>
                  <a:pt x="0" y="1544249"/>
                  <a:pt x="0" y="1529468"/>
                </a:cubicBezTo>
                <a:lnTo>
                  <a:pt x="0" y="26762"/>
                </a:lnTo>
                <a:cubicBezTo>
                  <a:pt x="0" y="11982"/>
                  <a:pt x="11982" y="0"/>
                  <a:pt x="26762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5D38D5C-AF32-41B1-9D5F-CAAFBE90324C}"/>
              </a:ext>
            </a:extLst>
          </p:cNvPr>
          <p:cNvSpPr>
            <a:spLocks noGrp="1"/>
          </p:cNvSpPr>
          <p:nvPr/>
        </p:nvSpPr>
        <p:spPr>
          <a:xfrm>
            <a:off x="935086" y="3592041"/>
            <a:ext cx="8678536" cy="605347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0E229ED-BAE2-494C-B1F2-A7A8428EED3F}"/>
              </a:ext>
            </a:extLst>
          </p:cNvPr>
          <p:cNvSpPr>
            <a:spLocks noGrp="1"/>
          </p:cNvSpPr>
          <p:nvPr/>
        </p:nvSpPr>
        <p:spPr>
          <a:xfrm>
            <a:off x="1322580" y="3933710"/>
            <a:ext cx="7821420" cy="661244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866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Stochastic optimization algorithm</a:t>
            </a:r>
          </a:p>
          <a:p>
            <a:pPr algn="l">
              <a:lnSpc>
                <a:spcPts val="4866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•  Inspired by simulations of social behavior in birds and fish, as well as swarm theory.</a:t>
            </a:r>
          </a:p>
          <a:p>
            <a:pPr algn="l">
              <a:lnSpc>
                <a:spcPts val="4866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•  Maintains a swarm of particles that move continuously through</a:t>
            </a:r>
          </a:p>
          <a:p>
            <a:pPr algn="l">
              <a:lnSpc>
                <a:spcPts val="4866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search space, sharing information about the best positions found.</a:t>
            </a:r>
          </a:p>
          <a:p>
            <a:pPr algn="l">
              <a:lnSpc>
                <a:spcPts val="4339"/>
              </a:lnSpc>
              <a:buNone/>
            </a:pPr>
            <a:endParaRPr sz="30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4339"/>
              </a:lnSpc>
              <a:buNone/>
            </a:pPr>
            <a:endParaRPr sz="30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137813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3E6F8C7-4EBD-40F0-9AEA-D5FD5BFE4547}"/>
              </a:ext>
            </a:extLst>
          </p:cNvPr>
          <p:cNvSpPr>
            <a:spLocks noGrp="1"/>
          </p:cNvSpPr>
          <p:nvPr/>
        </p:nvSpPr>
        <p:spPr>
          <a:xfrm>
            <a:off x="1028700" y="805031"/>
            <a:ext cx="9063506" cy="6027264"/>
          </a:xfrm>
          <a:custGeom>
            <a:avLst/>
            <a:gdLst/>
            <a:ahLst/>
            <a:cxnLst/>
            <a:rect l="l" t="t" r="r" b="b"/>
            <a:pathLst>
              <a:path w="2387096" h="1587428">
                <a:moveTo>
                  <a:pt x="25626" y="0"/>
                </a:moveTo>
                <a:lnTo>
                  <a:pt x="2361470" y="0"/>
                </a:lnTo>
                <a:cubicBezTo>
                  <a:pt x="2368266" y="0"/>
                  <a:pt x="2374784" y="2700"/>
                  <a:pt x="2379590" y="7506"/>
                </a:cubicBezTo>
                <a:cubicBezTo>
                  <a:pt x="2384396" y="12311"/>
                  <a:pt x="2387096" y="18829"/>
                  <a:pt x="2387096" y="25626"/>
                </a:cubicBezTo>
                <a:lnTo>
                  <a:pt x="2387096" y="1561802"/>
                </a:lnTo>
                <a:cubicBezTo>
                  <a:pt x="2387096" y="1568598"/>
                  <a:pt x="2384396" y="1575116"/>
                  <a:pt x="2379590" y="1579922"/>
                </a:cubicBezTo>
                <a:cubicBezTo>
                  <a:pt x="2374784" y="1584728"/>
                  <a:pt x="2368266" y="1587428"/>
                  <a:pt x="2361470" y="1587428"/>
                </a:cubicBezTo>
                <a:lnTo>
                  <a:pt x="25626" y="1587428"/>
                </a:lnTo>
                <a:cubicBezTo>
                  <a:pt x="18829" y="1587428"/>
                  <a:pt x="12311" y="1584728"/>
                  <a:pt x="7506" y="1579922"/>
                </a:cubicBezTo>
                <a:cubicBezTo>
                  <a:pt x="2700" y="1575116"/>
                  <a:pt x="0" y="1568598"/>
                  <a:pt x="0" y="1561802"/>
                </a:cubicBezTo>
                <a:lnTo>
                  <a:pt x="0" y="25626"/>
                </a:lnTo>
                <a:cubicBezTo>
                  <a:pt x="0" y="18829"/>
                  <a:pt x="2700" y="12311"/>
                  <a:pt x="7506" y="7506"/>
                </a:cubicBezTo>
                <a:cubicBezTo>
                  <a:pt x="12311" y="2700"/>
                  <a:pt x="18829" y="0"/>
                  <a:pt x="25626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3124723-F741-4F1D-966C-634E0908C817}"/>
              </a:ext>
            </a:extLst>
          </p:cNvPr>
          <p:cNvSpPr>
            <a:spLocks noGrp="1"/>
          </p:cNvSpPr>
          <p:nvPr/>
        </p:nvSpPr>
        <p:spPr>
          <a:xfrm>
            <a:off x="1028700" y="660371"/>
            <a:ext cx="9063503" cy="617192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8F4B717-5E66-40D8-9485-9A786B913C10}"/>
              </a:ext>
            </a:extLst>
          </p:cNvPr>
          <p:cNvSpPr>
            <a:spLocks noGrp="1"/>
          </p:cNvSpPr>
          <p:nvPr/>
        </p:nvSpPr>
        <p:spPr>
          <a:xfrm>
            <a:off x="673401" y="7432358"/>
            <a:ext cx="16585899" cy="1865914"/>
          </a:xfrm>
          <a:custGeom>
            <a:avLst/>
            <a:gdLst/>
            <a:ahLst/>
            <a:cxnLst/>
            <a:rect l="l" t="t" r="r" b="b"/>
            <a:pathLst>
              <a:path w="16585899" h="1865914">
                <a:moveTo>
                  <a:pt x="0" y="0"/>
                </a:moveTo>
                <a:lnTo>
                  <a:pt x="16585899" y="0"/>
                </a:lnTo>
                <a:lnTo>
                  <a:pt x="16585899" y="1865913"/>
                </a:lnTo>
                <a:lnTo>
                  <a:pt x="0" y="1865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060DBA8-441E-4EAE-B305-CD9A553FFBE1}"/>
              </a:ext>
            </a:extLst>
          </p:cNvPr>
          <p:cNvSpPr>
            <a:spLocks noGrp="1"/>
          </p:cNvSpPr>
          <p:nvPr/>
        </p:nvSpPr>
        <p:spPr>
          <a:xfrm>
            <a:off x="1322580" y="923925"/>
            <a:ext cx="8117548" cy="621239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866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Each particle represents a candidate solution point and has three fundamental properties:</a:t>
            </a:r>
          </a:p>
          <a:p>
            <a:pPr marL="669288" indent="-334644" algn="l">
              <a:lnSpc>
                <a:spcPts val="4866"/>
              </a:lnSpc>
              <a:buFont typeface="Arial"/>
              <a:buChar char="•"/>
            </a:pPr>
            <a:r>
              <a:rPr sz="30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current position x_t</a:t>
            </a:r>
          </a:p>
          <a:p>
            <a:pPr marL="669288" indent="-334644" algn="l">
              <a:lnSpc>
                <a:spcPts val="4866"/>
              </a:lnSpc>
              <a:buFont typeface="Arial"/>
              <a:buChar char="•"/>
            </a:pPr>
            <a:r>
              <a:rPr sz="3099" b="1" u="non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velocity v_t</a:t>
            </a:r>
          </a:p>
          <a:p>
            <a:pPr marL="669288" indent="-334644" algn="l">
              <a:lnSpc>
                <a:spcPts val="4866"/>
              </a:lnSpc>
              <a:buFont typeface="Arial"/>
              <a:buChar char="•"/>
            </a:pPr>
            <a:r>
              <a:rPr sz="30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personal best historical position p_best</a:t>
            </a:r>
          </a:p>
          <a:p>
            <a:pPr algn="l">
              <a:lnSpc>
                <a:spcPts val="4866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swarm maintains the best position found by any particle in any iteration, g_best.</a:t>
            </a:r>
          </a:p>
          <a:p>
            <a:pPr algn="l">
              <a:lnSpc>
                <a:spcPts val="4339"/>
              </a:lnSpc>
              <a:buNone/>
            </a:pPr>
            <a:endParaRPr sz="30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7154DCF-63B4-4B87-9BBC-9498DEC818E6}"/>
              </a:ext>
            </a:extLst>
          </p:cNvPr>
          <p:cNvSpPr>
            <a:spLocks noGrp="1"/>
          </p:cNvSpPr>
          <p:nvPr/>
        </p:nvSpPr>
        <p:spPr>
          <a:xfrm>
            <a:off x="10724002" y="3502175"/>
            <a:ext cx="6792075" cy="3150151"/>
          </a:xfrm>
          <a:custGeom>
            <a:avLst/>
            <a:gdLst/>
            <a:ahLst/>
            <a:cxnLst/>
            <a:rect l="l" t="t" r="r" b="b"/>
            <a:pathLst>
              <a:path w="1788859" h="829670">
                <a:moveTo>
                  <a:pt x="34195" y="0"/>
                </a:moveTo>
                <a:lnTo>
                  <a:pt x="1754664" y="0"/>
                </a:lnTo>
                <a:cubicBezTo>
                  <a:pt x="1763733" y="0"/>
                  <a:pt x="1772431" y="3603"/>
                  <a:pt x="1778844" y="10016"/>
                </a:cubicBezTo>
                <a:cubicBezTo>
                  <a:pt x="1785257" y="16428"/>
                  <a:pt x="1788859" y="25126"/>
                  <a:pt x="1788859" y="34195"/>
                </a:cubicBezTo>
                <a:lnTo>
                  <a:pt x="1788859" y="795474"/>
                </a:lnTo>
                <a:cubicBezTo>
                  <a:pt x="1788859" y="804543"/>
                  <a:pt x="1785257" y="813241"/>
                  <a:pt x="1778844" y="819654"/>
                </a:cubicBezTo>
                <a:cubicBezTo>
                  <a:pt x="1772431" y="826067"/>
                  <a:pt x="1763733" y="829670"/>
                  <a:pt x="1754664" y="829670"/>
                </a:cubicBezTo>
                <a:lnTo>
                  <a:pt x="34195" y="829670"/>
                </a:lnTo>
                <a:cubicBezTo>
                  <a:pt x="25126" y="829670"/>
                  <a:pt x="16428" y="826067"/>
                  <a:pt x="10016" y="819654"/>
                </a:cubicBezTo>
                <a:cubicBezTo>
                  <a:pt x="3603" y="813241"/>
                  <a:pt x="0" y="804543"/>
                  <a:pt x="0" y="795474"/>
                </a:cubicBezTo>
                <a:lnTo>
                  <a:pt x="0" y="34195"/>
                </a:lnTo>
                <a:cubicBezTo>
                  <a:pt x="0" y="25126"/>
                  <a:pt x="3603" y="16428"/>
                  <a:pt x="10016" y="10016"/>
                </a:cubicBezTo>
                <a:cubicBezTo>
                  <a:pt x="16428" y="3603"/>
                  <a:pt x="25126" y="0"/>
                  <a:pt x="3419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67A23C1-CD43-4A05-986A-99AC5AE90EB8}"/>
              </a:ext>
            </a:extLst>
          </p:cNvPr>
          <p:cNvSpPr>
            <a:spLocks noGrp="1"/>
          </p:cNvSpPr>
          <p:nvPr/>
        </p:nvSpPr>
        <p:spPr>
          <a:xfrm>
            <a:off x="10724002" y="3357515"/>
            <a:ext cx="6792075" cy="329481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EE4178D-83CF-4CD2-B756-646D1095A412}"/>
              </a:ext>
            </a:extLst>
          </p:cNvPr>
          <p:cNvSpPr>
            <a:spLocks noGrp="1"/>
          </p:cNvSpPr>
          <p:nvPr/>
        </p:nvSpPr>
        <p:spPr>
          <a:xfrm>
            <a:off x="11174695" y="3844139"/>
            <a:ext cx="5831464" cy="294068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899"/>
              </a:lnSpc>
              <a:buNone/>
            </a:pPr>
            <a:r>
              <a:rPr sz="34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parameters φ_1 and φ_2 are random variables uniformly distributed over the interval [0,1].</a:t>
            </a:r>
          </a:p>
          <a:p>
            <a:pPr algn="l">
              <a:lnSpc>
                <a:spcPts val="3779"/>
              </a:lnSpc>
              <a:buNone/>
            </a:pPr>
            <a:endParaRPr sz="34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9606C7B-E654-4965-9261-6321E074D029}"/>
              </a:ext>
            </a:extLst>
          </p:cNvPr>
          <p:cNvSpPr>
            <a:spLocks noGrp="1"/>
          </p:cNvSpPr>
          <p:nvPr/>
        </p:nvSpPr>
        <p:spPr>
          <a:xfrm flipH="1">
            <a:off x="11965091" y="-653122"/>
            <a:ext cx="6543775" cy="4155297"/>
          </a:xfrm>
          <a:custGeom>
            <a:avLst/>
            <a:gdLst/>
            <a:ahLst/>
            <a:cxnLst/>
            <a:rect l="l" t="t" r="r" b="b"/>
            <a:pathLst>
              <a:path w="6543775" h="4155297">
                <a:moveTo>
                  <a:pt x="6543775" y="0"/>
                </a:moveTo>
                <a:lnTo>
                  <a:pt x="0" y="0"/>
                </a:lnTo>
                <a:lnTo>
                  <a:pt x="0" y="4155297"/>
                </a:lnTo>
                <a:lnTo>
                  <a:pt x="6543775" y="4155297"/>
                </a:lnTo>
                <a:lnTo>
                  <a:pt x="6543775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1242803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E3714B6-FFF6-479D-8B1A-9EA281BF7AF6}"/>
              </a:ext>
            </a:extLst>
          </p:cNvPr>
          <p:cNvSpPr>
            <a:spLocks noGrp="1"/>
          </p:cNvSpPr>
          <p:nvPr/>
        </p:nvSpPr>
        <p:spPr>
          <a:xfrm>
            <a:off x="1028700" y="544969"/>
            <a:ext cx="14547429" cy="5951150"/>
          </a:xfrm>
          <a:custGeom>
            <a:avLst/>
            <a:gdLst/>
            <a:ahLst/>
            <a:cxnLst/>
            <a:rect l="l" t="t" r="r" b="b"/>
            <a:pathLst>
              <a:path w="14547429" h="5951150">
                <a:moveTo>
                  <a:pt x="0" y="0"/>
                </a:moveTo>
                <a:lnTo>
                  <a:pt x="14547429" y="0"/>
                </a:lnTo>
                <a:lnTo>
                  <a:pt x="14547429" y="5951150"/>
                </a:lnTo>
                <a:lnTo>
                  <a:pt x="0" y="5951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92" b="-179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84C1A9B-8BBC-4924-9E58-1EC1512FC4CA}"/>
              </a:ext>
            </a:extLst>
          </p:cNvPr>
          <p:cNvSpPr>
            <a:spLocks noGrp="1"/>
          </p:cNvSpPr>
          <p:nvPr/>
        </p:nvSpPr>
        <p:spPr>
          <a:xfrm>
            <a:off x="12304241" y="6318442"/>
            <a:ext cx="6543775" cy="4155297"/>
          </a:xfrm>
          <a:custGeom>
            <a:avLst/>
            <a:gdLst/>
            <a:ahLst/>
            <a:cxnLst/>
            <a:rect l="l" t="t" r="r" b="b"/>
            <a:pathLst>
              <a:path w="6543775" h="4155297">
                <a:moveTo>
                  <a:pt x="0" y="0"/>
                </a:moveTo>
                <a:lnTo>
                  <a:pt x="6543775" y="0"/>
                </a:lnTo>
                <a:lnTo>
                  <a:pt x="6543775" y="4155296"/>
                </a:lnTo>
                <a:lnTo>
                  <a:pt x="0" y="4155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2101913-235F-4DFD-A81E-945371D35C30}"/>
              </a:ext>
            </a:extLst>
          </p:cNvPr>
          <p:cNvSpPr>
            <a:spLocks noGrp="1"/>
          </p:cNvSpPr>
          <p:nvPr/>
        </p:nvSpPr>
        <p:spPr>
          <a:xfrm rot="-843852" flipH="1">
            <a:off x="1145639" y="8052210"/>
            <a:ext cx="2711200" cy="1296857"/>
          </a:xfrm>
          <a:custGeom>
            <a:avLst/>
            <a:gdLst/>
            <a:ahLst/>
            <a:cxnLst/>
            <a:rect l="l" t="t" r="r" b="b"/>
            <a:pathLst>
              <a:path w="2711200" h="1296857">
                <a:moveTo>
                  <a:pt x="2711199" y="0"/>
                </a:moveTo>
                <a:lnTo>
                  <a:pt x="0" y="0"/>
                </a:lnTo>
                <a:lnTo>
                  <a:pt x="0" y="1296857"/>
                </a:lnTo>
                <a:lnTo>
                  <a:pt x="2711199" y="1296857"/>
                </a:lnTo>
                <a:lnTo>
                  <a:pt x="2711199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D7C56BF-543A-42B4-8844-004F64475D40}"/>
              </a:ext>
            </a:extLst>
          </p:cNvPr>
          <p:cNvSpPr>
            <a:spLocks noGrp="1"/>
          </p:cNvSpPr>
          <p:nvPr/>
        </p:nvSpPr>
        <p:spPr>
          <a:xfrm rot="183053">
            <a:off x="9996971" y="7190552"/>
            <a:ext cx="3081344" cy="535383"/>
          </a:xfrm>
          <a:custGeom>
            <a:avLst/>
            <a:gdLst/>
            <a:ahLst/>
            <a:cxnLst/>
            <a:rect l="l" t="t" r="r" b="b"/>
            <a:pathLst>
              <a:path w="3081344" h="535383">
                <a:moveTo>
                  <a:pt x="0" y="0"/>
                </a:moveTo>
                <a:lnTo>
                  <a:pt x="3081344" y="0"/>
                </a:lnTo>
                <a:lnTo>
                  <a:pt x="3081344" y="535383"/>
                </a:lnTo>
                <a:lnTo>
                  <a:pt x="0" y="5353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4BC2056-65E9-458C-9E07-73803E969BE5}"/>
              </a:ext>
            </a:extLst>
          </p:cNvPr>
          <p:cNvSpPr>
            <a:spLocks noGrp="1"/>
          </p:cNvSpPr>
          <p:nvPr/>
        </p:nvSpPr>
        <p:spPr>
          <a:xfrm rot="9746741">
            <a:off x="3952134" y="7713039"/>
            <a:ext cx="3081344" cy="535383"/>
          </a:xfrm>
          <a:custGeom>
            <a:avLst/>
            <a:gdLst/>
            <a:ahLst/>
            <a:cxnLst/>
            <a:rect l="l" t="t" r="r" b="b"/>
            <a:pathLst>
              <a:path w="3081344" h="535383">
                <a:moveTo>
                  <a:pt x="0" y="0"/>
                </a:moveTo>
                <a:lnTo>
                  <a:pt x="3081344" y="0"/>
                </a:lnTo>
                <a:lnTo>
                  <a:pt x="3081344" y="535384"/>
                </a:lnTo>
                <a:lnTo>
                  <a:pt x="0" y="5353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21FA52A-BCC1-41DB-A6C2-17D5B1D10DAF}"/>
              </a:ext>
            </a:extLst>
          </p:cNvPr>
          <p:cNvSpPr>
            <a:spLocks noGrp="1"/>
          </p:cNvSpPr>
          <p:nvPr/>
        </p:nvSpPr>
        <p:spPr>
          <a:xfrm flipH="1">
            <a:off x="7159408" y="6683874"/>
            <a:ext cx="2711200" cy="1296857"/>
          </a:xfrm>
          <a:custGeom>
            <a:avLst/>
            <a:gdLst/>
            <a:ahLst/>
            <a:cxnLst/>
            <a:rect l="l" t="t" r="r" b="b"/>
            <a:pathLst>
              <a:path w="2711200" h="1296857">
                <a:moveTo>
                  <a:pt x="2711200" y="0"/>
                </a:moveTo>
                <a:lnTo>
                  <a:pt x="0" y="0"/>
                </a:lnTo>
                <a:lnTo>
                  <a:pt x="0" y="1296857"/>
                </a:lnTo>
                <a:lnTo>
                  <a:pt x="2711200" y="1296857"/>
                </a:lnTo>
                <a:lnTo>
                  <a:pt x="271120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332A342-F159-46C8-92E0-BBE00CE28F24}"/>
              </a:ext>
            </a:extLst>
          </p:cNvPr>
          <p:cNvSpPr>
            <a:spLocks noGrp="1"/>
          </p:cNvSpPr>
          <p:nvPr/>
        </p:nvSpPr>
        <p:spPr>
          <a:xfrm rot="-541182">
            <a:off x="1139979" y="7565612"/>
            <a:ext cx="1464393" cy="1200192"/>
          </a:xfrm>
          <a:custGeom>
            <a:avLst/>
            <a:gdLst/>
            <a:ahLst/>
            <a:cxnLst/>
            <a:rect l="l" t="t" r="r" b="b"/>
            <a:pathLst>
              <a:path w="1464393" h="1200192">
                <a:moveTo>
                  <a:pt x="0" y="0"/>
                </a:moveTo>
                <a:lnTo>
                  <a:pt x="1464393" y="0"/>
                </a:lnTo>
                <a:lnTo>
                  <a:pt x="1464393" y="1200193"/>
                </a:lnTo>
                <a:lnTo>
                  <a:pt x="0" y="1200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7B6D1BF-58E3-45A1-86F2-04E18C6C479A}"/>
              </a:ext>
            </a:extLst>
          </p:cNvPr>
          <p:cNvSpPr>
            <a:spLocks noGrp="1"/>
          </p:cNvSpPr>
          <p:nvPr/>
        </p:nvSpPr>
        <p:spPr>
          <a:xfrm>
            <a:off x="13090379" y="8700638"/>
            <a:ext cx="6543775" cy="4155297"/>
          </a:xfrm>
          <a:custGeom>
            <a:avLst/>
            <a:gdLst/>
            <a:ahLst/>
            <a:cxnLst/>
            <a:rect l="l" t="t" r="r" b="b"/>
            <a:pathLst>
              <a:path w="6543775" h="4155297">
                <a:moveTo>
                  <a:pt x="0" y="0"/>
                </a:moveTo>
                <a:lnTo>
                  <a:pt x="6543774" y="0"/>
                </a:lnTo>
                <a:lnTo>
                  <a:pt x="6543774" y="4155297"/>
                </a:lnTo>
                <a:lnTo>
                  <a:pt x="0" y="415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E767F5-1A13-4665-8830-771FF42D2698}"/>
              </a:ext>
            </a:extLst>
          </p:cNvPr>
          <p:cNvSpPr>
            <a:spLocks noGrp="1"/>
          </p:cNvSpPr>
          <p:nvPr/>
        </p:nvSpPr>
        <p:spPr>
          <a:xfrm>
            <a:off x="3943143" y="9235190"/>
            <a:ext cx="5558021" cy="4238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19"/>
              </a:lnSpc>
              <a:buNone/>
            </a:pPr>
            <a:r>
              <a:rPr sz="2599" b="1" i="1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Exploration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4380F34-CC3B-4767-B77C-6B4F78F058A1}"/>
              </a:ext>
            </a:extLst>
          </p:cNvPr>
          <p:cNvSpPr>
            <a:spLocks noGrp="1"/>
          </p:cNvSpPr>
          <p:nvPr/>
        </p:nvSpPr>
        <p:spPr>
          <a:xfrm>
            <a:off x="10311368" y="8184159"/>
            <a:ext cx="5558021" cy="42386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119"/>
              </a:lnSpc>
              <a:buNone/>
            </a:pPr>
            <a:r>
              <a:rPr sz="2599" b="1" i="1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Exploitation</a:t>
            </a:r>
          </a:p>
        </p:txBody>
      </p:sp>
    </p:spTree>
    <p:extLst>
      <p:ext uri="{BB962C8B-B14F-4D97-AF65-F5344CB8AC3E}">
        <p14:creationId xmlns:p14="http://schemas.microsoft.com/office/powerpoint/2010/main" val="191606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B35F5D-237F-4861-81E8-0B4D7FD44FA6}"/>
              </a:ext>
            </a:extLst>
          </p:cNvPr>
          <p:cNvSpPr>
            <a:spLocks noGrp="1"/>
          </p:cNvSpPr>
          <p:nvPr/>
        </p:nvSpPr>
        <p:spPr>
          <a:xfrm>
            <a:off x="1028700" y="771382"/>
            <a:ext cx="16230600" cy="8744236"/>
          </a:xfrm>
          <a:custGeom>
            <a:avLst/>
            <a:gdLst/>
            <a:ahLst/>
            <a:cxnLst/>
            <a:rect l="l" t="t" r="r" b="b"/>
            <a:pathLst>
              <a:path w="16230600" h="8744236">
                <a:moveTo>
                  <a:pt x="0" y="0"/>
                </a:moveTo>
                <a:lnTo>
                  <a:pt x="16230600" y="0"/>
                </a:lnTo>
                <a:lnTo>
                  <a:pt x="16230600" y="8744236"/>
                </a:lnTo>
                <a:lnTo>
                  <a:pt x="0" y="87442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820010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26DA3DBC-2CD8-4B33-A9E7-79406BCA4DB1}"/>
              </a:ext>
            </a:extLst>
          </p:cNvPr>
          <p:cNvSpPr>
            <a:spLocks noGrp="1"/>
          </p:cNvSpPr>
          <p:nvPr/>
        </p:nvSpPr>
        <p:spPr>
          <a:xfrm>
            <a:off x="4591790" y="-487659"/>
            <a:ext cx="47625" cy="794612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05391B2-C0BF-4AE9-89A9-DAE8D0ACDD73}"/>
              </a:ext>
            </a:extLst>
          </p:cNvPr>
          <p:cNvSpPr>
            <a:spLocks noGrp="1"/>
          </p:cNvSpPr>
          <p:nvPr/>
        </p:nvSpPr>
        <p:spPr>
          <a:xfrm>
            <a:off x="9086384" y="432975"/>
            <a:ext cx="9917390" cy="4465133"/>
          </a:xfrm>
          <a:custGeom>
            <a:avLst/>
            <a:gdLst/>
            <a:ahLst/>
            <a:cxnLst/>
            <a:rect l="l" t="t" r="r" b="b"/>
            <a:pathLst>
              <a:path w="8459470" h="3808730">
                <a:moveTo>
                  <a:pt x="458470" y="0"/>
                </a:moveTo>
                <a:lnTo>
                  <a:pt x="8001000" y="0"/>
                </a:lnTo>
                <a:cubicBezTo>
                  <a:pt x="8255000" y="0"/>
                  <a:pt x="8459470" y="205740"/>
                  <a:pt x="8459470" y="458470"/>
                </a:cubicBezTo>
                <a:lnTo>
                  <a:pt x="8459470" y="2320290"/>
                </a:lnTo>
                <a:cubicBezTo>
                  <a:pt x="8459470" y="2451100"/>
                  <a:pt x="8403590" y="2576830"/>
                  <a:pt x="8304530" y="2663190"/>
                </a:cubicBezTo>
                <a:lnTo>
                  <a:pt x="7141210" y="3693160"/>
                </a:lnTo>
                <a:cubicBezTo>
                  <a:pt x="7057390" y="3768090"/>
                  <a:pt x="6949440" y="3808730"/>
                  <a:pt x="6836410" y="3808730"/>
                </a:cubicBezTo>
                <a:lnTo>
                  <a:pt x="3760470" y="3808730"/>
                </a:lnTo>
                <a:cubicBezTo>
                  <a:pt x="3506470" y="3808730"/>
                  <a:pt x="3302000" y="3602990"/>
                  <a:pt x="3302000" y="3350260"/>
                </a:cubicBezTo>
                <a:lnTo>
                  <a:pt x="3302000" y="3227070"/>
                </a:lnTo>
                <a:cubicBezTo>
                  <a:pt x="3302000" y="2973070"/>
                  <a:pt x="3096260" y="2768600"/>
                  <a:pt x="2843530" y="2768600"/>
                </a:cubicBezTo>
                <a:lnTo>
                  <a:pt x="458470" y="2768600"/>
                </a:lnTo>
                <a:cubicBezTo>
                  <a:pt x="205740" y="2768600"/>
                  <a:pt x="0" y="2562860"/>
                  <a:pt x="0" y="2310130"/>
                </a:cubicBezTo>
                <a:lnTo>
                  <a:pt x="0" y="458470"/>
                </a:lnTo>
                <a:cubicBezTo>
                  <a:pt x="0" y="205740"/>
                  <a:pt x="205740" y="0"/>
                  <a:pt x="458470" y="0"/>
                </a:cubicBezTo>
                <a:close/>
              </a:path>
            </a:pathLst>
          </a:custGeom>
          <a:blipFill>
            <a:blip r:embed="rId3"/>
            <a:stretch>
              <a:fillRect t="-23989" b="-23989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CD8F860-8194-4C73-AD61-F8144DE8195E}"/>
              </a:ext>
            </a:extLst>
          </p:cNvPr>
          <p:cNvSpPr>
            <a:spLocks noGrp="1"/>
          </p:cNvSpPr>
          <p:nvPr/>
        </p:nvSpPr>
        <p:spPr>
          <a:xfrm>
            <a:off x="714867" y="528225"/>
            <a:ext cx="8638181" cy="273741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92"/>
              </a:lnSpc>
              <a:buNone/>
            </a:pPr>
            <a:r>
              <a:rPr sz="10000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Ant Colony Optimization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FE29C8C-75FE-4973-A581-29C171A279A8}"/>
              </a:ext>
            </a:extLst>
          </p:cNvPr>
          <p:cNvSpPr>
            <a:spLocks noGrp="1"/>
          </p:cNvSpPr>
          <p:nvPr/>
        </p:nvSpPr>
        <p:spPr>
          <a:xfrm>
            <a:off x="714868" y="3600597"/>
            <a:ext cx="7801468" cy="15125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>
                <a:solidFill>
                  <a:srgbClr val="A6A6A6"/>
                </a:solidFill>
                <a:latin typeface="Telegraf"/>
                <a:ea typeface="Telegraf"/>
                <a:cs typeface="Telegraf"/>
              </a:rPr>
              <a:t>Marco Dorigo - 1996</a:t>
            </a:r>
          </a:p>
          <a:p>
            <a:pPr algn="l">
              <a:lnSpc>
                <a:spcPts val="5880"/>
              </a:lnSpc>
              <a:spcBef>
                <a:spcPct val="0"/>
              </a:spcBef>
              <a:buNone/>
            </a:pPr>
            <a:endParaRPr sz="4200">
              <a:solidFill>
                <a:srgbClr val="A6A6A6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2F3354D-2D89-4236-8D10-F7B0FE02AF4A}"/>
              </a:ext>
            </a:extLst>
          </p:cNvPr>
          <p:cNvSpPr>
            <a:spLocks noGrp="1"/>
          </p:cNvSpPr>
          <p:nvPr/>
        </p:nvSpPr>
        <p:spPr>
          <a:xfrm>
            <a:off x="714868" y="5098890"/>
            <a:ext cx="8429132" cy="4368946"/>
          </a:xfrm>
          <a:custGeom>
            <a:avLst/>
            <a:gdLst/>
            <a:ahLst/>
            <a:cxnLst/>
            <a:rect l="l" t="t" r="r" b="b"/>
            <a:pathLst>
              <a:path w="2220018" h="1150669">
                <a:moveTo>
                  <a:pt x="27554" y="0"/>
                </a:moveTo>
                <a:lnTo>
                  <a:pt x="2192464" y="0"/>
                </a:lnTo>
                <a:cubicBezTo>
                  <a:pt x="2199772" y="0"/>
                  <a:pt x="2206780" y="2903"/>
                  <a:pt x="2211948" y="8070"/>
                </a:cubicBezTo>
                <a:cubicBezTo>
                  <a:pt x="2217115" y="13238"/>
                  <a:pt x="2220018" y="20246"/>
                  <a:pt x="2220018" y="27554"/>
                </a:cubicBezTo>
                <a:lnTo>
                  <a:pt x="2220018" y="1123115"/>
                </a:lnTo>
                <a:cubicBezTo>
                  <a:pt x="2220018" y="1138333"/>
                  <a:pt x="2207682" y="1150669"/>
                  <a:pt x="2192464" y="1150669"/>
                </a:cubicBezTo>
                <a:lnTo>
                  <a:pt x="27554" y="1150669"/>
                </a:lnTo>
                <a:cubicBezTo>
                  <a:pt x="12336" y="1150669"/>
                  <a:pt x="0" y="1138333"/>
                  <a:pt x="0" y="1123115"/>
                </a:cubicBezTo>
                <a:lnTo>
                  <a:pt x="0" y="27554"/>
                </a:lnTo>
                <a:cubicBezTo>
                  <a:pt x="0" y="12336"/>
                  <a:pt x="12336" y="0"/>
                  <a:pt x="27554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E0C3E34-4F81-48BC-A6EF-95C8CFA57D95}"/>
              </a:ext>
            </a:extLst>
          </p:cNvPr>
          <p:cNvSpPr>
            <a:spLocks noGrp="1"/>
          </p:cNvSpPr>
          <p:nvPr/>
        </p:nvSpPr>
        <p:spPr>
          <a:xfrm>
            <a:off x="714868" y="4954230"/>
            <a:ext cx="8429132" cy="451360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81B05EB-FBD2-4936-8FB6-F59B76493610}"/>
              </a:ext>
            </a:extLst>
          </p:cNvPr>
          <p:cNvSpPr>
            <a:spLocks noGrp="1"/>
          </p:cNvSpPr>
          <p:nvPr/>
        </p:nvSpPr>
        <p:spPr>
          <a:xfrm>
            <a:off x="859622" y="5189367"/>
            <a:ext cx="8139624" cy="44786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47692" indent="-323846" algn="l">
              <a:lnSpc>
                <a:spcPts val="4409"/>
              </a:lnSpc>
              <a:buFont typeface="Arial"/>
              <a:buChar char="•"/>
            </a:pPr>
            <a:r>
              <a:rPr sz="29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is based on metaheuristic optimization and was originally proposed to solve combinatorial problems.</a:t>
            </a:r>
          </a:p>
          <a:p>
            <a:pPr marL="647692" indent="-323846" algn="l">
              <a:lnSpc>
                <a:spcPts val="4409"/>
              </a:lnSpc>
              <a:buFont typeface="Arial"/>
              <a:buChar char="•"/>
            </a:pPr>
            <a:r>
              <a:rPr sz="29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focuses on the behavior of ant swarms and their ability to optimize the paths they follow while searching for food or avoiding obstacles.</a:t>
            </a:r>
          </a:p>
          <a:p>
            <a:pPr algn="l">
              <a:lnSpc>
                <a:spcPts val="4409"/>
              </a:lnSpc>
              <a:buNone/>
            </a:pPr>
            <a:endParaRPr sz="29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1198525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9F66CA8-C993-4C18-88B3-443217C2FF40}"/>
              </a:ext>
            </a:extLst>
          </p:cNvPr>
          <p:cNvSpPr>
            <a:spLocks noGrp="1"/>
          </p:cNvSpPr>
          <p:nvPr/>
        </p:nvSpPr>
        <p:spPr>
          <a:xfrm>
            <a:off x="791797" y="805031"/>
            <a:ext cx="9300406" cy="9047772"/>
          </a:xfrm>
          <a:custGeom>
            <a:avLst/>
            <a:gdLst/>
            <a:ahLst/>
            <a:cxnLst/>
            <a:rect l="l" t="t" r="r" b="b"/>
            <a:pathLst>
              <a:path w="2449490" h="2382952">
                <a:moveTo>
                  <a:pt x="24973" y="0"/>
                </a:moveTo>
                <a:lnTo>
                  <a:pt x="2424517" y="0"/>
                </a:lnTo>
                <a:cubicBezTo>
                  <a:pt x="2438309" y="0"/>
                  <a:pt x="2449490" y="11181"/>
                  <a:pt x="2449490" y="24973"/>
                </a:cubicBezTo>
                <a:lnTo>
                  <a:pt x="2449490" y="2357980"/>
                </a:lnTo>
                <a:cubicBezTo>
                  <a:pt x="2449490" y="2371772"/>
                  <a:pt x="2438309" y="2382952"/>
                  <a:pt x="2424517" y="2382952"/>
                </a:cubicBezTo>
                <a:lnTo>
                  <a:pt x="24973" y="2382952"/>
                </a:lnTo>
                <a:cubicBezTo>
                  <a:pt x="11181" y="2382952"/>
                  <a:pt x="0" y="2371772"/>
                  <a:pt x="0" y="2357980"/>
                </a:cubicBezTo>
                <a:lnTo>
                  <a:pt x="0" y="24973"/>
                </a:lnTo>
                <a:cubicBezTo>
                  <a:pt x="0" y="11181"/>
                  <a:pt x="11181" y="0"/>
                  <a:pt x="24973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71A3481-B40E-4C7C-8B39-75124C56CD6E}"/>
              </a:ext>
            </a:extLst>
          </p:cNvPr>
          <p:cNvSpPr>
            <a:spLocks noGrp="1"/>
          </p:cNvSpPr>
          <p:nvPr/>
        </p:nvSpPr>
        <p:spPr>
          <a:xfrm>
            <a:off x="791797" y="660371"/>
            <a:ext cx="9300406" cy="919243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52E3C99-BC96-4DBA-8FCE-6B4F9E2CEA83}"/>
              </a:ext>
            </a:extLst>
          </p:cNvPr>
          <p:cNvSpPr>
            <a:spLocks noGrp="1"/>
          </p:cNvSpPr>
          <p:nvPr/>
        </p:nvSpPr>
        <p:spPr>
          <a:xfrm>
            <a:off x="12762258" y="8914928"/>
            <a:ext cx="1968151" cy="1008677"/>
          </a:xfrm>
          <a:custGeom>
            <a:avLst/>
            <a:gdLst/>
            <a:ahLst/>
            <a:cxnLst/>
            <a:rect l="l" t="t" r="r" b="b"/>
            <a:pathLst>
              <a:path w="1968151" h="1008677">
                <a:moveTo>
                  <a:pt x="0" y="0"/>
                </a:moveTo>
                <a:lnTo>
                  <a:pt x="1968151" y="0"/>
                </a:lnTo>
                <a:lnTo>
                  <a:pt x="1968151" y="1008677"/>
                </a:lnTo>
                <a:lnTo>
                  <a:pt x="0" y="10086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674BEDE-B4C7-439E-94E7-19FD845A567D}"/>
              </a:ext>
            </a:extLst>
          </p:cNvPr>
          <p:cNvSpPr>
            <a:spLocks noGrp="1"/>
          </p:cNvSpPr>
          <p:nvPr/>
        </p:nvSpPr>
        <p:spPr>
          <a:xfrm rot="-10800000">
            <a:off x="10499830" y="9097333"/>
            <a:ext cx="1852853" cy="321933"/>
          </a:xfrm>
          <a:custGeom>
            <a:avLst/>
            <a:gdLst/>
            <a:ahLst/>
            <a:cxnLst/>
            <a:rect l="l" t="t" r="r" b="b"/>
            <a:pathLst>
              <a:path w="1852853" h="321933">
                <a:moveTo>
                  <a:pt x="0" y="0"/>
                </a:moveTo>
                <a:lnTo>
                  <a:pt x="1852853" y="0"/>
                </a:lnTo>
                <a:lnTo>
                  <a:pt x="1852853" y="321934"/>
                </a:lnTo>
                <a:lnTo>
                  <a:pt x="0" y="3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55360E2-DF6A-4C30-8722-E36A90633547}"/>
              </a:ext>
            </a:extLst>
          </p:cNvPr>
          <p:cNvSpPr>
            <a:spLocks noGrp="1"/>
          </p:cNvSpPr>
          <p:nvPr/>
        </p:nvSpPr>
        <p:spPr>
          <a:xfrm>
            <a:off x="15282041" y="933365"/>
            <a:ext cx="1977259" cy="1247471"/>
          </a:xfrm>
          <a:custGeom>
            <a:avLst/>
            <a:gdLst/>
            <a:ahLst/>
            <a:cxnLst/>
            <a:rect l="l" t="t" r="r" b="b"/>
            <a:pathLst>
              <a:path w="1977259" h="1247471">
                <a:moveTo>
                  <a:pt x="0" y="0"/>
                </a:moveTo>
                <a:lnTo>
                  <a:pt x="1977259" y="0"/>
                </a:lnTo>
                <a:lnTo>
                  <a:pt x="1977259" y="1247470"/>
                </a:lnTo>
                <a:lnTo>
                  <a:pt x="0" y="1247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F6322FB-5C07-48C3-BCA8-F9A0D680B79F}"/>
              </a:ext>
            </a:extLst>
          </p:cNvPr>
          <p:cNvSpPr>
            <a:spLocks noGrp="1"/>
          </p:cNvSpPr>
          <p:nvPr/>
        </p:nvSpPr>
        <p:spPr>
          <a:xfrm rot="-8699507" flipH="1">
            <a:off x="12797291" y="3170905"/>
            <a:ext cx="5931243" cy="4114800"/>
          </a:xfrm>
          <a:custGeom>
            <a:avLst/>
            <a:gdLst/>
            <a:ahLst/>
            <a:cxnLst/>
            <a:rect l="l" t="t" r="r" b="b"/>
            <a:pathLst>
              <a:path w="5931243" h="4114800">
                <a:moveTo>
                  <a:pt x="5931244" y="0"/>
                </a:moveTo>
                <a:lnTo>
                  <a:pt x="0" y="0"/>
                </a:lnTo>
                <a:lnTo>
                  <a:pt x="0" y="4114800"/>
                </a:lnTo>
                <a:lnTo>
                  <a:pt x="5931244" y="4114800"/>
                </a:lnTo>
                <a:lnTo>
                  <a:pt x="59312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4D4F497-30D1-403A-9E7C-6F781053A834}"/>
              </a:ext>
            </a:extLst>
          </p:cNvPr>
          <p:cNvSpPr>
            <a:spLocks noGrp="1"/>
          </p:cNvSpPr>
          <p:nvPr/>
        </p:nvSpPr>
        <p:spPr>
          <a:xfrm>
            <a:off x="15139984" y="8936367"/>
            <a:ext cx="1852853" cy="321933"/>
          </a:xfrm>
          <a:custGeom>
            <a:avLst/>
            <a:gdLst/>
            <a:ahLst/>
            <a:cxnLst/>
            <a:rect l="l" t="t" r="r" b="b"/>
            <a:pathLst>
              <a:path w="1852853" h="321933">
                <a:moveTo>
                  <a:pt x="0" y="0"/>
                </a:moveTo>
                <a:lnTo>
                  <a:pt x="1852853" y="0"/>
                </a:lnTo>
                <a:lnTo>
                  <a:pt x="1852853" y="321933"/>
                </a:lnTo>
                <a:lnTo>
                  <a:pt x="0" y="321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F4F03EB-6EBF-4569-B882-5F91F319B967}"/>
              </a:ext>
            </a:extLst>
          </p:cNvPr>
          <p:cNvSpPr>
            <a:spLocks noGrp="1"/>
          </p:cNvSpPr>
          <p:nvPr/>
        </p:nvSpPr>
        <p:spPr>
          <a:xfrm>
            <a:off x="15139984" y="3006543"/>
            <a:ext cx="1130686" cy="1440365"/>
          </a:xfrm>
          <a:custGeom>
            <a:avLst/>
            <a:gdLst/>
            <a:ahLst/>
            <a:cxnLst/>
            <a:rect l="l" t="t" r="r" b="b"/>
            <a:pathLst>
              <a:path w="1130686" h="1440365">
                <a:moveTo>
                  <a:pt x="0" y="0"/>
                </a:moveTo>
                <a:lnTo>
                  <a:pt x="1130686" y="0"/>
                </a:lnTo>
                <a:lnTo>
                  <a:pt x="1130686" y="1440365"/>
                </a:lnTo>
                <a:lnTo>
                  <a:pt x="0" y="1440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199107D-CEAF-43A2-B778-6557707F05B4}"/>
              </a:ext>
            </a:extLst>
          </p:cNvPr>
          <p:cNvSpPr>
            <a:spLocks noGrp="1"/>
          </p:cNvSpPr>
          <p:nvPr/>
        </p:nvSpPr>
        <p:spPr>
          <a:xfrm>
            <a:off x="15282041" y="6648687"/>
            <a:ext cx="1111027" cy="1415321"/>
          </a:xfrm>
          <a:custGeom>
            <a:avLst/>
            <a:gdLst/>
            <a:ahLst/>
            <a:cxnLst/>
            <a:rect l="l" t="t" r="r" b="b"/>
            <a:pathLst>
              <a:path w="1111027" h="1415321">
                <a:moveTo>
                  <a:pt x="0" y="0"/>
                </a:moveTo>
                <a:lnTo>
                  <a:pt x="1111027" y="0"/>
                </a:lnTo>
                <a:lnTo>
                  <a:pt x="1111027" y="1415321"/>
                </a:lnTo>
                <a:lnTo>
                  <a:pt x="0" y="1415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01F1505-8543-4CAC-9564-F50B6EF8F536}"/>
              </a:ext>
            </a:extLst>
          </p:cNvPr>
          <p:cNvSpPr>
            <a:spLocks noGrp="1"/>
          </p:cNvSpPr>
          <p:nvPr/>
        </p:nvSpPr>
        <p:spPr>
          <a:xfrm>
            <a:off x="13037113" y="7684585"/>
            <a:ext cx="1039367" cy="930233"/>
          </a:xfrm>
          <a:custGeom>
            <a:avLst/>
            <a:gdLst/>
            <a:ahLst/>
            <a:cxnLst/>
            <a:rect l="l" t="t" r="r" b="b"/>
            <a:pathLst>
              <a:path w="1039367" h="930233">
                <a:moveTo>
                  <a:pt x="0" y="0"/>
                </a:moveTo>
                <a:lnTo>
                  <a:pt x="1039366" y="0"/>
                </a:lnTo>
                <a:lnTo>
                  <a:pt x="1039366" y="930233"/>
                </a:lnTo>
                <a:lnTo>
                  <a:pt x="0" y="9302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60DEB57-36E3-44AC-8F82-D5BF45E89310}"/>
              </a:ext>
            </a:extLst>
          </p:cNvPr>
          <p:cNvSpPr>
            <a:spLocks noGrp="1"/>
          </p:cNvSpPr>
          <p:nvPr/>
        </p:nvSpPr>
        <p:spPr>
          <a:xfrm>
            <a:off x="1028700" y="927319"/>
            <a:ext cx="8591353" cy="874604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866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In the real world, ants initially wander at random. When they find food, they return to their colony while leaving pheromone trails.</a:t>
            </a:r>
          </a:p>
          <a:p>
            <a:pPr algn="l">
              <a:lnSpc>
                <a:spcPts val="4866"/>
              </a:lnSpc>
              <a:buNone/>
            </a:pPr>
            <a:endParaRPr sz="30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4866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If other ants find that path, they are likely to follow the trail rather than continue wandering randomly, returning and reinforcing it if they eventually find food.</a:t>
            </a:r>
          </a:p>
          <a:p>
            <a:pPr algn="l">
              <a:lnSpc>
                <a:spcPts val="4866"/>
              </a:lnSpc>
              <a:buNone/>
            </a:pPr>
            <a:endParaRPr sz="30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4866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goal is to increase pheromone values associated with good solutions and reduce those associated with poor ones. Pheromone evaporation on weak paths makes this possible.</a:t>
            </a:r>
          </a:p>
          <a:p>
            <a:pPr algn="l">
              <a:lnSpc>
                <a:spcPts val="4339"/>
              </a:lnSpc>
              <a:buNone/>
            </a:pPr>
            <a:endParaRPr sz="30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1231701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767926-902D-492E-AB4C-B64B7E2C3E91}"/>
              </a:ext>
            </a:extLst>
          </p:cNvPr>
          <p:cNvSpPr>
            <a:spLocks noGrp="1"/>
          </p:cNvSpPr>
          <p:nvPr/>
        </p:nvSpPr>
        <p:spPr>
          <a:xfrm>
            <a:off x="810794" y="433747"/>
            <a:ext cx="7956604" cy="3978302"/>
          </a:xfrm>
          <a:custGeom>
            <a:avLst/>
            <a:gdLst/>
            <a:ahLst/>
            <a:cxnLst/>
            <a:rect l="l" t="t" r="r" b="b"/>
            <a:pathLst>
              <a:path w="7956604" h="3978302">
                <a:moveTo>
                  <a:pt x="0" y="0"/>
                </a:moveTo>
                <a:lnTo>
                  <a:pt x="7956604" y="0"/>
                </a:lnTo>
                <a:lnTo>
                  <a:pt x="7956604" y="3978302"/>
                </a:lnTo>
                <a:lnTo>
                  <a:pt x="0" y="3978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C9909A4-FCE2-4B5B-9BBF-122500E7EC43}"/>
              </a:ext>
            </a:extLst>
          </p:cNvPr>
          <p:cNvSpPr>
            <a:spLocks noGrp="1"/>
          </p:cNvSpPr>
          <p:nvPr/>
        </p:nvSpPr>
        <p:spPr>
          <a:xfrm>
            <a:off x="8767398" y="587927"/>
            <a:ext cx="8897534" cy="2457944"/>
          </a:xfrm>
          <a:custGeom>
            <a:avLst/>
            <a:gdLst/>
            <a:ahLst/>
            <a:cxnLst/>
            <a:rect l="l" t="t" r="r" b="b"/>
            <a:pathLst>
              <a:path w="8897534" h="2457944">
                <a:moveTo>
                  <a:pt x="0" y="0"/>
                </a:moveTo>
                <a:lnTo>
                  <a:pt x="8897534" y="0"/>
                </a:lnTo>
                <a:lnTo>
                  <a:pt x="8897534" y="2457943"/>
                </a:lnTo>
                <a:lnTo>
                  <a:pt x="0" y="2457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15E3106-8445-42DB-9E99-C4430AC984CE}"/>
              </a:ext>
            </a:extLst>
          </p:cNvPr>
          <p:cNvSpPr>
            <a:spLocks noGrp="1"/>
          </p:cNvSpPr>
          <p:nvPr/>
        </p:nvSpPr>
        <p:spPr>
          <a:xfrm>
            <a:off x="1098111" y="4657698"/>
            <a:ext cx="15338573" cy="1783109"/>
          </a:xfrm>
          <a:custGeom>
            <a:avLst/>
            <a:gdLst/>
            <a:ahLst/>
            <a:cxnLst/>
            <a:rect l="l" t="t" r="r" b="b"/>
            <a:pathLst>
              <a:path w="15338573" h="1783109">
                <a:moveTo>
                  <a:pt x="0" y="0"/>
                </a:moveTo>
                <a:lnTo>
                  <a:pt x="15338573" y="0"/>
                </a:lnTo>
                <a:lnTo>
                  <a:pt x="15338573" y="1783109"/>
                </a:lnTo>
                <a:lnTo>
                  <a:pt x="0" y="17831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7FDB29C-5E28-465A-9CA5-F496CEAD7816}"/>
              </a:ext>
            </a:extLst>
          </p:cNvPr>
          <p:cNvSpPr>
            <a:spLocks noGrp="1"/>
          </p:cNvSpPr>
          <p:nvPr/>
        </p:nvSpPr>
        <p:spPr>
          <a:xfrm>
            <a:off x="3858683" y="6440807"/>
            <a:ext cx="8878749" cy="3846193"/>
          </a:xfrm>
          <a:custGeom>
            <a:avLst/>
            <a:gdLst/>
            <a:ahLst/>
            <a:cxnLst/>
            <a:rect l="l" t="t" r="r" b="b"/>
            <a:pathLst>
              <a:path w="15453191" h="4075779">
                <a:moveTo>
                  <a:pt x="0" y="0"/>
                </a:moveTo>
                <a:lnTo>
                  <a:pt x="15453191" y="0"/>
                </a:lnTo>
                <a:lnTo>
                  <a:pt x="15453191" y="4075779"/>
                </a:lnTo>
                <a:lnTo>
                  <a:pt x="0" y="40757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EC" dirty="0"/>
          </a:p>
        </p:txBody>
      </p:sp>
    </p:spTree>
    <p:extLst>
      <p:ext uri="{BB962C8B-B14F-4D97-AF65-F5344CB8AC3E}">
        <p14:creationId xmlns:p14="http://schemas.microsoft.com/office/powerpoint/2010/main" val="1578586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414E58-16F3-4BBB-BA14-BE60C734CF13}"/>
              </a:ext>
            </a:extLst>
          </p:cNvPr>
          <p:cNvSpPr>
            <a:spLocks noGrp="1"/>
          </p:cNvSpPr>
          <p:nvPr/>
        </p:nvSpPr>
        <p:spPr>
          <a:xfrm>
            <a:off x="1801565" y="2261594"/>
            <a:ext cx="14684870" cy="5763812"/>
          </a:xfrm>
          <a:custGeom>
            <a:avLst/>
            <a:gdLst/>
            <a:ahLst/>
            <a:cxnLst/>
            <a:rect l="l" t="t" r="r" b="b"/>
            <a:pathLst>
              <a:path w="14684870" h="5763812">
                <a:moveTo>
                  <a:pt x="0" y="0"/>
                </a:moveTo>
                <a:lnTo>
                  <a:pt x="14684870" y="0"/>
                </a:lnTo>
                <a:lnTo>
                  <a:pt x="14684870" y="5763812"/>
                </a:lnTo>
                <a:lnTo>
                  <a:pt x="0" y="5763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1499494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47C90F02-F769-4AD6-B249-1EEF8246343E}"/>
              </a:ext>
            </a:extLst>
          </p:cNvPr>
          <p:cNvSpPr>
            <a:spLocks noGrp="1"/>
          </p:cNvSpPr>
          <p:nvPr/>
        </p:nvSpPr>
        <p:spPr>
          <a:xfrm>
            <a:off x="4591790" y="-487659"/>
            <a:ext cx="47625" cy="794612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A01F222-1F47-41AD-A333-39077D87D356}"/>
              </a:ext>
            </a:extLst>
          </p:cNvPr>
          <p:cNvSpPr>
            <a:spLocks noGrp="1"/>
          </p:cNvSpPr>
          <p:nvPr/>
        </p:nvSpPr>
        <p:spPr>
          <a:xfrm>
            <a:off x="714867" y="528225"/>
            <a:ext cx="9344033" cy="273741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92"/>
              </a:lnSpc>
              <a:buNone/>
            </a:pPr>
            <a:r>
              <a:rPr sz="10592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Artificial Bee</a:t>
            </a:r>
          </a:p>
          <a:p>
            <a:pPr algn="l">
              <a:lnSpc>
                <a:spcPts val="10592"/>
              </a:lnSpc>
              <a:buNone/>
            </a:pPr>
            <a:r>
              <a:rPr sz="10592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Colony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4A68605-3611-4751-A270-5F26D6565E81}"/>
              </a:ext>
            </a:extLst>
          </p:cNvPr>
          <p:cNvSpPr>
            <a:spLocks noGrp="1"/>
          </p:cNvSpPr>
          <p:nvPr/>
        </p:nvSpPr>
        <p:spPr>
          <a:xfrm>
            <a:off x="714868" y="3600597"/>
            <a:ext cx="7801468" cy="76962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  <a:buNone/>
            </a:pPr>
            <a:r>
              <a:rPr sz="4200" dirty="0" err="1">
                <a:solidFill>
                  <a:srgbClr val="A6A6A6"/>
                </a:solidFill>
                <a:latin typeface="Telegraf"/>
                <a:ea typeface="Telegraf"/>
                <a:cs typeface="Telegraf"/>
              </a:rPr>
              <a:t>Karaboga</a:t>
            </a:r>
            <a:r>
              <a:rPr sz="4200" dirty="0">
                <a:solidFill>
                  <a:srgbClr val="A6A6A6"/>
                </a:solidFill>
                <a:latin typeface="Telegraf"/>
                <a:ea typeface="Telegraf"/>
                <a:cs typeface="Telegraf"/>
              </a:rPr>
              <a:t> - 2007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B8BA1FA-02C2-487F-89F2-F76394B337E6}"/>
              </a:ext>
            </a:extLst>
          </p:cNvPr>
          <p:cNvSpPr>
            <a:spLocks noGrp="1"/>
          </p:cNvSpPr>
          <p:nvPr/>
        </p:nvSpPr>
        <p:spPr>
          <a:xfrm>
            <a:off x="9457832" y="665532"/>
            <a:ext cx="7969174" cy="4783098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3"/>
            <a:stretch>
              <a:fillRect t="-5502" b="-550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3DEA595-2F56-438A-BF5E-1E44FA20A7DA}"/>
              </a:ext>
            </a:extLst>
          </p:cNvPr>
          <p:cNvSpPr>
            <a:spLocks noGrp="1"/>
          </p:cNvSpPr>
          <p:nvPr/>
        </p:nvSpPr>
        <p:spPr>
          <a:xfrm>
            <a:off x="714868" y="5098890"/>
            <a:ext cx="8429132" cy="4368946"/>
          </a:xfrm>
          <a:custGeom>
            <a:avLst/>
            <a:gdLst/>
            <a:ahLst/>
            <a:cxnLst/>
            <a:rect l="l" t="t" r="r" b="b"/>
            <a:pathLst>
              <a:path w="2220018" h="1150669">
                <a:moveTo>
                  <a:pt x="27554" y="0"/>
                </a:moveTo>
                <a:lnTo>
                  <a:pt x="2192464" y="0"/>
                </a:lnTo>
                <a:cubicBezTo>
                  <a:pt x="2199772" y="0"/>
                  <a:pt x="2206780" y="2903"/>
                  <a:pt x="2211948" y="8070"/>
                </a:cubicBezTo>
                <a:cubicBezTo>
                  <a:pt x="2217115" y="13238"/>
                  <a:pt x="2220018" y="20246"/>
                  <a:pt x="2220018" y="27554"/>
                </a:cubicBezTo>
                <a:lnTo>
                  <a:pt x="2220018" y="1123115"/>
                </a:lnTo>
                <a:cubicBezTo>
                  <a:pt x="2220018" y="1138333"/>
                  <a:pt x="2207682" y="1150669"/>
                  <a:pt x="2192464" y="1150669"/>
                </a:cubicBezTo>
                <a:lnTo>
                  <a:pt x="27554" y="1150669"/>
                </a:lnTo>
                <a:cubicBezTo>
                  <a:pt x="12336" y="1150669"/>
                  <a:pt x="0" y="1138333"/>
                  <a:pt x="0" y="1123115"/>
                </a:cubicBezTo>
                <a:lnTo>
                  <a:pt x="0" y="27554"/>
                </a:lnTo>
                <a:cubicBezTo>
                  <a:pt x="0" y="12336"/>
                  <a:pt x="12336" y="0"/>
                  <a:pt x="27554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C25E811-B5C4-4C4E-B475-AD0152028C89}"/>
              </a:ext>
            </a:extLst>
          </p:cNvPr>
          <p:cNvSpPr>
            <a:spLocks noGrp="1"/>
          </p:cNvSpPr>
          <p:nvPr/>
        </p:nvSpPr>
        <p:spPr>
          <a:xfrm>
            <a:off x="714868" y="4954230"/>
            <a:ext cx="8429132" cy="451360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537BC62-E01D-4152-98C7-99F6F1A17856}"/>
              </a:ext>
            </a:extLst>
          </p:cNvPr>
          <p:cNvSpPr>
            <a:spLocks noGrp="1"/>
          </p:cNvSpPr>
          <p:nvPr/>
        </p:nvSpPr>
        <p:spPr>
          <a:xfrm>
            <a:off x="1004376" y="5417819"/>
            <a:ext cx="8139624" cy="38404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409"/>
              </a:lnSpc>
              <a:buNone/>
            </a:pPr>
            <a:r>
              <a:rPr sz="29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swarm-intelligence approach inspired by the behavior of honeybees.</a:t>
            </a:r>
          </a:p>
          <a:p>
            <a:pPr algn="l">
              <a:lnSpc>
                <a:spcPts val="4409"/>
              </a:lnSpc>
              <a:buNone/>
            </a:pPr>
            <a:r>
              <a:rPr sz="2999" u="none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solves optimization problems by imitating the foraging behavior of bee colonies.</a:t>
            </a:r>
          </a:p>
          <a:p>
            <a:pPr algn="l">
              <a:lnSpc>
                <a:spcPts val="4409"/>
              </a:lnSpc>
              <a:buNone/>
            </a:pPr>
            <a:endParaRPr sz="2999" u="none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445560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2552708-C55C-4948-9388-B2CD434DC2E8}"/>
              </a:ext>
            </a:extLst>
          </p:cNvPr>
          <p:cNvSpPr>
            <a:spLocks noGrp="1"/>
          </p:cNvSpPr>
          <p:nvPr/>
        </p:nvSpPr>
        <p:spPr>
          <a:xfrm>
            <a:off x="791797" y="805031"/>
            <a:ext cx="9315223" cy="8306679"/>
          </a:xfrm>
          <a:custGeom>
            <a:avLst/>
            <a:gdLst/>
            <a:ahLst/>
            <a:cxnLst/>
            <a:rect l="l" t="t" r="r" b="b"/>
            <a:pathLst>
              <a:path w="2453392" h="2187767">
                <a:moveTo>
                  <a:pt x="24933" y="0"/>
                </a:moveTo>
                <a:lnTo>
                  <a:pt x="2428459" y="0"/>
                </a:lnTo>
                <a:cubicBezTo>
                  <a:pt x="2435072" y="0"/>
                  <a:pt x="2441414" y="2627"/>
                  <a:pt x="2446089" y="7303"/>
                </a:cubicBezTo>
                <a:cubicBezTo>
                  <a:pt x="2450765" y="11979"/>
                  <a:pt x="2453392" y="18320"/>
                  <a:pt x="2453392" y="24933"/>
                </a:cubicBezTo>
                <a:lnTo>
                  <a:pt x="2453392" y="2162834"/>
                </a:lnTo>
                <a:cubicBezTo>
                  <a:pt x="2453392" y="2176605"/>
                  <a:pt x="2442229" y="2187767"/>
                  <a:pt x="2428459" y="2187767"/>
                </a:cubicBezTo>
                <a:lnTo>
                  <a:pt x="24933" y="2187767"/>
                </a:lnTo>
                <a:cubicBezTo>
                  <a:pt x="11163" y="2187767"/>
                  <a:pt x="0" y="2176605"/>
                  <a:pt x="0" y="2162834"/>
                </a:cubicBezTo>
                <a:lnTo>
                  <a:pt x="0" y="24933"/>
                </a:lnTo>
                <a:cubicBezTo>
                  <a:pt x="0" y="11163"/>
                  <a:pt x="11163" y="0"/>
                  <a:pt x="24933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EBD393F-86ED-460D-8F05-834926D9E0E2}"/>
              </a:ext>
            </a:extLst>
          </p:cNvPr>
          <p:cNvSpPr>
            <a:spLocks noGrp="1"/>
          </p:cNvSpPr>
          <p:nvPr/>
        </p:nvSpPr>
        <p:spPr>
          <a:xfrm>
            <a:off x="791797" y="660371"/>
            <a:ext cx="9315223" cy="8451339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7CB5A90-696C-44C0-BBD6-5EAE13BF25B5}"/>
              </a:ext>
            </a:extLst>
          </p:cNvPr>
          <p:cNvSpPr>
            <a:spLocks noGrp="1"/>
          </p:cNvSpPr>
          <p:nvPr/>
        </p:nvSpPr>
        <p:spPr>
          <a:xfrm>
            <a:off x="13318928" y="3428386"/>
            <a:ext cx="2713980" cy="2353761"/>
          </a:xfrm>
          <a:custGeom>
            <a:avLst/>
            <a:gdLst/>
            <a:ahLst/>
            <a:cxnLst/>
            <a:rect l="l" t="t" r="r" b="b"/>
            <a:pathLst>
              <a:path w="2713980" h="2353761">
                <a:moveTo>
                  <a:pt x="0" y="0"/>
                </a:moveTo>
                <a:lnTo>
                  <a:pt x="2713980" y="0"/>
                </a:lnTo>
                <a:lnTo>
                  <a:pt x="2713980" y="2353761"/>
                </a:lnTo>
                <a:lnTo>
                  <a:pt x="0" y="23537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02A6225-6549-4222-B42E-7EAB5BFEAA2D}"/>
              </a:ext>
            </a:extLst>
          </p:cNvPr>
          <p:cNvSpPr>
            <a:spLocks noGrp="1"/>
          </p:cNvSpPr>
          <p:nvPr/>
        </p:nvSpPr>
        <p:spPr>
          <a:xfrm>
            <a:off x="13459133" y="6158665"/>
            <a:ext cx="2713980" cy="2353761"/>
          </a:xfrm>
          <a:custGeom>
            <a:avLst/>
            <a:gdLst/>
            <a:ahLst/>
            <a:cxnLst/>
            <a:rect l="l" t="t" r="r" b="b"/>
            <a:pathLst>
              <a:path w="2713980" h="2353761">
                <a:moveTo>
                  <a:pt x="0" y="0"/>
                </a:moveTo>
                <a:lnTo>
                  <a:pt x="2713980" y="0"/>
                </a:lnTo>
                <a:lnTo>
                  <a:pt x="2713980" y="2353761"/>
                </a:lnTo>
                <a:lnTo>
                  <a:pt x="0" y="23537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D78C7CC-5605-4BCE-9A55-4B9954B211B1}"/>
              </a:ext>
            </a:extLst>
          </p:cNvPr>
          <p:cNvSpPr>
            <a:spLocks noGrp="1"/>
          </p:cNvSpPr>
          <p:nvPr/>
        </p:nvSpPr>
        <p:spPr>
          <a:xfrm>
            <a:off x="12797116" y="419165"/>
            <a:ext cx="2713980" cy="2353761"/>
          </a:xfrm>
          <a:custGeom>
            <a:avLst/>
            <a:gdLst/>
            <a:ahLst/>
            <a:cxnLst/>
            <a:rect l="l" t="t" r="r" b="b"/>
            <a:pathLst>
              <a:path w="2713980" h="2353761">
                <a:moveTo>
                  <a:pt x="0" y="0"/>
                </a:moveTo>
                <a:lnTo>
                  <a:pt x="2713979" y="0"/>
                </a:lnTo>
                <a:lnTo>
                  <a:pt x="2713979" y="2353761"/>
                </a:lnTo>
                <a:lnTo>
                  <a:pt x="0" y="23537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A4B851E-5AD3-4EE8-8CC2-3070DABFA8BB}"/>
              </a:ext>
            </a:extLst>
          </p:cNvPr>
          <p:cNvSpPr>
            <a:spLocks noGrp="1"/>
          </p:cNvSpPr>
          <p:nvPr/>
        </p:nvSpPr>
        <p:spPr>
          <a:xfrm>
            <a:off x="12505041" y="7834318"/>
            <a:ext cx="1908184" cy="1423982"/>
          </a:xfrm>
          <a:custGeom>
            <a:avLst/>
            <a:gdLst/>
            <a:ahLst/>
            <a:cxnLst/>
            <a:rect l="l" t="t" r="r" b="b"/>
            <a:pathLst>
              <a:path w="1908184" h="1423982">
                <a:moveTo>
                  <a:pt x="0" y="0"/>
                </a:moveTo>
                <a:lnTo>
                  <a:pt x="1908184" y="0"/>
                </a:lnTo>
                <a:lnTo>
                  <a:pt x="1908184" y="1423982"/>
                </a:lnTo>
                <a:lnTo>
                  <a:pt x="0" y="1423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F5D69F1-050A-4C4A-8BE9-936AEB12254B}"/>
              </a:ext>
            </a:extLst>
          </p:cNvPr>
          <p:cNvSpPr>
            <a:spLocks noGrp="1"/>
          </p:cNvSpPr>
          <p:nvPr/>
        </p:nvSpPr>
        <p:spPr>
          <a:xfrm>
            <a:off x="12445980" y="6645900"/>
            <a:ext cx="872947" cy="1188418"/>
          </a:xfrm>
          <a:custGeom>
            <a:avLst/>
            <a:gdLst/>
            <a:ahLst/>
            <a:cxnLst/>
            <a:rect l="l" t="t" r="r" b="b"/>
            <a:pathLst>
              <a:path w="872947" h="1188418">
                <a:moveTo>
                  <a:pt x="0" y="0"/>
                </a:moveTo>
                <a:lnTo>
                  <a:pt x="872948" y="0"/>
                </a:lnTo>
                <a:lnTo>
                  <a:pt x="872948" y="1188418"/>
                </a:lnTo>
                <a:lnTo>
                  <a:pt x="0" y="1188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4330545-40E8-47BC-804D-AAD3D3C9696A}"/>
              </a:ext>
            </a:extLst>
          </p:cNvPr>
          <p:cNvSpPr>
            <a:spLocks noGrp="1"/>
          </p:cNvSpPr>
          <p:nvPr/>
        </p:nvSpPr>
        <p:spPr>
          <a:xfrm rot="-804140" flipH="1">
            <a:off x="12536482" y="642034"/>
            <a:ext cx="1473377" cy="954012"/>
          </a:xfrm>
          <a:custGeom>
            <a:avLst/>
            <a:gdLst/>
            <a:ahLst/>
            <a:cxnLst/>
            <a:rect l="l" t="t" r="r" b="b"/>
            <a:pathLst>
              <a:path w="1473377" h="954012">
                <a:moveTo>
                  <a:pt x="1473377" y="0"/>
                </a:moveTo>
                <a:lnTo>
                  <a:pt x="0" y="0"/>
                </a:lnTo>
                <a:lnTo>
                  <a:pt x="0" y="954012"/>
                </a:lnTo>
                <a:lnTo>
                  <a:pt x="1473377" y="954012"/>
                </a:lnTo>
                <a:lnTo>
                  <a:pt x="14733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88D7A4F-2155-4D48-94E9-4F88B0270FFE}"/>
              </a:ext>
            </a:extLst>
          </p:cNvPr>
          <p:cNvSpPr>
            <a:spLocks noGrp="1"/>
          </p:cNvSpPr>
          <p:nvPr/>
        </p:nvSpPr>
        <p:spPr>
          <a:xfrm>
            <a:off x="12709782" y="2357007"/>
            <a:ext cx="1041426" cy="831839"/>
          </a:xfrm>
          <a:custGeom>
            <a:avLst/>
            <a:gdLst/>
            <a:ahLst/>
            <a:cxnLst/>
            <a:rect l="l" t="t" r="r" b="b"/>
            <a:pathLst>
              <a:path w="1041426" h="831839">
                <a:moveTo>
                  <a:pt x="0" y="0"/>
                </a:moveTo>
                <a:lnTo>
                  <a:pt x="1041425" y="0"/>
                </a:lnTo>
                <a:lnTo>
                  <a:pt x="1041425" y="831838"/>
                </a:lnTo>
                <a:lnTo>
                  <a:pt x="0" y="8318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AFD556C-B0A8-47B0-A725-3C44174141C1}"/>
              </a:ext>
            </a:extLst>
          </p:cNvPr>
          <p:cNvSpPr>
            <a:spLocks noGrp="1"/>
          </p:cNvSpPr>
          <p:nvPr/>
        </p:nvSpPr>
        <p:spPr>
          <a:xfrm>
            <a:off x="12654002" y="4584161"/>
            <a:ext cx="1329851" cy="1078388"/>
          </a:xfrm>
          <a:custGeom>
            <a:avLst/>
            <a:gdLst/>
            <a:ahLst/>
            <a:cxnLst/>
            <a:rect l="l" t="t" r="r" b="b"/>
            <a:pathLst>
              <a:path w="1329851" h="1078388">
                <a:moveTo>
                  <a:pt x="0" y="0"/>
                </a:moveTo>
                <a:lnTo>
                  <a:pt x="1329851" y="0"/>
                </a:lnTo>
                <a:lnTo>
                  <a:pt x="1329851" y="1078388"/>
                </a:lnTo>
                <a:lnTo>
                  <a:pt x="0" y="1078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5719AF1-8CFF-43F7-98D8-D812ADC83451}"/>
              </a:ext>
            </a:extLst>
          </p:cNvPr>
          <p:cNvSpPr>
            <a:spLocks noGrp="1"/>
          </p:cNvSpPr>
          <p:nvPr/>
        </p:nvSpPr>
        <p:spPr>
          <a:xfrm>
            <a:off x="1146324" y="1070515"/>
            <a:ext cx="8591353" cy="804119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69288" indent="-334644" algn="l">
              <a:lnSpc>
                <a:spcPts val="4866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algorithm has three main components:</a:t>
            </a:r>
            <a:r>
              <a:rPr sz="30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 employed bees, onlooker bees, and scout bees.</a:t>
            </a:r>
          </a:p>
          <a:p>
            <a:pPr marL="669288" indent="-334644" algn="l">
              <a:lnSpc>
                <a:spcPts val="4866"/>
              </a:lnSpc>
              <a:buFont typeface="Arial"/>
              <a:buChar char="•"/>
            </a:pPr>
            <a:r>
              <a:rPr sz="3099" u="none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Like the survival of a bee colony, the algorithm’s success depends on quickly discovering and efficiently using the best resources.</a:t>
            </a:r>
          </a:p>
          <a:p>
            <a:pPr marL="669288" indent="-334644" algn="l">
              <a:lnSpc>
                <a:spcPts val="4866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In the ABC algorithm, onlooker and employed bees perform exploitation in the search space, while scout bees control exploration.</a:t>
            </a:r>
          </a:p>
          <a:p>
            <a:pPr algn="l">
              <a:lnSpc>
                <a:spcPts val="4339"/>
              </a:lnSpc>
              <a:buNone/>
            </a:pPr>
            <a:endParaRPr sz="30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1531997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B41E91-FDEE-4B1E-888F-A76D53DE1E38}"/>
              </a:ext>
            </a:extLst>
          </p:cNvPr>
          <p:cNvSpPr>
            <a:spLocks noGrp="1"/>
          </p:cNvSpPr>
          <p:nvPr/>
        </p:nvSpPr>
        <p:spPr>
          <a:xfrm>
            <a:off x="11343068" y="2136512"/>
            <a:ext cx="5428439" cy="4127615"/>
          </a:xfrm>
          <a:custGeom>
            <a:avLst/>
            <a:gdLst/>
            <a:ahLst/>
            <a:cxnLst/>
            <a:rect l="l" t="t" r="r" b="b"/>
            <a:pathLst>
              <a:path w="5428439" h="4127615">
                <a:moveTo>
                  <a:pt x="0" y="0"/>
                </a:moveTo>
                <a:lnTo>
                  <a:pt x="5428439" y="0"/>
                </a:lnTo>
                <a:lnTo>
                  <a:pt x="5428439" y="4127615"/>
                </a:lnTo>
                <a:lnTo>
                  <a:pt x="0" y="4127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6682C1A-BAC2-4F7D-95C2-F62FF47DE586}"/>
              </a:ext>
            </a:extLst>
          </p:cNvPr>
          <p:cNvSpPr>
            <a:spLocks noGrp="1"/>
          </p:cNvSpPr>
          <p:nvPr/>
        </p:nvSpPr>
        <p:spPr>
          <a:xfrm>
            <a:off x="634004" y="423826"/>
            <a:ext cx="10709064" cy="6307964"/>
          </a:xfrm>
          <a:custGeom>
            <a:avLst/>
            <a:gdLst/>
            <a:ahLst/>
            <a:cxnLst/>
            <a:rect l="l" t="t" r="r" b="b"/>
            <a:pathLst>
              <a:path w="2820494" h="1661357">
                <a:moveTo>
                  <a:pt x="21688" y="0"/>
                </a:moveTo>
                <a:lnTo>
                  <a:pt x="2798806" y="0"/>
                </a:lnTo>
                <a:cubicBezTo>
                  <a:pt x="2810784" y="0"/>
                  <a:pt x="2820494" y="9710"/>
                  <a:pt x="2820494" y="21688"/>
                </a:cubicBezTo>
                <a:lnTo>
                  <a:pt x="2820494" y="1639669"/>
                </a:lnTo>
                <a:cubicBezTo>
                  <a:pt x="2820494" y="1651647"/>
                  <a:pt x="2810784" y="1661357"/>
                  <a:pt x="2798806" y="1661357"/>
                </a:cubicBezTo>
                <a:lnTo>
                  <a:pt x="21688" y="1661357"/>
                </a:lnTo>
                <a:cubicBezTo>
                  <a:pt x="15936" y="1661357"/>
                  <a:pt x="10420" y="1659072"/>
                  <a:pt x="6352" y="1655004"/>
                </a:cubicBezTo>
                <a:cubicBezTo>
                  <a:pt x="2285" y="1650937"/>
                  <a:pt x="0" y="1645421"/>
                  <a:pt x="0" y="1639669"/>
                </a:cubicBezTo>
                <a:lnTo>
                  <a:pt x="0" y="21688"/>
                </a:lnTo>
                <a:cubicBezTo>
                  <a:pt x="0" y="9710"/>
                  <a:pt x="9710" y="0"/>
                  <a:pt x="21688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BEEBAB-52C7-4593-BAAE-070CE812C228}"/>
              </a:ext>
            </a:extLst>
          </p:cNvPr>
          <p:cNvSpPr>
            <a:spLocks noGrp="1"/>
          </p:cNvSpPr>
          <p:nvPr/>
        </p:nvSpPr>
        <p:spPr>
          <a:xfrm>
            <a:off x="634004" y="279166"/>
            <a:ext cx="10709064" cy="645262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C99046B-4F65-4B05-B677-B8E54102FFD8}"/>
              </a:ext>
            </a:extLst>
          </p:cNvPr>
          <p:cNvSpPr>
            <a:spLocks noGrp="1"/>
          </p:cNvSpPr>
          <p:nvPr/>
        </p:nvSpPr>
        <p:spPr>
          <a:xfrm>
            <a:off x="1028700" y="7783744"/>
            <a:ext cx="6792211" cy="1224446"/>
          </a:xfrm>
          <a:custGeom>
            <a:avLst/>
            <a:gdLst/>
            <a:ahLst/>
            <a:cxnLst/>
            <a:rect l="l" t="t" r="r" b="b"/>
            <a:pathLst>
              <a:path w="6792211" h="1224446">
                <a:moveTo>
                  <a:pt x="0" y="0"/>
                </a:moveTo>
                <a:lnTo>
                  <a:pt x="6792211" y="0"/>
                </a:lnTo>
                <a:lnTo>
                  <a:pt x="6792211" y="1224446"/>
                </a:lnTo>
                <a:lnTo>
                  <a:pt x="0" y="1224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A86D8BC-80F8-4C43-8FCF-07E37C0C7F04}"/>
              </a:ext>
            </a:extLst>
          </p:cNvPr>
          <p:cNvSpPr>
            <a:spLocks noGrp="1"/>
          </p:cNvSpPr>
          <p:nvPr/>
        </p:nvSpPr>
        <p:spPr>
          <a:xfrm>
            <a:off x="1159669" y="784559"/>
            <a:ext cx="9645535" cy="672674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866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basic ABC algorithm uses three control parameters: the number of food sources, which equals the number of employed bees (BN) or onlooker bees (SN); the limit value; and the maximum number of cycles (MCN).</a:t>
            </a:r>
          </a:p>
          <a:p>
            <a:pPr algn="l">
              <a:lnSpc>
                <a:spcPts val="4866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Recruitment rate: how quickly the bee colony finds and exploits a new food source. It may represent the speed at which feasible or high-quality solutions to difficult optimization problems can be discovered.</a:t>
            </a:r>
          </a:p>
          <a:p>
            <a:pPr algn="l">
              <a:lnSpc>
                <a:spcPts val="4866"/>
              </a:lnSpc>
              <a:buNone/>
            </a:pPr>
            <a:endParaRPr sz="30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4339"/>
              </a:lnSpc>
              <a:buNone/>
            </a:pPr>
            <a:endParaRPr sz="30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9D548E1-8ECD-4EDE-A148-7AFEB76926F3}"/>
              </a:ext>
            </a:extLst>
          </p:cNvPr>
          <p:cNvSpPr>
            <a:spLocks noGrp="1"/>
          </p:cNvSpPr>
          <p:nvPr/>
        </p:nvSpPr>
        <p:spPr>
          <a:xfrm>
            <a:off x="8053624" y="7162545"/>
            <a:ext cx="9628704" cy="2663526"/>
          </a:xfrm>
          <a:custGeom>
            <a:avLst/>
            <a:gdLst/>
            <a:ahLst/>
            <a:cxnLst/>
            <a:rect l="l" t="t" r="r" b="b"/>
            <a:pathLst>
              <a:path w="2535955" h="701505">
                <a:moveTo>
                  <a:pt x="24121" y="0"/>
                </a:moveTo>
                <a:lnTo>
                  <a:pt x="2511834" y="0"/>
                </a:lnTo>
                <a:cubicBezTo>
                  <a:pt x="2518231" y="0"/>
                  <a:pt x="2524366" y="2541"/>
                  <a:pt x="2528890" y="7065"/>
                </a:cubicBezTo>
                <a:cubicBezTo>
                  <a:pt x="2533414" y="11589"/>
                  <a:pt x="2535955" y="17724"/>
                  <a:pt x="2535955" y="24121"/>
                </a:cubicBezTo>
                <a:lnTo>
                  <a:pt x="2535955" y="677383"/>
                </a:lnTo>
                <a:cubicBezTo>
                  <a:pt x="2535955" y="690705"/>
                  <a:pt x="2525155" y="701505"/>
                  <a:pt x="2511834" y="701505"/>
                </a:cubicBezTo>
                <a:lnTo>
                  <a:pt x="24121" y="701505"/>
                </a:lnTo>
                <a:cubicBezTo>
                  <a:pt x="17724" y="701505"/>
                  <a:pt x="11589" y="698963"/>
                  <a:pt x="7065" y="694440"/>
                </a:cubicBezTo>
                <a:cubicBezTo>
                  <a:pt x="2541" y="689916"/>
                  <a:pt x="0" y="683781"/>
                  <a:pt x="0" y="677383"/>
                </a:cubicBezTo>
                <a:lnTo>
                  <a:pt x="0" y="24121"/>
                </a:lnTo>
                <a:cubicBezTo>
                  <a:pt x="0" y="17724"/>
                  <a:pt x="2541" y="11589"/>
                  <a:pt x="7065" y="7065"/>
                </a:cubicBezTo>
                <a:cubicBezTo>
                  <a:pt x="11589" y="2541"/>
                  <a:pt x="17724" y="0"/>
                  <a:pt x="24121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4C95F08-433F-48E8-B808-F3D2FDCC9A5A}"/>
              </a:ext>
            </a:extLst>
          </p:cNvPr>
          <p:cNvSpPr>
            <a:spLocks noGrp="1"/>
          </p:cNvSpPr>
          <p:nvPr/>
        </p:nvSpPr>
        <p:spPr>
          <a:xfrm>
            <a:off x="8053624" y="7017885"/>
            <a:ext cx="9628704" cy="280818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0B1AD15-4C0C-4474-8ABE-E6C70F41382F}"/>
              </a:ext>
            </a:extLst>
          </p:cNvPr>
          <p:cNvSpPr>
            <a:spLocks noGrp="1"/>
          </p:cNvSpPr>
          <p:nvPr/>
        </p:nvSpPr>
        <p:spPr>
          <a:xfrm flipH="1">
            <a:off x="12601283" y="-518695"/>
            <a:ext cx="6670445" cy="7250484"/>
          </a:xfrm>
          <a:custGeom>
            <a:avLst/>
            <a:gdLst/>
            <a:ahLst/>
            <a:cxnLst/>
            <a:rect l="l" t="t" r="r" b="b"/>
            <a:pathLst>
              <a:path w="6670445" h="7250484">
                <a:moveTo>
                  <a:pt x="6670445" y="0"/>
                </a:moveTo>
                <a:lnTo>
                  <a:pt x="0" y="0"/>
                </a:lnTo>
                <a:lnTo>
                  <a:pt x="0" y="7250484"/>
                </a:lnTo>
                <a:lnTo>
                  <a:pt x="6670445" y="7250484"/>
                </a:lnTo>
                <a:lnTo>
                  <a:pt x="667044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091157F-D2CA-41AF-A24B-1CF3BC0B17EC}"/>
              </a:ext>
            </a:extLst>
          </p:cNvPr>
          <p:cNvSpPr>
            <a:spLocks noGrp="1"/>
          </p:cNvSpPr>
          <p:nvPr/>
        </p:nvSpPr>
        <p:spPr>
          <a:xfrm>
            <a:off x="8290314" y="7504510"/>
            <a:ext cx="9263841" cy="232156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899"/>
              </a:lnSpc>
              <a:buNone/>
            </a:pPr>
            <a:r>
              <a:rPr sz="34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To produce a possible food position: k ∈ {1, 2,..., BN} and j ∈ {1, 2,..., D} are arbitrarily selected indices.</a:t>
            </a:r>
          </a:p>
          <a:p>
            <a:pPr algn="l">
              <a:lnSpc>
                <a:spcPts val="3779"/>
              </a:lnSpc>
              <a:buNone/>
            </a:pPr>
            <a:endParaRPr sz="34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1103059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AE46984-2B4F-4380-A573-1CFE5D64B4C5}"/>
              </a:ext>
            </a:extLst>
          </p:cNvPr>
          <p:cNvSpPr>
            <a:spLocks noGrp="1"/>
          </p:cNvSpPr>
          <p:nvPr/>
        </p:nvSpPr>
        <p:spPr>
          <a:xfrm>
            <a:off x="2240196" y="3350594"/>
            <a:ext cx="15019104" cy="3585811"/>
          </a:xfrm>
          <a:custGeom>
            <a:avLst/>
            <a:gdLst/>
            <a:ahLst/>
            <a:cxnLst/>
            <a:rect l="l" t="t" r="r" b="b"/>
            <a:pathLst>
              <a:path w="15019104" h="3585811">
                <a:moveTo>
                  <a:pt x="0" y="0"/>
                </a:moveTo>
                <a:lnTo>
                  <a:pt x="15019104" y="0"/>
                </a:lnTo>
                <a:lnTo>
                  <a:pt x="15019104" y="3585812"/>
                </a:lnTo>
                <a:lnTo>
                  <a:pt x="0" y="3585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F88F34F-915F-42FE-B0F9-ECE39EAA280C}"/>
              </a:ext>
            </a:extLst>
          </p:cNvPr>
          <p:cNvSpPr>
            <a:spLocks noGrp="1"/>
          </p:cNvSpPr>
          <p:nvPr/>
        </p:nvSpPr>
        <p:spPr>
          <a:xfrm>
            <a:off x="-887689" y="0"/>
            <a:ext cx="7066740" cy="7681239"/>
          </a:xfrm>
          <a:custGeom>
            <a:avLst/>
            <a:gdLst/>
            <a:ahLst/>
            <a:cxnLst/>
            <a:rect l="l" t="t" r="r" b="b"/>
            <a:pathLst>
              <a:path w="7066740" h="7681239">
                <a:moveTo>
                  <a:pt x="0" y="0"/>
                </a:moveTo>
                <a:lnTo>
                  <a:pt x="7066740" y="0"/>
                </a:lnTo>
                <a:lnTo>
                  <a:pt x="7066740" y="7681239"/>
                </a:lnTo>
                <a:lnTo>
                  <a:pt x="0" y="7681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06F086F-01A7-478E-AF15-EB9189391306}"/>
              </a:ext>
            </a:extLst>
          </p:cNvPr>
          <p:cNvSpPr>
            <a:spLocks noGrp="1"/>
          </p:cNvSpPr>
          <p:nvPr/>
        </p:nvSpPr>
        <p:spPr>
          <a:xfrm>
            <a:off x="14700072" y="6936406"/>
            <a:ext cx="4458474" cy="4114800"/>
          </a:xfrm>
          <a:custGeom>
            <a:avLst/>
            <a:gdLst/>
            <a:ahLst/>
            <a:cxnLst/>
            <a:rect l="l" t="t" r="r" b="b"/>
            <a:pathLst>
              <a:path w="4458474" h="4114800">
                <a:moveTo>
                  <a:pt x="0" y="0"/>
                </a:moveTo>
                <a:lnTo>
                  <a:pt x="4458474" y="0"/>
                </a:lnTo>
                <a:lnTo>
                  <a:pt x="44584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1128660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</Words>
  <Application>Microsoft Macintosh PowerPoint</Application>
  <DocSecurity>0</DocSecurity>
  <PresentationFormat>Custom</PresentationFormat>
  <Paragraphs>76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Calibri</vt:lpstr>
      <vt:lpstr>Arial</vt:lpstr>
      <vt:lpstr>Helvetica World Bold Italics</vt:lpstr>
      <vt:lpstr>Helvetica World Bold</vt:lpstr>
      <vt:lpstr>Telegraf</vt:lpstr>
      <vt:lpstr>Helvetica World</vt:lpstr>
      <vt:lpstr>Telegraf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 Riofrío</cp:lastModifiedBy>
  <cp:revision>1</cp:revision>
  <dcterms:created xsi:type="dcterms:W3CDTF">2026-07-18T04:27:13Z</dcterms:created>
  <dcterms:modified xsi:type="dcterms:W3CDTF">2026-07-18T15:50:03Z</dcterms:modified>
</cp:coreProperties>
</file>