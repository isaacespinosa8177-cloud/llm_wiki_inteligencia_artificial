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Helvetica World" pitchFamily="2" charset="0"/>
      <p:regular r:id="rId28"/>
    </p:embeddedFont>
    <p:embeddedFont>
      <p:font typeface="Helvetica World Bold" pitchFamily="2" charset="0"/>
      <p:regular r:id="rId29"/>
    </p:embeddedFont>
    <p:embeddedFont>
      <p:font typeface="Helvetica World Bold Italics" pitchFamily="2" charset="0"/>
      <p:regular r:id="rId30"/>
    </p:embeddedFont>
    <p:embeddedFont>
      <p:font typeface="Telegraf"/>
      <p:regular r:id="rId31"/>
    </p:embeddedFont>
    <p:embeddedFont>
      <p:font typeface="Telegraf Bold" pitchFamily="2" charset="77"/>
      <p:regular r:id="rId32"/>
      <p:bold r:id="rId33"/>
    </p:embeddedFont>
    <p:embeddedFont>
      <p:font typeface="Telegraf Medium" pitchFamily="2" charset="77"/>
      <p:regular r:id="rId34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EEE7-D279-49EB-A9D7-8CFC9322E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A2548-86EC-46DA-9EAE-2B6405B2D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EB769-A5FC-4A7E-B1B1-3E88947031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58CEC-9C65-4C5B-A6B3-B3723FD9A4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39153-FC86-4D61-BDDA-CC86E95BA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C18EF-2DEA-4D77-ADC1-59461A3B1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6579E-335D-4DE4-BC98-E8794DCE6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EDB28-2E31-4A68-BE6E-F2D2F12B1A4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260AF-53C3-4956-9EF5-329DFD90E8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AB8D8-FEE2-42B4-8827-62065E56EB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C5F7-78DF-4355-9478-8860EE5D8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4FF3F-8698-4834-BBC5-3E9A8F394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E0050-7152-4DEC-94F6-9A4ABAC6B4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2A450-DD1F-4702-A610-E8BC34E89D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014A8-D616-414C-9050-AA94BA0F7A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18CF6-903F-4637-AA7B-D705963ED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72E1-9972-4B4E-A038-D865BDAFF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E190C-0115-42CB-A2D4-923FC8D14AD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96A14-4C2F-48DC-AF2D-05043C9256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A5983-17A9-4A42-AC85-578B0CFD4D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C5335-68C8-41FA-9944-FAE5A42988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C774C-A064-4B12-B699-EC76FFC0B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8F91D-53C4-49D8-9838-7D17C008A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F7E3F-D100-47D6-894C-1191205E6D5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6B1FB-179F-47A4-9580-D91FC8EE289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401981-BA11-4EAA-91FF-5814B0E7D81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8A7FA6-D6C7-4038-A740-15E499AADD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43AFDA-608B-4B77-9A7D-590D195F6F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531C41-DF56-4177-9315-80EC0A66B2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8CF11-534E-4395-86DC-C6463E6AF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7CAB7-67D0-4E1B-93A2-FD70065BED3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E7808-8186-486A-9F88-E592208C86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05675-9973-4A0B-BCD6-E9009E3DDF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72941-B3A8-4DCF-B53F-18536BA73B7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B0480B-64C1-45DE-9C02-5E0FCFA563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3CEC7-04C1-4148-99A2-8DC38A045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BC3A5-398C-452E-9B5D-C9D6042B7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28225-6F04-4EB7-B6A8-17C7DC98D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38A82-97E5-4F2E-AF2D-CE0A1FDD1FC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4D071-366C-49E9-9683-FFB0AB3DE7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59BB8-5FA2-42CB-972E-CB75FCF4B9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E489C-B200-4995-B5BE-A99F74DCC1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5377-044D-4FB2-B80B-5C88417FC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2B65D1-31D6-4484-B023-721643F2E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F76E4-FC0E-47A8-A63A-A3212FCCF4E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88855-83F8-486E-B7CD-3D37E4FB5A0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75CD1-24D4-4E09-B660-8CBD5C5440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0D362-D353-4F04-93A4-8C66E2C1EB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3327A-F0D7-481F-9876-B0358D161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54F51-81CD-44EE-9DDB-76BB47C53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F3EEC-DB25-4DBB-96A3-D4BA8C11D52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449E5-AB23-4EAD-B97C-62C520F3A04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15083-994D-4B05-8CAA-0E8520F3CC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D237BE-0A10-4648-9D7C-031F13FE4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FDBC0-2437-4A92-8A87-9918D4548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9DFC5-3A9D-46E1-A79F-3FEB3B0E6E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A20F6-3FCE-4616-A1D3-610A5C616A7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9842D-B7C1-492F-A0E8-6F59010E93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F2F5D6-E6B0-4FA5-A9EA-CF4786811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1FCA8-E4EB-4020-BFEE-EA2B5E2CD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61544-57C4-440C-B9EA-A0BF3C52B8C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81004-BC19-4E57-866D-2FE3E296988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EEC83-2546-49BC-A391-F573B581353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5325DE63-E3FC-41A6-906E-5AEE3912AC09}"/>
              </a:ext>
            </a:extLst>
          </p:cNvPr>
          <p:cNvSpPr>
            <a:spLocks noGrp="1"/>
          </p:cNvSpPr>
          <p:nvPr/>
        </p:nvSpPr>
        <p:spPr>
          <a:xfrm>
            <a:off x="10336701" y="1799364"/>
            <a:ext cx="7210168" cy="6518130"/>
          </a:xfrm>
          <a:custGeom>
            <a:avLst/>
            <a:gdLst/>
            <a:ahLst/>
            <a:cxnLst/>
            <a:rect l="l" t="t" r="r" b="b"/>
            <a:pathLst>
              <a:path w="6351270" h="5741670">
                <a:moveTo>
                  <a:pt x="0" y="542290"/>
                </a:moveTo>
                <a:lnTo>
                  <a:pt x="0" y="2392680"/>
                </a:lnTo>
                <a:cubicBezTo>
                  <a:pt x="0" y="2691130"/>
                  <a:pt x="242570" y="2933700"/>
                  <a:pt x="542290" y="2933700"/>
                </a:cubicBezTo>
                <a:lnTo>
                  <a:pt x="1148080" y="2933700"/>
                </a:lnTo>
                <a:cubicBezTo>
                  <a:pt x="1447800" y="2933700"/>
                  <a:pt x="1690370" y="3176270"/>
                  <a:pt x="1690370" y="3475990"/>
                </a:cubicBezTo>
                <a:lnTo>
                  <a:pt x="1690370" y="5199380"/>
                </a:lnTo>
                <a:cubicBezTo>
                  <a:pt x="1690370" y="5499100"/>
                  <a:pt x="1932940" y="5741670"/>
                  <a:pt x="2232660" y="5741670"/>
                </a:cubicBezTo>
                <a:lnTo>
                  <a:pt x="3599180" y="5741670"/>
                </a:lnTo>
                <a:cubicBezTo>
                  <a:pt x="3735070" y="5741670"/>
                  <a:pt x="3867150" y="5689600"/>
                  <a:pt x="3967480" y="5598160"/>
                </a:cubicBezTo>
                <a:lnTo>
                  <a:pt x="6177280" y="3553460"/>
                </a:lnTo>
                <a:cubicBezTo>
                  <a:pt x="6287770" y="3450590"/>
                  <a:pt x="6351270" y="3307080"/>
                  <a:pt x="6351270" y="3155950"/>
                </a:cubicBezTo>
                <a:lnTo>
                  <a:pt x="6351270" y="542290"/>
                </a:lnTo>
                <a:cubicBezTo>
                  <a:pt x="6350000" y="242570"/>
                  <a:pt x="6107430" y="0"/>
                  <a:pt x="5807710" y="0"/>
                </a:cubicBezTo>
                <a:lnTo>
                  <a:pt x="542290" y="0"/>
                </a:lnTo>
                <a:cubicBezTo>
                  <a:pt x="242570" y="0"/>
                  <a:pt x="0" y="242570"/>
                  <a:pt x="0" y="542290"/>
                </a:cubicBezTo>
                <a:close/>
              </a:path>
            </a:pathLst>
          </a:custGeom>
          <a:blipFill>
            <a:blip r:embed="rId3"/>
            <a:stretch>
              <a:fillRect l="-10341" r="-10341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FE79409-FC8C-4D9B-BB45-2AA01699088D}"/>
              </a:ext>
            </a:extLst>
          </p:cNvPr>
          <p:cNvSpPr>
            <a:spLocks noGrp="1"/>
          </p:cNvSpPr>
          <p:nvPr/>
        </p:nvSpPr>
        <p:spPr>
          <a:xfrm>
            <a:off x="1028700" y="1372901"/>
            <a:ext cx="9021873" cy="37705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4764"/>
              </a:lnSpc>
              <a:spcBef>
                <a:spcPct val="0"/>
              </a:spcBef>
              <a:buNone/>
            </a:pPr>
            <a:r>
              <a:rPr sz="10546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Problem Solving</a:t>
            </a:r>
          </a:p>
        </p:txBody>
      </p:sp>
    </p:spTree>
    <p:extLst>
      <p:ext uri="{BB962C8B-B14F-4D97-AF65-F5344CB8AC3E}">
        <p14:creationId xmlns:p14="http://schemas.microsoft.com/office/powerpoint/2010/main" val="649408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BFF998C-7D3D-48A3-9684-9BBA342C7A82}"/>
              </a:ext>
            </a:extLst>
          </p:cNvPr>
          <p:cNvSpPr>
            <a:spLocks noGrp="1"/>
          </p:cNvSpPr>
          <p:nvPr/>
        </p:nvSpPr>
        <p:spPr>
          <a:xfrm>
            <a:off x="763278" y="2232048"/>
            <a:ext cx="7779599" cy="7141796"/>
          </a:xfrm>
          <a:custGeom>
            <a:avLst/>
            <a:gdLst/>
            <a:ahLst/>
            <a:cxnLst/>
            <a:rect l="l" t="t" r="r" b="b"/>
            <a:pathLst>
              <a:path w="2048948" h="1880967">
                <a:moveTo>
                  <a:pt x="29855" y="0"/>
                </a:moveTo>
                <a:lnTo>
                  <a:pt x="2019093" y="0"/>
                </a:lnTo>
                <a:cubicBezTo>
                  <a:pt x="2027011" y="0"/>
                  <a:pt x="2034605" y="3145"/>
                  <a:pt x="2040204" y="8744"/>
                </a:cubicBezTo>
                <a:cubicBezTo>
                  <a:pt x="2045802" y="14343"/>
                  <a:pt x="2048948" y="21937"/>
                  <a:pt x="2048948" y="29855"/>
                </a:cubicBezTo>
                <a:lnTo>
                  <a:pt x="2048948" y="1851112"/>
                </a:lnTo>
                <a:cubicBezTo>
                  <a:pt x="2048948" y="1859030"/>
                  <a:pt x="2045802" y="1866624"/>
                  <a:pt x="2040204" y="1872223"/>
                </a:cubicBezTo>
                <a:cubicBezTo>
                  <a:pt x="2034605" y="1877821"/>
                  <a:pt x="2027011" y="1880967"/>
                  <a:pt x="2019093" y="1880967"/>
                </a:cubicBezTo>
                <a:lnTo>
                  <a:pt x="29855" y="1880967"/>
                </a:lnTo>
                <a:cubicBezTo>
                  <a:pt x="21937" y="1880967"/>
                  <a:pt x="14343" y="1877821"/>
                  <a:pt x="8744" y="1872223"/>
                </a:cubicBezTo>
                <a:cubicBezTo>
                  <a:pt x="3145" y="1866624"/>
                  <a:pt x="0" y="1859030"/>
                  <a:pt x="0" y="1851112"/>
                </a:cubicBezTo>
                <a:lnTo>
                  <a:pt x="0" y="29855"/>
                </a:lnTo>
                <a:cubicBezTo>
                  <a:pt x="0" y="21937"/>
                  <a:pt x="3145" y="14343"/>
                  <a:pt x="8744" y="8744"/>
                </a:cubicBezTo>
                <a:cubicBezTo>
                  <a:pt x="14343" y="3145"/>
                  <a:pt x="21937" y="0"/>
                  <a:pt x="29855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6BA171B-C833-4093-902E-35F8A8164261}"/>
              </a:ext>
            </a:extLst>
          </p:cNvPr>
          <p:cNvSpPr>
            <a:spLocks noGrp="1"/>
          </p:cNvSpPr>
          <p:nvPr/>
        </p:nvSpPr>
        <p:spPr>
          <a:xfrm>
            <a:off x="763278" y="2087388"/>
            <a:ext cx="7779599" cy="7286456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FA6D939-F3B1-48DC-B4BB-C4A24286DEC0}"/>
              </a:ext>
            </a:extLst>
          </p:cNvPr>
          <p:cNvSpPr>
            <a:spLocks noGrp="1"/>
          </p:cNvSpPr>
          <p:nvPr/>
        </p:nvSpPr>
        <p:spPr>
          <a:xfrm>
            <a:off x="9884390" y="2581050"/>
            <a:ext cx="1585206" cy="1369222"/>
          </a:xfrm>
          <a:custGeom>
            <a:avLst/>
            <a:gdLst/>
            <a:ahLst/>
            <a:cxnLst/>
            <a:rect l="l" t="t" r="r" b="b"/>
            <a:pathLst>
              <a:path w="1585206" h="1369222">
                <a:moveTo>
                  <a:pt x="0" y="0"/>
                </a:moveTo>
                <a:lnTo>
                  <a:pt x="1585206" y="0"/>
                </a:lnTo>
                <a:lnTo>
                  <a:pt x="1585206" y="1369222"/>
                </a:lnTo>
                <a:lnTo>
                  <a:pt x="0" y="1369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FFA2CF3-00D9-4856-A90C-B0F63E61962E}"/>
              </a:ext>
            </a:extLst>
          </p:cNvPr>
          <p:cNvSpPr>
            <a:spLocks noGrp="1"/>
          </p:cNvSpPr>
          <p:nvPr/>
        </p:nvSpPr>
        <p:spPr>
          <a:xfrm>
            <a:off x="9858627" y="4682435"/>
            <a:ext cx="1610969" cy="1552571"/>
          </a:xfrm>
          <a:custGeom>
            <a:avLst/>
            <a:gdLst/>
            <a:ahLst/>
            <a:cxnLst/>
            <a:rect l="l" t="t" r="r" b="b"/>
            <a:pathLst>
              <a:path w="1610969" h="1552571">
                <a:moveTo>
                  <a:pt x="0" y="0"/>
                </a:moveTo>
                <a:lnTo>
                  <a:pt x="1610969" y="0"/>
                </a:lnTo>
                <a:lnTo>
                  <a:pt x="1610969" y="1552571"/>
                </a:lnTo>
                <a:lnTo>
                  <a:pt x="0" y="1552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941C34E-6F2C-4BE8-A59F-925438581177}"/>
              </a:ext>
            </a:extLst>
          </p:cNvPr>
          <p:cNvSpPr>
            <a:spLocks noGrp="1"/>
          </p:cNvSpPr>
          <p:nvPr/>
        </p:nvSpPr>
        <p:spPr>
          <a:xfrm>
            <a:off x="9858627" y="7197031"/>
            <a:ext cx="2183650" cy="1299272"/>
          </a:xfrm>
          <a:custGeom>
            <a:avLst/>
            <a:gdLst/>
            <a:ahLst/>
            <a:cxnLst/>
            <a:rect l="l" t="t" r="r" b="b"/>
            <a:pathLst>
              <a:path w="2183650" h="1299272">
                <a:moveTo>
                  <a:pt x="0" y="0"/>
                </a:moveTo>
                <a:lnTo>
                  <a:pt x="2183650" y="0"/>
                </a:lnTo>
                <a:lnTo>
                  <a:pt x="2183650" y="1299272"/>
                </a:lnTo>
                <a:lnTo>
                  <a:pt x="0" y="12992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458FF9B-3301-44B8-8DC8-ACEF61053518}"/>
              </a:ext>
            </a:extLst>
          </p:cNvPr>
          <p:cNvSpPr>
            <a:spLocks noGrp="1"/>
          </p:cNvSpPr>
          <p:nvPr/>
        </p:nvSpPr>
        <p:spPr>
          <a:xfrm>
            <a:off x="763278" y="630330"/>
            <a:ext cx="13530238" cy="111831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599"/>
              </a:lnSpc>
              <a:buNone/>
            </a:pPr>
            <a:r>
              <a:rPr sz="8599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Problem Solving Agents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A1CC8F5-BCF4-46E9-B812-F98305933AA3}"/>
              </a:ext>
            </a:extLst>
          </p:cNvPr>
          <p:cNvSpPr>
            <a:spLocks noGrp="1"/>
          </p:cNvSpPr>
          <p:nvPr/>
        </p:nvSpPr>
        <p:spPr>
          <a:xfrm>
            <a:off x="1028700" y="2363910"/>
            <a:ext cx="7344744" cy="66916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A goal-based agent that plans a sequence of actions to achieve its objective.</a:t>
            </a:r>
          </a:p>
          <a:p>
            <a:pPr algn="l">
              <a:lnSpc>
                <a:spcPts val="3919"/>
              </a:lnSpc>
              <a:buNone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 operates in search and execution mode:</a:t>
            </a:r>
          </a:p>
          <a:p>
            <a:pPr marL="604513" indent="-302256" algn="l">
              <a:lnSpc>
                <a:spcPts val="3919"/>
              </a:lnSpc>
              <a:buAutoNum type="arabicPeriod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Formulates the problem</a:t>
            </a:r>
          </a:p>
          <a:p>
            <a:pPr marL="604513" indent="-302256" algn="l">
              <a:lnSpc>
                <a:spcPts val="3919"/>
              </a:lnSpc>
              <a:buAutoNum type="arabicPeriod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Searches for a sequence of actions that leads to the goal</a:t>
            </a:r>
          </a:p>
          <a:p>
            <a:pPr marL="604513" indent="-302256" algn="l">
              <a:lnSpc>
                <a:spcPts val="3919"/>
              </a:lnSpc>
              <a:buAutoNum type="arabicPeriod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Executes the resulting plan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Assumes an observable, deterministic, discrete, and static environment.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solution is always a sequence of actions, not a single action</a:t>
            </a:r>
          </a:p>
          <a:p>
            <a:pPr algn="l">
              <a:lnSpc>
                <a:spcPts val="3919"/>
              </a:lnSpc>
              <a:buNone/>
            </a:pPr>
            <a:endParaRPr sz="27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B55F01A-1CC0-4448-97AA-7D31C06AF329}"/>
              </a:ext>
            </a:extLst>
          </p:cNvPr>
          <p:cNvSpPr>
            <a:spLocks noGrp="1"/>
          </p:cNvSpPr>
          <p:nvPr/>
        </p:nvSpPr>
        <p:spPr>
          <a:xfrm>
            <a:off x="12140126" y="3023893"/>
            <a:ext cx="6147874" cy="47148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359"/>
              </a:lnSpc>
              <a:buNone/>
            </a:pPr>
            <a:r>
              <a:rPr sz="2799" b="1" i="1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</a:rPr>
              <a:t>What Exactly Is the Problem?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BFD8578-D33F-4349-9EC7-B39AEB9B9D07}"/>
              </a:ext>
            </a:extLst>
          </p:cNvPr>
          <p:cNvSpPr>
            <a:spLocks noGrp="1"/>
          </p:cNvSpPr>
          <p:nvPr/>
        </p:nvSpPr>
        <p:spPr>
          <a:xfrm>
            <a:off x="11750259" y="4902994"/>
            <a:ext cx="6147874" cy="47148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359"/>
              </a:lnSpc>
              <a:buNone/>
            </a:pPr>
            <a:r>
              <a:rPr sz="2799" b="1" i="1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</a:rPr>
              <a:t>What Is the Best Way to Solve It?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45CFFA9-B797-4A97-B5D9-BFA5C4963143}"/>
              </a:ext>
            </a:extLst>
          </p:cNvPr>
          <p:cNvSpPr>
            <a:spLocks noGrp="1"/>
          </p:cNvSpPr>
          <p:nvPr/>
        </p:nvSpPr>
        <p:spPr>
          <a:xfrm>
            <a:off x="12538408" y="7375180"/>
            <a:ext cx="6147874" cy="47148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359"/>
              </a:lnSpc>
              <a:buNone/>
            </a:pPr>
            <a:r>
              <a:rPr sz="2799" b="1" i="1">
                <a:solidFill>
                  <a:srgbClr val="1B1B1B"/>
                </a:solidFill>
                <a:latin typeface="Helvetica World Bold Italics"/>
                <a:ea typeface="Helvetica World Bold Italics"/>
                <a:cs typeface="Helvetica World Bold Italics"/>
              </a:rPr>
              <a:t>Plan Execution</a:t>
            </a:r>
          </a:p>
        </p:txBody>
      </p:sp>
    </p:spTree>
    <p:extLst>
      <p:ext uri="{BB962C8B-B14F-4D97-AF65-F5344CB8AC3E}">
        <p14:creationId xmlns:p14="http://schemas.microsoft.com/office/powerpoint/2010/main" val="169424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4110F79C-311B-48BA-8A46-FAC3FB4CD7EA}"/>
              </a:ext>
            </a:extLst>
          </p:cNvPr>
          <p:cNvSpPr>
            <a:spLocks noGrp="1"/>
          </p:cNvSpPr>
          <p:nvPr/>
        </p:nvSpPr>
        <p:spPr>
          <a:xfrm>
            <a:off x="5679622" y="1926614"/>
            <a:ext cx="12349297" cy="4570034"/>
          </a:xfrm>
          <a:custGeom>
            <a:avLst/>
            <a:gdLst/>
            <a:ahLst/>
            <a:cxnLst/>
            <a:rect l="l" t="t" r="r" b="b"/>
            <a:pathLst>
              <a:path w="3252490" h="1203630">
                <a:moveTo>
                  <a:pt x="18807" y="0"/>
                </a:moveTo>
                <a:lnTo>
                  <a:pt x="3233682" y="0"/>
                </a:lnTo>
                <a:cubicBezTo>
                  <a:pt x="3238671" y="0"/>
                  <a:pt x="3243454" y="1981"/>
                  <a:pt x="3246981" y="5509"/>
                </a:cubicBezTo>
                <a:cubicBezTo>
                  <a:pt x="3250508" y="9036"/>
                  <a:pt x="3252490" y="13819"/>
                  <a:pt x="3252490" y="18807"/>
                </a:cubicBezTo>
                <a:lnTo>
                  <a:pt x="3252490" y="1184823"/>
                </a:lnTo>
                <a:cubicBezTo>
                  <a:pt x="3252490" y="1189811"/>
                  <a:pt x="3250508" y="1194595"/>
                  <a:pt x="3246981" y="1198122"/>
                </a:cubicBezTo>
                <a:cubicBezTo>
                  <a:pt x="3243454" y="1201649"/>
                  <a:pt x="3238671" y="1203630"/>
                  <a:pt x="3233682" y="1203630"/>
                </a:cubicBezTo>
                <a:lnTo>
                  <a:pt x="18807" y="1203630"/>
                </a:lnTo>
                <a:cubicBezTo>
                  <a:pt x="13819" y="1203630"/>
                  <a:pt x="9036" y="1201649"/>
                  <a:pt x="5509" y="1198122"/>
                </a:cubicBezTo>
                <a:cubicBezTo>
                  <a:pt x="1981" y="1194595"/>
                  <a:pt x="0" y="1189811"/>
                  <a:pt x="0" y="1184823"/>
                </a:cubicBezTo>
                <a:lnTo>
                  <a:pt x="0" y="18807"/>
                </a:lnTo>
                <a:cubicBezTo>
                  <a:pt x="0" y="13819"/>
                  <a:pt x="1981" y="9036"/>
                  <a:pt x="5509" y="5509"/>
                </a:cubicBezTo>
                <a:cubicBezTo>
                  <a:pt x="9036" y="1981"/>
                  <a:pt x="13819" y="0"/>
                  <a:pt x="18807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2E57083-1871-4EF3-95F0-18B7E155A63C}"/>
              </a:ext>
            </a:extLst>
          </p:cNvPr>
          <p:cNvSpPr>
            <a:spLocks noGrp="1"/>
          </p:cNvSpPr>
          <p:nvPr/>
        </p:nvSpPr>
        <p:spPr>
          <a:xfrm>
            <a:off x="5679622" y="1781954"/>
            <a:ext cx="12349297" cy="4714694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74C7D71-D579-4B25-B5EC-727916954CDB}"/>
              </a:ext>
            </a:extLst>
          </p:cNvPr>
          <p:cNvSpPr>
            <a:spLocks noGrp="1"/>
          </p:cNvSpPr>
          <p:nvPr/>
        </p:nvSpPr>
        <p:spPr>
          <a:xfrm>
            <a:off x="505530" y="4849786"/>
            <a:ext cx="4734073" cy="4408514"/>
          </a:xfrm>
          <a:custGeom>
            <a:avLst/>
            <a:gdLst/>
            <a:ahLst/>
            <a:cxnLst/>
            <a:rect l="l" t="t" r="r" b="b"/>
            <a:pathLst>
              <a:path w="6348428" h="5911850">
                <a:moveTo>
                  <a:pt x="1146508" y="402590"/>
                </a:moveTo>
                <a:lnTo>
                  <a:pt x="108918" y="2192020"/>
                </a:lnTo>
                <a:cubicBezTo>
                  <a:pt x="-68882" y="2498090"/>
                  <a:pt x="-25702" y="2884170"/>
                  <a:pt x="214328" y="3144520"/>
                </a:cubicBezTo>
                <a:lnTo>
                  <a:pt x="2525728" y="5651500"/>
                </a:lnTo>
                <a:cubicBezTo>
                  <a:pt x="2678128" y="5817870"/>
                  <a:pt x="2894028" y="5911850"/>
                  <a:pt x="3118818" y="5911850"/>
                </a:cubicBezTo>
                <a:lnTo>
                  <a:pt x="5540708" y="5911850"/>
                </a:lnTo>
                <a:cubicBezTo>
                  <a:pt x="5986478" y="5911850"/>
                  <a:pt x="6348428" y="5549900"/>
                  <a:pt x="6348428" y="5104130"/>
                </a:cubicBezTo>
                <a:lnTo>
                  <a:pt x="6348428" y="1891030"/>
                </a:lnTo>
                <a:cubicBezTo>
                  <a:pt x="6348428" y="1724660"/>
                  <a:pt x="6297628" y="1562100"/>
                  <a:pt x="6201108" y="1426210"/>
                </a:cubicBezTo>
                <a:lnTo>
                  <a:pt x="5439108" y="342900"/>
                </a:lnTo>
                <a:cubicBezTo>
                  <a:pt x="5287978" y="128270"/>
                  <a:pt x="5041598" y="0"/>
                  <a:pt x="4778708" y="0"/>
                </a:cubicBezTo>
                <a:lnTo>
                  <a:pt x="1845008" y="0"/>
                </a:lnTo>
                <a:cubicBezTo>
                  <a:pt x="1556718" y="0"/>
                  <a:pt x="1290018" y="153670"/>
                  <a:pt x="1146508" y="402590"/>
                </a:cubicBezTo>
                <a:close/>
              </a:path>
            </a:pathLst>
          </a:custGeom>
          <a:blipFill>
            <a:blip r:embed="rId3"/>
            <a:stretch>
              <a:fillRect l="-19885" r="-19885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E02ABF3-F19F-433D-85E0-C13DA5DD5E2A}"/>
              </a:ext>
            </a:extLst>
          </p:cNvPr>
          <p:cNvSpPr>
            <a:spLocks noGrp="1"/>
          </p:cNvSpPr>
          <p:nvPr/>
        </p:nvSpPr>
        <p:spPr>
          <a:xfrm rot="5400000">
            <a:off x="4602382" y="2601986"/>
            <a:ext cx="601702" cy="1552779"/>
          </a:xfrm>
          <a:custGeom>
            <a:avLst/>
            <a:gdLst/>
            <a:ahLst/>
            <a:cxnLst/>
            <a:rect l="l" t="t" r="r" b="b"/>
            <a:pathLst>
              <a:path w="601702" h="1552779">
                <a:moveTo>
                  <a:pt x="0" y="0"/>
                </a:moveTo>
                <a:lnTo>
                  <a:pt x="601702" y="0"/>
                </a:lnTo>
                <a:lnTo>
                  <a:pt x="601702" y="1552779"/>
                </a:lnTo>
                <a:lnTo>
                  <a:pt x="0" y="15527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D7182BF-53B0-48EB-9A5C-BC570B77DD07}"/>
              </a:ext>
            </a:extLst>
          </p:cNvPr>
          <p:cNvSpPr>
            <a:spLocks noGrp="1"/>
          </p:cNvSpPr>
          <p:nvPr/>
        </p:nvSpPr>
        <p:spPr>
          <a:xfrm>
            <a:off x="1028700" y="452755"/>
            <a:ext cx="14078405" cy="12280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600"/>
              </a:lnSpc>
              <a:buNone/>
            </a:pPr>
            <a:r>
              <a:rPr sz="8600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Problem Formulation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AE72199-B07A-459F-8974-E5FF01306D6F}"/>
              </a:ext>
            </a:extLst>
          </p:cNvPr>
          <p:cNvSpPr>
            <a:spLocks noGrp="1"/>
          </p:cNvSpPr>
          <p:nvPr/>
        </p:nvSpPr>
        <p:spPr>
          <a:xfrm>
            <a:off x="6125828" y="2234601"/>
            <a:ext cx="5158135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Initial State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E4B22AA-07F3-407E-97F4-38273E3A3DA6}"/>
              </a:ext>
            </a:extLst>
          </p:cNvPr>
          <p:cNvSpPr>
            <a:spLocks noGrp="1"/>
          </p:cNvSpPr>
          <p:nvPr/>
        </p:nvSpPr>
        <p:spPr>
          <a:xfrm>
            <a:off x="6125828" y="3526826"/>
            <a:ext cx="5158135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Actions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BBF268D-0622-46DC-ADC2-4DF7904D9FE5}"/>
              </a:ext>
            </a:extLst>
          </p:cNvPr>
          <p:cNvSpPr>
            <a:spLocks noGrp="1"/>
          </p:cNvSpPr>
          <p:nvPr/>
        </p:nvSpPr>
        <p:spPr>
          <a:xfrm>
            <a:off x="6125828" y="4965699"/>
            <a:ext cx="5545410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Transition Model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E49DCA5-3105-4B8E-AB35-D86115CE09C8}"/>
              </a:ext>
            </a:extLst>
          </p:cNvPr>
          <p:cNvSpPr>
            <a:spLocks noGrp="1"/>
          </p:cNvSpPr>
          <p:nvPr/>
        </p:nvSpPr>
        <p:spPr>
          <a:xfrm>
            <a:off x="5856886" y="6753823"/>
            <a:ext cx="5158135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Goal Test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44C8AC6-7BD7-460E-A9C2-2EC15C8187E4}"/>
              </a:ext>
            </a:extLst>
          </p:cNvPr>
          <p:cNvSpPr>
            <a:spLocks noGrp="1"/>
          </p:cNvSpPr>
          <p:nvPr/>
        </p:nvSpPr>
        <p:spPr>
          <a:xfrm>
            <a:off x="5856886" y="8300567"/>
            <a:ext cx="5158135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Cost Function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274D6AC-E955-4FEB-9B85-9A0372FA5A77}"/>
              </a:ext>
            </a:extLst>
          </p:cNvPr>
          <p:cNvSpPr>
            <a:spLocks noGrp="1"/>
          </p:cNvSpPr>
          <p:nvPr/>
        </p:nvSpPr>
        <p:spPr>
          <a:xfrm>
            <a:off x="10385284" y="2499713"/>
            <a:ext cx="6147874" cy="5238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79"/>
              </a:lnSpc>
              <a:buNone/>
            </a:pPr>
            <a:r>
              <a:rPr sz="33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state from which the agent starts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EE3915F-8269-44D7-BEA8-5A6DA6728D27}"/>
              </a:ext>
            </a:extLst>
          </p:cNvPr>
          <p:cNvSpPr>
            <a:spLocks noGrp="1"/>
          </p:cNvSpPr>
          <p:nvPr/>
        </p:nvSpPr>
        <p:spPr>
          <a:xfrm>
            <a:off x="10385284" y="3546474"/>
            <a:ext cx="6147874" cy="1038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79"/>
              </a:lnSpc>
              <a:buNone/>
            </a:pPr>
            <a:r>
              <a:rPr sz="33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set of actions available in each state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9A6BBFB-B66F-4488-8482-E26744537AC1}"/>
              </a:ext>
            </a:extLst>
          </p:cNvPr>
          <p:cNvSpPr>
            <a:spLocks noGrp="1"/>
          </p:cNvSpPr>
          <p:nvPr/>
        </p:nvSpPr>
        <p:spPr>
          <a:xfrm>
            <a:off x="10268742" y="7019925"/>
            <a:ext cx="6927355" cy="1038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79"/>
              </a:lnSpc>
              <a:buNone/>
            </a:pPr>
            <a:r>
              <a:rPr sz="33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condition that determines whether a state is the goal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62E8DFB-F3A7-4FEE-915D-77E3A90CE78E}"/>
              </a:ext>
            </a:extLst>
          </p:cNvPr>
          <p:cNvSpPr>
            <a:spLocks noGrp="1"/>
          </p:cNvSpPr>
          <p:nvPr/>
        </p:nvSpPr>
        <p:spPr>
          <a:xfrm>
            <a:off x="10687394" y="8582025"/>
            <a:ext cx="6927355" cy="10858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79"/>
              </a:lnSpc>
              <a:buNone/>
            </a:pPr>
            <a:r>
              <a:rPr sz="33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The numerical cost of each action; it defines solution quality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4381664-56CA-49C8-AEA4-5FEE3F6ED7B2}"/>
              </a:ext>
            </a:extLst>
          </p:cNvPr>
          <p:cNvSpPr>
            <a:spLocks noGrp="1"/>
          </p:cNvSpPr>
          <p:nvPr/>
        </p:nvSpPr>
        <p:spPr>
          <a:xfrm>
            <a:off x="11735818" y="5048250"/>
            <a:ext cx="6147874" cy="10382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79"/>
              </a:lnSpc>
              <a:buNone/>
            </a:pPr>
            <a:r>
              <a:rPr sz="33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result of applying an action to a state: Result(s, a) → s'</a:t>
            </a: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581430CC-BED2-4EF4-9946-594FF0736558}"/>
              </a:ext>
            </a:extLst>
          </p:cNvPr>
          <p:cNvSpPr>
            <a:spLocks noGrp="1"/>
          </p:cNvSpPr>
          <p:nvPr/>
        </p:nvSpPr>
        <p:spPr>
          <a:xfrm>
            <a:off x="1028700" y="2346859"/>
            <a:ext cx="3093267" cy="2009670"/>
          </a:xfrm>
          <a:custGeom>
            <a:avLst/>
            <a:gdLst/>
            <a:ahLst/>
            <a:cxnLst/>
            <a:rect l="l" t="t" r="r" b="b"/>
            <a:pathLst>
              <a:path w="814688" h="529296">
                <a:moveTo>
                  <a:pt x="75085" y="0"/>
                </a:moveTo>
                <a:lnTo>
                  <a:pt x="739603" y="0"/>
                </a:lnTo>
                <a:cubicBezTo>
                  <a:pt x="781071" y="0"/>
                  <a:pt x="814688" y="33617"/>
                  <a:pt x="814688" y="75085"/>
                </a:cubicBezTo>
                <a:lnTo>
                  <a:pt x="814688" y="454211"/>
                </a:lnTo>
                <a:cubicBezTo>
                  <a:pt x="814688" y="474125"/>
                  <a:pt x="806777" y="493223"/>
                  <a:pt x="792696" y="507304"/>
                </a:cubicBezTo>
                <a:cubicBezTo>
                  <a:pt x="778615" y="521385"/>
                  <a:pt x="759516" y="529296"/>
                  <a:pt x="739603" y="529296"/>
                </a:cubicBezTo>
                <a:lnTo>
                  <a:pt x="75085" y="529296"/>
                </a:lnTo>
                <a:cubicBezTo>
                  <a:pt x="33617" y="529296"/>
                  <a:pt x="0" y="495679"/>
                  <a:pt x="0" y="454211"/>
                </a:cubicBezTo>
                <a:lnTo>
                  <a:pt x="0" y="75085"/>
                </a:lnTo>
                <a:cubicBezTo>
                  <a:pt x="0" y="33617"/>
                  <a:pt x="33617" y="0"/>
                  <a:pt x="75085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31414DB-5359-42F1-8CA4-050E3737DA81}"/>
              </a:ext>
            </a:extLst>
          </p:cNvPr>
          <p:cNvSpPr>
            <a:spLocks noGrp="1"/>
          </p:cNvSpPr>
          <p:nvPr/>
        </p:nvSpPr>
        <p:spPr>
          <a:xfrm>
            <a:off x="1028700" y="2202199"/>
            <a:ext cx="3093267" cy="215433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1DC414E-3EC6-46B4-B0FF-916337C09BD5}"/>
              </a:ext>
            </a:extLst>
          </p:cNvPr>
          <p:cNvSpPr>
            <a:spLocks noGrp="1"/>
          </p:cNvSpPr>
          <p:nvPr/>
        </p:nvSpPr>
        <p:spPr>
          <a:xfrm>
            <a:off x="1421558" y="2461752"/>
            <a:ext cx="2902740" cy="176657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479"/>
              </a:lnSpc>
              <a:buNone/>
            </a:pPr>
            <a:r>
              <a:rPr sz="31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Define the</a:t>
            </a:r>
          </a:p>
          <a:p>
            <a:pPr algn="l">
              <a:lnSpc>
                <a:spcPts val="4479"/>
              </a:lnSpc>
              <a:buNone/>
            </a:pPr>
            <a:r>
              <a:rPr sz="31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State Space</a:t>
            </a:r>
          </a:p>
        </p:txBody>
      </p:sp>
    </p:spTree>
    <p:extLst>
      <p:ext uri="{BB962C8B-B14F-4D97-AF65-F5344CB8AC3E}">
        <p14:creationId xmlns:p14="http://schemas.microsoft.com/office/powerpoint/2010/main" val="33814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51868AB1-C26B-49EF-B25B-40543DE58AA5}"/>
              </a:ext>
            </a:extLst>
          </p:cNvPr>
          <p:cNvSpPr>
            <a:spLocks noGrp="1"/>
          </p:cNvSpPr>
          <p:nvPr/>
        </p:nvSpPr>
        <p:spPr>
          <a:xfrm>
            <a:off x="9144000" y="2021133"/>
            <a:ext cx="7779599" cy="7626841"/>
          </a:xfrm>
          <a:custGeom>
            <a:avLst/>
            <a:gdLst/>
            <a:ahLst/>
            <a:cxnLst/>
            <a:rect l="l" t="t" r="r" b="b"/>
            <a:pathLst>
              <a:path w="2048948" h="2008715">
                <a:moveTo>
                  <a:pt x="29855" y="0"/>
                </a:moveTo>
                <a:lnTo>
                  <a:pt x="2019093" y="0"/>
                </a:lnTo>
                <a:cubicBezTo>
                  <a:pt x="2027011" y="0"/>
                  <a:pt x="2034605" y="3145"/>
                  <a:pt x="2040204" y="8744"/>
                </a:cubicBezTo>
                <a:cubicBezTo>
                  <a:pt x="2045802" y="14343"/>
                  <a:pt x="2048948" y="21937"/>
                  <a:pt x="2048948" y="29855"/>
                </a:cubicBezTo>
                <a:lnTo>
                  <a:pt x="2048948" y="1978861"/>
                </a:lnTo>
                <a:cubicBezTo>
                  <a:pt x="2048948" y="1986779"/>
                  <a:pt x="2045802" y="1994372"/>
                  <a:pt x="2040204" y="1999971"/>
                </a:cubicBezTo>
                <a:cubicBezTo>
                  <a:pt x="2034605" y="2005570"/>
                  <a:pt x="2027011" y="2008715"/>
                  <a:pt x="2019093" y="2008715"/>
                </a:cubicBezTo>
                <a:lnTo>
                  <a:pt x="29855" y="2008715"/>
                </a:lnTo>
                <a:cubicBezTo>
                  <a:pt x="21937" y="2008715"/>
                  <a:pt x="14343" y="2005570"/>
                  <a:pt x="8744" y="1999971"/>
                </a:cubicBezTo>
                <a:cubicBezTo>
                  <a:pt x="3145" y="1994372"/>
                  <a:pt x="0" y="1986779"/>
                  <a:pt x="0" y="1978861"/>
                </a:cubicBezTo>
                <a:lnTo>
                  <a:pt x="0" y="29855"/>
                </a:lnTo>
                <a:cubicBezTo>
                  <a:pt x="0" y="21937"/>
                  <a:pt x="3145" y="14343"/>
                  <a:pt x="8744" y="8744"/>
                </a:cubicBezTo>
                <a:cubicBezTo>
                  <a:pt x="14343" y="3145"/>
                  <a:pt x="21937" y="0"/>
                  <a:pt x="29855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4861F1C-A30F-4189-B9FF-8CCF074DC190}"/>
              </a:ext>
            </a:extLst>
          </p:cNvPr>
          <p:cNvSpPr>
            <a:spLocks noGrp="1"/>
          </p:cNvSpPr>
          <p:nvPr/>
        </p:nvSpPr>
        <p:spPr>
          <a:xfrm>
            <a:off x="9144000" y="1876473"/>
            <a:ext cx="7779599" cy="777150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B8A1B95-2F1B-473B-88D7-69D831C76BA5}"/>
              </a:ext>
            </a:extLst>
          </p:cNvPr>
          <p:cNvSpPr>
            <a:spLocks noGrp="1"/>
          </p:cNvSpPr>
          <p:nvPr/>
        </p:nvSpPr>
        <p:spPr>
          <a:xfrm>
            <a:off x="888268" y="1680845"/>
            <a:ext cx="6292963" cy="6869968"/>
          </a:xfrm>
          <a:custGeom>
            <a:avLst/>
            <a:gdLst/>
            <a:ahLst/>
            <a:cxnLst/>
            <a:rect l="l" t="t" r="r" b="b"/>
            <a:pathLst>
              <a:path w="6292963" h="6869968">
                <a:moveTo>
                  <a:pt x="0" y="0"/>
                </a:moveTo>
                <a:lnTo>
                  <a:pt x="6292963" y="0"/>
                </a:lnTo>
                <a:lnTo>
                  <a:pt x="6292963" y="6869969"/>
                </a:lnTo>
                <a:lnTo>
                  <a:pt x="0" y="6869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815E57E-48E9-44A1-B807-46C763210ACD}"/>
              </a:ext>
            </a:extLst>
          </p:cNvPr>
          <p:cNvSpPr>
            <a:spLocks noGrp="1"/>
          </p:cNvSpPr>
          <p:nvPr/>
        </p:nvSpPr>
        <p:spPr>
          <a:xfrm rot="5400000">
            <a:off x="6440148" y="8364154"/>
            <a:ext cx="923096" cy="184619"/>
          </a:xfrm>
          <a:custGeom>
            <a:avLst/>
            <a:gdLst/>
            <a:ahLst/>
            <a:cxnLst/>
            <a:rect l="l" t="t" r="r" b="b"/>
            <a:pathLst>
              <a:path w="923096" h="184619">
                <a:moveTo>
                  <a:pt x="0" y="0"/>
                </a:moveTo>
                <a:lnTo>
                  <a:pt x="923097" y="0"/>
                </a:lnTo>
                <a:lnTo>
                  <a:pt x="923097" y="184620"/>
                </a:lnTo>
                <a:lnTo>
                  <a:pt x="0" y="184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EDAD2BB-0763-45ED-9F7F-BC4DA62756C6}"/>
              </a:ext>
            </a:extLst>
          </p:cNvPr>
          <p:cNvSpPr>
            <a:spLocks noGrp="1"/>
          </p:cNvSpPr>
          <p:nvPr/>
        </p:nvSpPr>
        <p:spPr>
          <a:xfrm>
            <a:off x="1028700" y="452755"/>
            <a:ext cx="14078405" cy="12280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600"/>
              </a:lnSpc>
              <a:buNone/>
            </a:pPr>
            <a:r>
              <a:rPr sz="8600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State Space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BA24FC7-AEEA-4865-9749-F43A856F74F3}"/>
              </a:ext>
            </a:extLst>
          </p:cNvPr>
          <p:cNvSpPr>
            <a:spLocks noGrp="1"/>
          </p:cNvSpPr>
          <p:nvPr/>
        </p:nvSpPr>
        <p:spPr>
          <a:xfrm>
            <a:off x="9409422" y="2152995"/>
            <a:ext cx="7344744" cy="76822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The set of all states reachable from the initial state through any sequence of actions</a:t>
            </a:r>
          </a:p>
          <a:p>
            <a:pPr algn="l">
              <a:lnSpc>
                <a:spcPts val="3919"/>
              </a:lnSpc>
              <a:buNone/>
            </a:pPr>
            <a:endParaRPr sz="2799" b="1">
              <a:solidFill>
                <a:srgbClr val="1B1B1B"/>
              </a:solidFill>
              <a:latin typeface="Helvetica World Bold"/>
              <a:ea typeface="Helvetica World Bold"/>
              <a:cs typeface="Helvetica World Bold"/>
            </a:endParaRPr>
          </a:p>
          <a:p>
            <a:pPr algn="l">
              <a:lnSpc>
                <a:spcPts val="3919"/>
              </a:lnSpc>
              <a:buNone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Represented as a graph in which: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Nodes are states of the world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Edges are actions that transition between states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u="none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Each edge has an associated cost</a:t>
            </a:r>
          </a:p>
          <a:p>
            <a:pPr algn="l">
              <a:lnSpc>
                <a:spcPts val="3919"/>
              </a:lnSpc>
              <a:buNone/>
            </a:pPr>
            <a:endParaRPr sz="2799" u="none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 is not built explicitly because it is too large in practice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agent explores it progressively during the search</a:t>
            </a:r>
          </a:p>
          <a:p>
            <a:pPr algn="l">
              <a:lnSpc>
                <a:spcPts val="3919"/>
              </a:lnSpc>
              <a:buNone/>
            </a:pPr>
            <a:endParaRPr sz="27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EC496D8-0698-49A2-AAC1-252C07D03027}"/>
              </a:ext>
            </a:extLst>
          </p:cNvPr>
          <p:cNvSpPr>
            <a:spLocks noGrp="1"/>
          </p:cNvSpPr>
          <p:nvPr/>
        </p:nvSpPr>
        <p:spPr>
          <a:xfrm>
            <a:off x="1028700" y="2190697"/>
            <a:ext cx="2490307" cy="4191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239"/>
              </a:lnSpc>
              <a:buNone/>
            </a:pPr>
            <a:r>
              <a:rPr sz="26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Initial State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CA97A35-CC9D-4499-A99C-0B66587B4435}"/>
              </a:ext>
            </a:extLst>
          </p:cNvPr>
          <p:cNvSpPr>
            <a:spLocks noGrp="1"/>
          </p:cNvSpPr>
          <p:nvPr/>
        </p:nvSpPr>
        <p:spPr>
          <a:xfrm>
            <a:off x="4509614" y="9093374"/>
            <a:ext cx="4899808" cy="4191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239"/>
              </a:lnSpc>
              <a:buNone/>
            </a:pPr>
            <a:r>
              <a:rPr sz="26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to the goal state</a:t>
            </a:r>
          </a:p>
        </p:txBody>
      </p:sp>
    </p:spTree>
    <p:extLst>
      <p:ext uri="{BB962C8B-B14F-4D97-AF65-F5344CB8AC3E}">
        <p14:creationId xmlns:p14="http://schemas.microsoft.com/office/powerpoint/2010/main" val="1078208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41D00E0A-E427-430A-B453-6993EB15B1D7}"/>
              </a:ext>
            </a:extLst>
          </p:cNvPr>
          <p:cNvSpPr>
            <a:spLocks noGrp="1"/>
          </p:cNvSpPr>
          <p:nvPr/>
        </p:nvSpPr>
        <p:spPr>
          <a:xfrm>
            <a:off x="581341" y="3133830"/>
            <a:ext cx="5192035" cy="2009670"/>
          </a:xfrm>
          <a:custGeom>
            <a:avLst/>
            <a:gdLst/>
            <a:ahLst/>
            <a:cxnLst/>
            <a:rect l="l" t="t" r="r" b="b"/>
            <a:pathLst>
              <a:path w="1367449" h="529296">
                <a:moveTo>
                  <a:pt x="44733" y="0"/>
                </a:moveTo>
                <a:lnTo>
                  <a:pt x="1322716" y="0"/>
                </a:lnTo>
                <a:cubicBezTo>
                  <a:pt x="1334580" y="0"/>
                  <a:pt x="1345958" y="4713"/>
                  <a:pt x="1354347" y="13102"/>
                </a:cubicBezTo>
                <a:cubicBezTo>
                  <a:pt x="1362736" y="21491"/>
                  <a:pt x="1367449" y="32869"/>
                  <a:pt x="1367449" y="44733"/>
                </a:cubicBezTo>
                <a:lnTo>
                  <a:pt x="1367449" y="484562"/>
                </a:lnTo>
                <a:cubicBezTo>
                  <a:pt x="1367449" y="509268"/>
                  <a:pt x="1347422" y="529296"/>
                  <a:pt x="1322716" y="529296"/>
                </a:cubicBezTo>
                <a:lnTo>
                  <a:pt x="44733" y="529296"/>
                </a:lnTo>
                <a:cubicBezTo>
                  <a:pt x="20028" y="529296"/>
                  <a:pt x="0" y="509268"/>
                  <a:pt x="0" y="484562"/>
                </a:cubicBezTo>
                <a:lnTo>
                  <a:pt x="0" y="44733"/>
                </a:lnTo>
                <a:cubicBezTo>
                  <a:pt x="0" y="20028"/>
                  <a:pt x="20028" y="0"/>
                  <a:pt x="44733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60CE5B6-EB2B-4AAB-A702-2324C271A058}"/>
              </a:ext>
            </a:extLst>
          </p:cNvPr>
          <p:cNvSpPr>
            <a:spLocks noGrp="1"/>
          </p:cNvSpPr>
          <p:nvPr/>
        </p:nvSpPr>
        <p:spPr>
          <a:xfrm>
            <a:off x="581341" y="2989170"/>
            <a:ext cx="5192035" cy="215433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DCEE282-4685-44ED-8079-A8091DEACB4D}"/>
              </a:ext>
            </a:extLst>
          </p:cNvPr>
          <p:cNvSpPr>
            <a:spLocks noGrp="1"/>
          </p:cNvSpPr>
          <p:nvPr/>
        </p:nvSpPr>
        <p:spPr>
          <a:xfrm>
            <a:off x="547441" y="6807471"/>
            <a:ext cx="5726767" cy="2437455"/>
          </a:xfrm>
          <a:custGeom>
            <a:avLst/>
            <a:gdLst/>
            <a:ahLst/>
            <a:cxnLst/>
            <a:rect l="l" t="t" r="r" b="b"/>
            <a:pathLst>
              <a:path w="1508284" h="641963">
                <a:moveTo>
                  <a:pt x="40556" y="0"/>
                </a:moveTo>
                <a:lnTo>
                  <a:pt x="1467728" y="0"/>
                </a:lnTo>
                <a:cubicBezTo>
                  <a:pt x="1478484" y="0"/>
                  <a:pt x="1488800" y="4273"/>
                  <a:pt x="1496405" y="11879"/>
                </a:cubicBezTo>
                <a:cubicBezTo>
                  <a:pt x="1504011" y="19485"/>
                  <a:pt x="1508284" y="29800"/>
                  <a:pt x="1508284" y="40556"/>
                </a:cubicBezTo>
                <a:lnTo>
                  <a:pt x="1508284" y="601407"/>
                </a:lnTo>
                <a:cubicBezTo>
                  <a:pt x="1508284" y="623806"/>
                  <a:pt x="1490126" y="641963"/>
                  <a:pt x="1467728" y="641963"/>
                </a:cubicBezTo>
                <a:lnTo>
                  <a:pt x="40556" y="641963"/>
                </a:lnTo>
                <a:cubicBezTo>
                  <a:pt x="29800" y="641963"/>
                  <a:pt x="19485" y="637691"/>
                  <a:pt x="11879" y="630085"/>
                </a:cubicBezTo>
                <a:cubicBezTo>
                  <a:pt x="4273" y="622479"/>
                  <a:pt x="0" y="612163"/>
                  <a:pt x="0" y="601407"/>
                </a:cubicBezTo>
                <a:lnTo>
                  <a:pt x="0" y="40556"/>
                </a:lnTo>
                <a:cubicBezTo>
                  <a:pt x="0" y="29800"/>
                  <a:pt x="4273" y="19485"/>
                  <a:pt x="11879" y="11879"/>
                </a:cubicBezTo>
                <a:cubicBezTo>
                  <a:pt x="19485" y="4273"/>
                  <a:pt x="29800" y="0"/>
                  <a:pt x="40556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577D278-326D-42A5-93BA-29F7046FEB67}"/>
              </a:ext>
            </a:extLst>
          </p:cNvPr>
          <p:cNvSpPr>
            <a:spLocks noGrp="1"/>
          </p:cNvSpPr>
          <p:nvPr/>
        </p:nvSpPr>
        <p:spPr>
          <a:xfrm>
            <a:off x="547441" y="6662810"/>
            <a:ext cx="5726767" cy="2582116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82D3A72-7147-4D03-A032-D02EA937AB4A}"/>
              </a:ext>
            </a:extLst>
          </p:cNvPr>
          <p:cNvSpPr>
            <a:spLocks noGrp="1"/>
          </p:cNvSpPr>
          <p:nvPr/>
        </p:nvSpPr>
        <p:spPr>
          <a:xfrm>
            <a:off x="6612630" y="6294654"/>
            <a:ext cx="4032366" cy="3296021"/>
          </a:xfrm>
          <a:custGeom>
            <a:avLst/>
            <a:gdLst/>
            <a:ahLst/>
            <a:cxnLst/>
            <a:rect l="l" t="t" r="r" b="b"/>
            <a:pathLst>
              <a:path w="4032366" h="3296021">
                <a:moveTo>
                  <a:pt x="0" y="0"/>
                </a:moveTo>
                <a:lnTo>
                  <a:pt x="4032366" y="0"/>
                </a:lnTo>
                <a:lnTo>
                  <a:pt x="4032366" y="3296021"/>
                </a:lnTo>
                <a:lnTo>
                  <a:pt x="0" y="32960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6BA4F51-9C98-4095-AF7F-2F95D914EE49}"/>
              </a:ext>
            </a:extLst>
          </p:cNvPr>
          <p:cNvSpPr>
            <a:spLocks noGrp="1"/>
          </p:cNvSpPr>
          <p:nvPr/>
        </p:nvSpPr>
        <p:spPr>
          <a:xfrm>
            <a:off x="6274208" y="2241655"/>
            <a:ext cx="3551802" cy="3443232"/>
          </a:xfrm>
          <a:custGeom>
            <a:avLst/>
            <a:gdLst/>
            <a:ahLst/>
            <a:cxnLst/>
            <a:rect l="l" t="t" r="r" b="b"/>
            <a:pathLst>
              <a:path w="3551802" h="3443232">
                <a:moveTo>
                  <a:pt x="0" y="0"/>
                </a:moveTo>
                <a:lnTo>
                  <a:pt x="3551802" y="0"/>
                </a:lnTo>
                <a:lnTo>
                  <a:pt x="3551802" y="3443232"/>
                </a:lnTo>
                <a:lnTo>
                  <a:pt x="0" y="344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528D2FE-3718-44E9-A964-1AF6B2FB2022}"/>
              </a:ext>
            </a:extLst>
          </p:cNvPr>
          <p:cNvSpPr>
            <a:spLocks noGrp="1"/>
          </p:cNvSpPr>
          <p:nvPr/>
        </p:nvSpPr>
        <p:spPr>
          <a:xfrm>
            <a:off x="1028700" y="452755"/>
            <a:ext cx="14078405" cy="12280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600"/>
              </a:lnSpc>
              <a:buNone/>
            </a:pPr>
            <a:r>
              <a:rPr sz="8600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Repeated States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19DEF53-6DDD-4DBB-AEB6-B5044F25FE4E}"/>
              </a:ext>
            </a:extLst>
          </p:cNvPr>
          <p:cNvSpPr>
            <a:spLocks noGrp="1"/>
          </p:cNvSpPr>
          <p:nvPr/>
        </p:nvSpPr>
        <p:spPr>
          <a:xfrm>
            <a:off x="633312" y="2089255"/>
            <a:ext cx="5158135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State Graph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3085FB4-408E-4716-9BF7-1F93FE8790BB}"/>
              </a:ext>
            </a:extLst>
          </p:cNvPr>
          <p:cNvSpPr>
            <a:spLocks noGrp="1"/>
          </p:cNvSpPr>
          <p:nvPr/>
        </p:nvSpPr>
        <p:spPr>
          <a:xfrm>
            <a:off x="581341" y="5762842"/>
            <a:ext cx="5158135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Search Tree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3651B11-D75F-428F-A62E-04E137A9804D}"/>
              </a:ext>
            </a:extLst>
          </p:cNvPr>
          <p:cNvSpPr>
            <a:spLocks noGrp="1"/>
          </p:cNvSpPr>
          <p:nvPr/>
        </p:nvSpPr>
        <p:spPr>
          <a:xfrm>
            <a:off x="809644" y="3357298"/>
            <a:ext cx="4805471" cy="16027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59"/>
              </a:lnSpc>
              <a:buNone/>
            </a:pPr>
            <a:r>
              <a:rPr sz="28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Represents the problem, where each state appears only once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1DF68E8-C65E-4C72-BD4A-D67BAF2C3035}"/>
              </a:ext>
            </a:extLst>
          </p:cNvPr>
          <p:cNvSpPr>
            <a:spLocks noGrp="1"/>
          </p:cNvSpPr>
          <p:nvPr/>
        </p:nvSpPr>
        <p:spPr>
          <a:xfrm>
            <a:off x="775744" y="6880926"/>
            <a:ext cx="5498464" cy="21551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59"/>
              </a:lnSpc>
              <a:buNone/>
            </a:pP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Represents the search process; the same state may appear multiple times when reached through different paths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D202E57-60A7-4C52-B787-211D11969C79}"/>
              </a:ext>
            </a:extLst>
          </p:cNvPr>
          <p:cNvSpPr>
            <a:spLocks noGrp="1"/>
          </p:cNvSpPr>
          <p:nvPr/>
        </p:nvSpPr>
        <p:spPr>
          <a:xfrm>
            <a:off x="10794721" y="1488288"/>
            <a:ext cx="7244867" cy="7819399"/>
          </a:xfrm>
          <a:custGeom>
            <a:avLst/>
            <a:gdLst/>
            <a:ahLst/>
            <a:cxnLst/>
            <a:rect l="l" t="t" r="r" b="b"/>
            <a:pathLst>
              <a:path w="1908113" h="2059430">
                <a:moveTo>
                  <a:pt x="32058" y="0"/>
                </a:moveTo>
                <a:lnTo>
                  <a:pt x="1876055" y="0"/>
                </a:lnTo>
                <a:cubicBezTo>
                  <a:pt x="1893760" y="0"/>
                  <a:pt x="1908113" y="14353"/>
                  <a:pt x="1908113" y="32058"/>
                </a:cubicBezTo>
                <a:lnTo>
                  <a:pt x="1908113" y="2027372"/>
                </a:lnTo>
                <a:cubicBezTo>
                  <a:pt x="1908113" y="2045077"/>
                  <a:pt x="1893760" y="2059430"/>
                  <a:pt x="1876055" y="2059430"/>
                </a:cubicBezTo>
                <a:lnTo>
                  <a:pt x="32058" y="2059430"/>
                </a:lnTo>
                <a:cubicBezTo>
                  <a:pt x="14353" y="2059430"/>
                  <a:pt x="0" y="2045077"/>
                  <a:pt x="0" y="2027372"/>
                </a:cubicBezTo>
                <a:lnTo>
                  <a:pt x="0" y="32058"/>
                </a:lnTo>
                <a:cubicBezTo>
                  <a:pt x="0" y="14353"/>
                  <a:pt x="14353" y="0"/>
                  <a:pt x="32058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AF57B54-0FDA-4FE9-AC84-0C5DF4E0A020}"/>
              </a:ext>
            </a:extLst>
          </p:cNvPr>
          <p:cNvSpPr>
            <a:spLocks noGrp="1"/>
          </p:cNvSpPr>
          <p:nvPr/>
        </p:nvSpPr>
        <p:spPr>
          <a:xfrm>
            <a:off x="10794721" y="1343628"/>
            <a:ext cx="7244867" cy="7964059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B66FBD3-BA6C-419B-9A08-DE3D58B2571C}"/>
              </a:ext>
            </a:extLst>
          </p:cNvPr>
          <p:cNvSpPr>
            <a:spLocks noGrp="1"/>
          </p:cNvSpPr>
          <p:nvPr/>
        </p:nvSpPr>
        <p:spPr>
          <a:xfrm>
            <a:off x="10987896" y="1796906"/>
            <a:ext cx="6788622" cy="796205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4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When the search tree is expanded, the same state may be generated through multiple paths, causing infinite cycles if they are not controlled</a:t>
            </a:r>
          </a:p>
          <a:p>
            <a:pPr algn="l">
              <a:lnSpc>
                <a:spcPts val="3919"/>
              </a:lnSpc>
              <a:buNone/>
            </a:pPr>
            <a:r>
              <a:rPr sz="24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Solution: maintain two structures during the search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4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Frontier:</a:t>
            </a:r>
            <a:r>
              <a:rPr sz="24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states that have been generated but not yet explored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4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Explored Set:</a:t>
            </a:r>
            <a:r>
              <a:rPr sz="24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states that have already been expanded and are never generated again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400" u="none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Without repeated-state control, the algorithm may not terminate even when a solution exists.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4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With control, each state is explored at most once</a:t>
            </a:r>
          </a:p>
          <a:p>
            <a:pPr algn="l">
              <a:lnSpc>
                <a:spcPts val="3919"/>
              </a:lnSpc>
              <a:buNone/>
            </a:pPr>
            <a:endParaRPr sz="2400" dirty="0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1400504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69AD5F5-E4B1-4E83-A5CF-9726AD988B4D}"/>
              </a:ext>
            </a:extLst>
          </p:cNvPr>
          <p:cNvSpPr>
            <a:spLocks noGrp="1"/>
          </p:cNvSpPr>
          <p:nvPr/>
        </p:nvSpPr>
        <p:spPr>
          <a:xfrm>
            <a:off x="1028700" y="2549675"/>
            <a:ext cx="6378086" cy="6675484"/>
          </a:xfrm>
          <a:custGeom>
            <a:avLst/>
            <a:gdLst/>
            <a:ahLst/>
            <a:cxnLst/>
            <a:rect l="l" t="t" r="r" b="b"/>
            <a:pathLst>
              <a:path w="1679825" h="1758152">
                <a:moveTo>
                  <a:pt x="36415" y="0"/>
                </a:moveTo>
                <a:lnTo>
                  <a:pt x="1643410" y="0"/>
                </a:lnTo>
                <a:cubicBezTo>
                  <a:pt x="1653068" y="0"/>
                  <a:pt x="1662330" y="3837"/>
                  <a:pt x="1669160" y="10666"/>
                </a:cubicBezTo>
                <a:cubicBezTo>
                  <a:pt x="1675989" y="17495"/>
                  <a:pt x="1679825" y="26757"/>
                  <a:pt x="1679825" y="36415"/>
                </a:cubicBezTo>
                <a:lnTo>
                  <a:pt x="1679825" y="1721737"/>
                </a:lnTo>
                <a:cubicBezTo>
                  <a:pt x="1679825" y="1731395"/>
                  <a:pt x="1675989" y="1740657"/>
                  <a:pt x="1669160" y="1747487"/>
                </a:cubicBezTo>
                <a:cubicBezTo>
                  <a:pt x="1662330" y="1754316"/>
                  <a:pt x="1653068" y="1758152"/>
                  <a:pt x="1643410" y="1758152"/>
                </a:cubicBezTo>
                <a:lnTo>
                  <a:pt x="36415" y="1758152"/>
                </a:lnTo>
                <a:cubicBezTo>
                  <a:pt x="26757" y="1758152"/>
                  <a:pt x="17495" y="1754316"/>
                  <a:pt x="10666" y="1747487"/>
                </a:cubicBezTo>
                <a:cubicBezTo>
                  <a:pt x="3837" y="1740657"/>
                  <a:pt x="0" y="1731395"/>
                  <a:pt x="0" y="1721737"/>
                </a:cubicBezTo>
                <a:lnTo>
                  <a:pt x="0" y="36415"/>
                </a:lnTo>
                <a:cubicBezTo>
                  <a:pt x="0" y="26757"/>
                  <a:pt x="3837" y="17495"/>
                  <a:pt x="10666" y="10666"/>
                </a:cubicBezTo>
                <a:cubicBezTo>
                  <a:pt x="17495" y="3837"/>
                  <a:pt x="26757" y="0"/>
                  <a:pt x="36415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8523260-88C3-4206-ABEF-30A6691F4030}"/>
              </a:ext>
            </a:extLst>
          </p:cNvPr>
          <p:cNvSpPr>
            <a:spLocks noGrp="1"/>
          </p:cNvSpPr>
          <p:nvPr/>
        </p:nvSpPr>
        <p:spPr>
          <a:xfrm>
            <a:off x="1028700" y="2405015"/>
            <a:ext cx="6378086" cy="6820144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B056A1C-30A6-4E9D-BB06-E2AE2EA29DD9}"/>
              </a:ext>
            </a:extLst>
          </p:cNvPr>
          <p:cNvSpPr>
            <a:spLocks noGrp="1"/>
          </p:cNvSpPr>
          <p:nvPr/>
        </p:nvSpPr>
        <p:spPr>
          <a:xfrm>
            <a:off x="8218761" y="5037130"/>
            <a:ext cx="9179388" cy="4093453"/>
          </a:xfrm>
          <a:custGeom>
            <a:avLst/>
            <a:gdLst/>
            <a:ahLst/>
            <a:cxnLst/>
            <a:rect l="l" t="t" r="r" b="b"/>
            <a:pathLst>
              <a:path w="2381047" h="1061803">
                <a:moveTo>
                  <a:pt x="25302" y="0"/>
                </a:moveTo>
                <a:lnTo>
                  <a:pt x="2355745" y="0"/>
                </a:lnTo>
                <a:cubicBezTo>
                  <a:pt x="2362456" y="0"/>
                  <a:pt x="2368891" y="2666"/>
                  <a:pt x="2373637" y="7411"/>
                </a:cubicBezTo>
                <a:cubicBezTo>
                  <a:pt x="2378382" y="12156"/>
                  <a:pt x="2381047" y="18592"/>
                  <a:pt x="2381047" y="25302"/>
                </a:cubicBezTo>
                <a:lnTo>
                  <a:pt x="2381047" y="1036501"/>
                </a:lnTo>
                <a:cubicBezTo>
                  <a:pt x="2381047" y="1050475"/>
                  <a:pt x="2369719" y="1061803"/>
                  <a:pt x="2355745" y="1061803"/>
                </a:cubicBezTo>
                <a:lnTo>
                  <a:pt x="25302" y="1061803"/>
                </a:lnTo>
                <a:cubicBezTo>
                  <a:pt x="11328" y="1061803"/>
                  <a:pt x="0" y="1050475"/>
                  <a:pt x="0" y="1036501"/>
                </a:cubicBezTo>
                <a:lnTo>
                  <a:pt x="0" y="25302"/>
                </a:lnTo>
                <a:cubicBezTo>
                  <a:pt x="0" y="11328"/>
                  <a:pt x="11328" y="0"/>
                  <a:pt x="25302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09BB17D-2BA1-4FEB-8D8C-E3DA0BAC5C55}"/>
              </a:ext>
            </a:extLst>
          </p:cNvPr>
          <p:cNvSpPr>
            <a:spLocks noGrp="1"/>
          </p:cNvSpPr>
          <p:nvPr/>
        </p:nvSpPr>
        <p:spPr>
          <a:xfrm>
            <a:off x="8218761" y="4890248"/>
            <a:ext cx="9179388" cy="424033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38A2A5F-AF68-4726-97AA-73472AAED996}"/>
              </a:ext>
            </a:extLst>
          </p:cNvPr>
          <p:cNvSpPr>
            <a:spLocks noGrp="1"/>
          </p:cNvSpPr>
          <p:nvPr/>
        </p:nvSpPr>
        <p:spPr>
          <a:xfrm>
            <a:off x="8067903" y="2084487"/>
            <a:ext cx="2917312" cy="2549001"/>
          </a:xfrm>
          <a:custGeom>
            <a:avLst/>
            <a:gdLst/>
            <a:ahLst/>
            <a:cxnLst/>
            <a:rect l="l" t="t" r="r" b="b"/>
            <a:pathLst>
              <a:path w="2917312" h="2549001">
                <a:moveTo>
                  <a:pt x="0" y="0"/>
                </a:moveTo>
                <a:lnTo>
                  <a:pt x="2917311" y="0"/>
                </a:lnTo>
                <a:lnTo>
                  <a:pt x="2917311" y="2549001"/>
                </a:lnTo>
                <a:lnTo>
                  <a:pt x="0" y="25490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92596E9-4EEF-42E9-B5ED-8AA4595FF4F1}"/>
              </a:ext>
            </a:extLst>
          </p:cNvPr>
          <p:cNvSpPr>
            <a:spLocks noGrp="1"/>
          </p:cNvSpPr>
          <p:nvPr/>
        </p:nvSpPr>
        <p:spPr>
          <a:xfrm>
            <a:off x="1028700" y="452755"/>
            <a:ext cx="14078405" cy="12280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600"/>
              </a:lnSpc>
              <a:buNone/>
            </a:pPr>
            <a:r>
              <a:rPr sz="8600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Uninformed Search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85C3400-AA7D-424C-8CA7-8F0300472649}"/>
              </a:ext>
            </a:extLst>
          </p:cNvPr>
          <p:cNvSpPr>
            <a:spLocks noGrp="1"/>
          </p:cNvSpPr>
          <p:nvPr/>
        </p:nvSpPr>
        <p:spPr>
          <a:xfrm>
            <a:off x="1332333" y="2862761"/>
            <a:ext cx="5770820" cy="660590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919"/>
              </a:lnSpc>
              <a:buNone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Blind search in which the agent has no additional information about which states are more promising.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It knows only the initial state, available actions, and goal test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 explores the state space systematically without favoring any path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Search algorithms differ in the order in which they expand nodes.</a:t>
            </a:r>
          </a:p>
          <a:p>
            <a:pPr algn="l">
              <a:lnSpc>
                <a:spcPts val="3919"/>
              </a:lnSpc>
              <a:buNone/>
            </a:pPr>
            <a:endParaRPr sz="27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3B0CEBC-678C-4055-864C-57037A9323C4}"/>
              </a:ext>
            </a:extLst>
          </p:cNvPr>
          <p:cNvSpPr>
            <a:spLocks noGrp="1"/>
          </p:cNvSpPr>
          <p:nvPr/>
        </p:nvSpPr>
        <p:spPr>
          <a:xfrm>
            <a:off x="8515331" y="5037129"/>
            <a:ext cx="8882818" cy="407451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980"/>
              </a:lnSpc>
              <a:buNone/>
            </a:pPr>
            <a:r>
              <a:rPr sz="28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Criteria for evaluating search algorithms:</a:t>
            </a:r>
          </a:p>
          <a:p>
            <a:pPr marL="613797" indent="-306899" algn="l">
              <a:lnSpc>
                <a:spcPts val="3980"/>
              </a:lnSpc>
              <a:buFont typeface="Arial"/>
              <a:buChar char="•"/>
            </a:pPr>
            <a:r>
              <a:rPr sz="28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Completeness:</a:t>
            </a:r>
            <a:r>
              <a:rPr sz="28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is it guaranteed to find a solution if one exists?</a:t>
            </a:r>
          </a:p>
          <a:p>
            <a:pPr marL="613797" indent="-306899" algn="l">
              <a:lnSpc>
                <a:spcPts val="3980"/>
              </a:lnSpc>
              <a:buFont typeface="Arial"/>
              <a:buChar char="•"/>
            </a:pPr>
            <a:r>
              <a:rPr sz="28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Optimality:</a:t>
            </a:r>
            <a:r>
              <a:rPr sz="28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is it guaranteed to find the lowest-cost solution?</a:t>
            </a:r>
          </a:p>
          <a:p>
            <a:pPr marL="613797" indent="-306899" algn="l">
              <a:lnSpc>
                <a:spcPts val="3980"/>
              </a:lnSpc>
              <a:buFont typeface="Arial"/>
              <a:buChar char="•"/>
            </a:pPr>
            <a:r>
              <a:rPr sz="28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Time complexity: how long does it take?</a:t>
            </a:r>
          </a:p>
          <a:p>
            <a:pPr marL="613797" indent="-306899" algn="l">
              <a:lnSpc>
                <a:spcPts val="3980"/>
              </a:lnSpc>
              <a:buFont typeface="Arial"/>
              <a:buChar char="•"/>
            </a:pPr>
            <a:r>
              <a:rPr sz="28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Space complexity:</a:t>
            </a:r>
            <a:r>
              <a:rPr sz="28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how much memory does it require?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A4765BB-2750-4FA8-88B2-000E2D78F0D9}"/>
              </a:ext>
            </a:extLst>
          </p:cNvPr>
          <p:cNvSpPr>
            <a:spLocks noGrp="1"/>
          </p:cNvSpPr>
          <p:nvPr/>
        </p:nvSpPr>
        <p:spPr>
          <a:xfrm rot="-8932690" flipH="1" flipV="1">
            <a:off x="11848770" y="3402740"/>
            <a:ext cx="601702" cy="1552779"/>
          </a:xfrm>
          <a:custGeom>
            <a:avLst/>
            <a:gdLst/>
            <a:ahLst/>
            <a:cxnLst/>
            <a:rect l="l" t="t" r="r" b="b"/>
            <a:pathLst>
              <a:path w="601702" h="1552779">
                <a:moveTo>
                  <a:pt x="601702" y="1552779"/>
                </a:moveTo>
                <a:lnTo>
                  <a:pt x="0" y="1552779"/>
                </a:lnTo>
                <a:lnTo>
                  <a:pt x="0" y="0"/>
                </a:lnTo>
                <a:lnTo>
                  <a:pt x="601702" y="0"/>
                </a:lnTo>
                <a:lnTo>
                  <a:pt x="601702" y="155277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E6A29144-7903-4748-B02F-4A796B10D3E5}"/>
              </a:ext>
            </a:extLst>
          </p:cNvPr>
          <p:cNvSpPr>
            <a:spLocks noGrp="1"/>
          </p:cNvSpPr>
          <p:nvPr/>
        </p:nvSpPr>
        <p:spPr>
          <a:xfrm>
            <a:off x="13120735" y="1974740"/>
            <a:ext cx="4612621" cy="2768495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5"/>
            <a:stretch>
              <a:fillRect t="-5294" b="-5294"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1282055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6513630-C59E-40F3-9C33-8A49C6419B97}"/>
              </a:ext>
            </a:extLst>
          </p:cNvPr>
          <p:cNvSpPr>
            <a:spLocks noGrp="1"/>
          </p:cNvSpPr>
          <p:nvPr/>
        </p:nvSpPr>
        <p:spPr>
          <a:xfrm>
            <a:off x="2704123" y="6044488"/>
            <a:ext cx="13002336" cy="3916954"/>
          </a:xfrm>
          <a:custGeom>
            <a:avLst/>
            <a:gdLst/>
            <a:ahLst/>
            <a:cxnLst/>
            <a:rect l="l" t="t" r="r" b="b"/>
            <a:pathLst>
              <a:path w="13002336" h="3916954">
                <a:moveTo>
                  <a:pt x="0" y="0"/>
                </a:moveTo>
                <a:lnTo>
                  <a:pt x="13002335" y="0"/>
                </a:lnTo>
                <a:lnTo>
                  <a:pt x="13002335" y="3916953"/>
                </a:lnTo>
                <a:lnTo>
                  <a:pt x="0" y="39169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F9B92A2-A84C-403F-80C3-10208F8B4982}"/>
              </a:ext>
            </a:extLst>
          </p:cNvPr>
          <p:cNvSpPr>
            <a:spLocks noGrp="1"/>
          </p:cNvSpPr>
          <p:nvPr/>
        </p:nvSpPr>
        <p:spPr>
          <a:xfrm>
            <a:off x="846905" y="1924030"/>
            <a:ext cx="12685495" cy="4093453"/>
          </a:xfrm>
          <a:custGeom>
            <a:avLst/>
            <a:gdLst/>
            <a:ahLst/>
            <a:cxnLst/>
            <a:rect l="l" t="t" r="r" b="b"/>
            <a:pathLst>
              <a:path w="3290499" h="1061803">
                <a:moveTo>
                  <a:pt x="18309" y="0"/>
                </a:moveTo>
                <a:lnTo>
                  <a:pt x="3272190" y="0"/>
                </a:lnTo>
                <a:cubicBezTo>
                  <a:pt x="3282302" y="0"/>
                  <a:pt x="3290499" y="8197"/>
                  <a:pt x="3290499" y="18309"/>
                </a:cubicBezTo>
                <a:lnTo>
                  <a:pt x="3290499" y="1043494"/>
                </a:lnTo>
                <a:cubicBezTo>
                  <a:pt x="3290499" y="1053606"/>
                  <a:pt x="3282302" y="1061803"/>
                  <a:pt x="3272190" y="1061803"/>
                </a:cubicBezTo>
                <a:lnTo>
                  <a:pt x="18309" y="1061803"/>
                </a:lnTo>
                <a:cubicBezTo>
                  <a:pt x="8197" y="1061803"/>
                  <a:pt x="0" y="1053606"/>
                  <a:pt x="0" y="1043494"/>
                </a:cubicBezTo>
                <a:lnTo>
                  <a:pt x="0" y="18309"/>
                </a:lnTo>
                <a:cubicBezTo>
                  <a:pt x="0" y="8197"/>
                  <a:pt x="8197" y="0"/>
                  <a:pt x="18309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B217CAB-5B6E-40AB-9725-6C064A318DB2}"/>
              </a:ext>
            </a:extLst>
          </p:cNvPr>
          <p:cNvSpPr>
            <a:spLocks noGrp="1"/>
          </p:cNvSpPr>
          <p:nvPr/>
        </p:nvSpPr>
        <p:spPr>
          <a:xfrm>
            <a:off x="846905" y="1777148"/>
            <a:ext cx="12685495" cy="424033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6A03787-4F74-48D1-B9D6-86233E321906}"/>
              </a:ext>
            </a:extLst>
          </p:cNvPr>
          <p:cNvSpPr>
            <a:spLocks noGrp="1"/>
          </p:cNvSpPr>
          <p:nvPr/>
        </p:nvSpPr>
        <p:spPr>
          <a:xfrm>
            <a:off x="13904548" y="2519539"/>
            <a:ext cx="3929836" cy="3131624"/>
          </a:xfrm>
          <a:custGeom>
            <a:avLst/>
            <a:gdLst/>
            <a:ahLst/>
            <a:cxnLst/>
            <a:rect l="l" t="t" r="r" b="b"/>
            <a:pathLst>
              <a:path w="1035019" h="824790">
                <a:moveTo>
                  <a:pt x="59101" y="0"/>
                </a:moveTo>
                <a:lnTo>
                  <a:pt x="975918" y="0"/>
                </a:lnTo>
                <a:cubicBezTo>
                  <a:pt x="1008558" y="0"/>
                  <a:pt x="1035019" y="26460"/>
                  <a:pt x="1035019" y="59101"/>
                </a:cubicBezTo>
                <a:lnTo>
                  <a:pt x="1035019" y="765689"/>
                </a:lnTo>
                <a:cubicBezTo>
                  <a:pt x="1035019" y="798329"/>
                  <a:pt x="1008558" y="824790"/>
                  <a:pt x="975918" y="824790"/>
                </a:cubicBezTo>
                <a:lnTo>
                  <a:pt x="59101" y="824790"/>
                </a:lnTo>
                <a:cubicBezTo>
                  <a:pt x="26460" y="824790"/>
                  <a:pt x="0" y="798329"/>
                  <a:pt x="0" y="765689"/>
                </a:cubicBezTo>
                <a:lnTo>
                  <a:pt x="0" y="59101"/>
                </a:lnTo>
                <a:cubicBezTo>
                  <a:pt x="0" y="26460"/>
                  <a:pt x="26460" y="0"/>
                  <a:pt x="59101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8A3AFDB-CF05-436F-9207-EF312E5F4CCA}"/>
              </a:ext>
            </a:extLst>
          </p:cNvPr>
          <p:cNvSpPr>
            <a:spLocks noGrp="1"/>
          </p:cNvSpPr>
          <p:nvPr/>
        </p:nvSpPr>
        <p:spPr>
          <a:xfrm>
            <a:off x="13904548" y="2374879"/>
            <a:ext cx="3929836" cy="3276284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AFDB6A7-59A3-493F-BEE1-EC18A9F6B1A8}"/>
              </a:ext>
            </a:extLst>
          </p:cNvPr>
          <p:cNvSpPr>
            <a:spLocks noGrp="1"/>
          </p:cNvSpPr>
          <p:nvPr/>
        </p:nvSpPr>
        <p:spPr>
          <a:xfrm>
            <a:off x="16993095" y="2795038"/>
            <a:ext cx="616031" cy="563669"/>
          </a:xfrm>
          <a:custGeom>
            <a:avLst/>
            <a:gdLst/>
            <a:ahLst/>
            <a:cxnLst/>
            <a:rect l="l" t="t" r="r" b="b"/>
            <a:pathLst>
              <a:path w="616031" h="563669">
                <a:moveTo>
                  <a:pt x="0" y="0"/>
                </a:moveTo>
                <a:lnTo>
                  <a:pt x="616031" y="0"/>
                </a:lnTo>
                <a:lnTo>
                  <a:pt x="616031" y="563668"/>
                </a:lnTo>
                <a:lnTo>
                  <a:pt x="0" y="563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C839F62-D06F-4BF8-8562-6D47F130D60D}"/>
              </a:ext>
            </a:extLst>
          </p:cNvPr>
          <p:cNvSpPr>
            <a:spLocks noGrp="1"/>
          </p:cNvSpPr>
          <p:nvPr/>
        </p:nvSpPr>
        <p:spPr>
          <a:xfrm>
            <a:off x="1028700" y="424180"/>
            <a:ext cx="14078405" cy="10160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000"/>
              </a:lnSpc>
              <a:buNone/>
            </a:pPr>
            <a:r>
              <a:rPr sz="7000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Breadth-First Search (BFS)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44A9573-FE4A-49DE-B502-6072B97144D9}"/>
              </a:ext>
            </a:extLst>
          </p:cNvPr>
          <p:cNvSpPr>
            <a:spLocks noGrp="1"/>
          </p:cNvSpPr>
          <p:nvPr/>
        </p:nvSpPr>
        <p:spPr>
          <a:xfrm>
            <a:off x="1073353" y="2026298"/>
            <a:ext cx="12225306" cy="421403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980"/>
              </a:lnSpc>
              <a:buNone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Expands the shallowest nodes first, level by level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Data structure: FIFO queue</a:t>
            </a:r>
          </a:p>
          <a:p>
            <a:pPr algn="l">
              <a:lnSpc>
                <a:spcPts val="3980"/>
              </a:lnSpc>
              <a:buNone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Properties: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Complete:</a:t>
            </a: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always finds a solution if one exists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Optimal:</a:t>
            </a: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finds the path with the fewest steps (when costs are uniform)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Time complexity: O(b^d)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Space complexity: O(b^d)</a:t>
            </a:r>
          </a:p>
          <a:p>
            <a:pPr algn="l">
              <a:lnSpc>
                <a:spcPts val="3980"/>
              </a:lnSpc>
              <a:buNone/>
            </a:pPr>
            <a:endParaRPr sz="2842" b="1">
              <a:solidFill>
                <a:srgbClr val="1B1B1B"/>
              </a:solidFill>
              <a:latin typeface="Helvetica World Bold"/>
              <a:ea typeface="Helvetica World Bold"/>
              <a:cs typeface="Helvetica World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13C4FCF-0688-4A1F-8586-F778AF7B1170}"/>
              </a:ext>
            </a:extLst>
          </p:cNvPr>
          <p:cNvSpPr>
            <a:spLocks noGrp="1"/>
          </p:cNvSpPr>
          <p:nvPr/>
        </p:nvSpPr>
        <p:spPr>
          <a:xfrm>
            <a:off x="14095355" y="2737888"/>
            <a:ext cx="3548222" cy="26314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59"/>
              </a:lnSpc>
              <a:buNone/>
            </a:pPr>
            <a:r>
              <a:rPr sz="28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Memory consumption:</a:t>
            </a:r>
          </a:p>
          <a:p>
            <a:pPr algn="l">
              <a:lnSpc>
                <a:spcPts val="4059"/>
              </a:lnSpc>
              <a:buNone/>
            </a:pP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frontier grows exponentially with depth</a:t>
            </a:r>
          </a:p>
        </p:txBody>
      </p:sp>
    </p:spTree>
    <p:extLst>
      <p:ext uri="{BB962C8B-B14F-4D97-AF65-F5344CB8AC3E}">
        <p14:creationId xmlns:p14="http://schemas.microsoft.com/office/powerpoint/2010/main" val="1273025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614892-2E99-46A3-BDD7-CE94AE39838D}"/>
              </a:ext>
            </a:extLst>
          </p:cNvPr>
          <p:cNvSpPr>
            <a:spLocks noGrp="1"/>
          </p:cNvSpPr>
          <p:nvPr/>
        </p:nvSpPr>
        <p:spPr>
          <a:xfrm>
            <a:off x="2208563" y="204977"/>
            <a:ext cx="15050737" cy="9877046"/>
          </a:xfrm>
          <a:custGeom>
            <a:avLst/>
            <a:gdLst/>
            <a:ahLst/>
            <a:cxnLst/>
            <a:rect l="l" t="t" r="r" b="b"/>
            <a:pathLst>
              <a:path w="15050737" h="9877046">
                <a:moveTo>
                  <a:pt x="0" y="0"/>
                </a:moveTo>
                <a:lnTo>
                  <a:pt x="15050737" y="0"/>
                </a:lnTo>
                <a:lnTo>
                  <a:pt x="15050737" y="9877046"/>
                </a:lnTo>
                <a:lnTo>
                  <a:pt x="0" y="98770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632075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E5980F60-A72C-494A-A20D-229BEEA0097C}"/>
              </a:ext>
            </a:extLst>
          </p:cNvPr>
          <p:cNvSpPr>
            <a:spLocks noGrp="1"/>
          </p:cNvSpPr>
          <p:nvPr/>
        </p:nvSpPr>
        <p:spPr>
          <a:xfrm>
            <a:off x="757351" y="3248694"/>
            <a:ext cx="8242592" cy="5325957"/>
          </a:xfrm>
          <a:custGeom>
            <a:avLst/>
            <a:gdLst/>
            <a:ahLst/>
            <a:cxnLst/>
            <a:rect l="l" t="t" r="r" b="b"/>
            <a:pathLst>
              <a:path w="2138051" h="1381503">
                <a:moveTo>
                  <a:pt x="28178" y="0"/>
                </a:moveTo>
                <a:lnTo>
                  <a:pt x="2109873" y="0"/>
                </a:lnTo>
                <a:cubicBezTo>
                  <a:pt x="2125435" y="0"/>
                  <a:pt x="2138051" y="12616"/>
                  <a:pt x="2138051" y="28178"/>
                </a:cubicBezTo>
                <a:lnTo>
                  <a:pt x="2138051" y="1353326"/>
                </a:lnTo>
                <a:cubicBezTo>
                  <a:pt x="2138051" y="1360799"/>
                  <a:pt x="2135082" y="1367966"/>
                  <a:pt x="2129798" y="1373250"/>
                </a:cubicBezTo>
                <a:cubicBezTo>
                  <a:pt x="2124513" y="1378535"/>
                  <a:pt x="2117346" y="1381503"/>
                  <a:pt x="2109873" y="1381503"/>
                </a:cubicBezTo>
                <a:lnTo>
                  <a:pt x="28178" y="1381503"/>
                </a:lnTo>
                <a:cubicBezTo>
                  <a:pt x="12616" y="1381503"/>
                  <a:pt x="0" y="1368888"/>
                  <a:pt x="0" y="1353326"/>
                </a:cubicBezTo>
                <a:lnTo>
                  <a:pt x="0" y="28178"/>
                </a:lnTo>
                <a:cubicBezTo>
                  <a:pt x="0" y="12616"/>
                  <a:pt x="12616" y="0"/>
                  <a:pt x="28178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D6807CA-851E-4FE5-BC86-9515E60BB009}"/>
              </a:ext>
            </a:extLst>
          </p:cNvPr>
          <p:cNvSpPr>
            <a:spLocks noGrp="1"/>
          </p:cNvSpPr>
          <p:nvPr/>
        </p:nvSpPr>
        <p:spPr>
          <a:xfrm>
            <a:off x="757351" y="3101812"/>
            <a:ext cx="8242589" cy="5472839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35E9046-FB01-4D9B-B614-CA1F6B549A19}"/>
              </a:ext>
            </a:extLst>
          </p:cNvPr>
          <p:cNvSpPr>
            <a:spLocks noGrp="1"/>
          </p:cNvSpPr>
          <p:nvPr/>
        </p:nvSpPr>
        <p:spPr>
          <a:xfrm>
            <a:off x="9832645" y="4595961"/>
            <a:ext cx="7216084" cy="4959661"/>
          </a:xfrm>
          <a:custGeom>
            <a:avLst/>
            <a:gdLst/>
            <a:ahLst/>
            <a:cxnLst/>
            <a:rect l="l" t="t" r="r" b="b"/>
            <a:pathLst>
              <a:path w="7216084" h="4959661">
                <a:moveTo>
                  <a:pt x="0" y="0"/>
                </a:moveTo>
                <a:lnTo>
                  <a:pt x="7216083" y="0"/>
                </a:lnTo>
                <a:lnTo>
                  <a:pt x="7216083" y="4959661"/>
                </a:lnTo>
                <a:lnTo>
                  <a:pt x="0" y="49596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8664FFE-6078-48BD-AFC6-68901F2A2BFA}"/>
              </a:ext>
            </a:extLst>
          </p:cNvPr>
          <p:cNvSpPr>
            <a:spLocks noGrp="1"/>
          </p:cNvSpPr>
          <p:nvPr/>
        </p:nvSpPr>
        <p:spPr>
          <a:xfrm>
            <a:off x="1028700" y="452755"/>
            <a:ext cx="14078405" cy="12280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600"/>
              </a:lnSpc>
              <a:buNone/>
            </a:pPr>
            <a:r>
              <a:rPr sz="8600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Depth-First Search (DFS)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D40ACBF-0DF4-447C-8705-FEE4FC8D8195}"/>
              </a:ext>
            </a:extLst>
          </p:cNvPr>
          <p:cNvSpPr>
            <a:spLocks noGrp="1"/>
          </p:cNvSpPr>
          <p:nvPr/>
        </p:nvSpPr>
        <p:spPr>
          <a:xfrm>
            <a:off x="983799" y="3350962"/>
            <a:ext cx="7805775" cy="522368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980"/>
              </a:lnSpc>
              <a:buNone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Expands the deepest nodes first, following one branch to the end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Data structure: LIFO stack</a:t>
            </a:r>
          </a:p>
          <a:p>
            <a:pPr algn="l">
              <a:lnSpc>
                <a:spcPts val="3980"/>
              </a:lnSpc>
              <a:buNone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Properties: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Complete:</a:t>
            </a: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only when repeated states are controlled and the space is finite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Not optimal:</a:t>
            </a: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does not guarantee the shortest path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Time complexity: O(b^m)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Space complexity: O(b·m)</a:t>
            </a:r>
          </a:p>
          <a:p>
            <a:pPr algn="l">
              <a:lnSpc>
                <a:spcPts val="3980"/>
              </a:lnSpc>
              <a:buNone/>
            </a:pPr>
            <a:endParaRPr sz="2842" b="1">
              <a:solidFill>
                <a:srgbClr val="1B1B1B"/>
              </a:solidFill>
              <a:latin typeface="Helvetica World Bold"/>
              <a:ea typeface="Helvetica World Bold"/>
              <a:cs typeface="Helvetica World Bold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2CEB15A-7859-4F4D-B485-54DCA81EFBF4}"/>
              </a:ext>
            </a:extLst>
          </p:cNvPr>
          <p:cNvSpPr>
            <a:spLocks noGrp="1"/>
          </p:cNvSpPr>
          <p:nvPr/>
        </p:nvSpPr>
        <p:spPr>
          <a:xfrm>
            <a:off x="13894051" y="1260700"/>
            <a:ext cx="3154678" cy="3108828"/>
          </a:xfrm>
          <a:custGeom>
            <a:avLst/>
            <a:gdLst/>
            <a:ahLst/>
            <a:cxnLst/>
            <a:rect l="l" t="t" r="r" b="b"/>
            <a:pathLst>
              <a:path w="830862" h="818786">
                <a:moveTo>
                  <a:pt x="73623" y="0"/>
                </a:moveTo>
                <a:lnTo>
                  <a:pt x="757238" y="0"/>
                </a:lnTo>
                <a:cubicBezTo>
                  <a:pt x="776764" y="0"/>
                  <a:pt x="795491" y="7757"/>
                  <a:pt x="809298" y="21564"/>
                </a:cubicBezTo>
                <a:cubicBezTo>
                  <a:pt x="823105" y="35371"/>
                  <a:pt x="830862" y="54097"/>
                  <a:pt x="830862" y="73623"/>
                </a:cubicBezTo>
                <a:lnTo>
                  <a:pt x="830862" y="745163"/>
                </a:lnTo>
                <a:cubicBezTo>
                  <a:pt x="830862" y="764689"/>
                  <a:pt x="823105" y="783415"/>
                  <a:pt x="809298" y="797222"/>
                </a:cubicBezTo>
                <a:cubicBezTo>
                  <a:pt x="795491" y="811029"/>
                  <a:pt x="776764" y="818786"/>
                  <a:pt x="757238" y="818786"/>
                </a:cubicBezTo>
                <a:lnTo>
                  <a:pt x="73623" y="818786"/>
                </a:lnTo>
                <a:cubicBezTo>
                  <a:pt x="54097" y="818786"/>
                  <a:pt x="35371" y="811029"/>
                  <a:pt x="21564" y="797222"/>
                </a:cubicBezTo>
                <a:cubicBezTo>
                  <a:pt x="7757" y="783415"/>
                  <a:pt x="0" y="764689"/>
                  <a:pt x="0" y="745163"/>
                </a:cubicBezTo>
                <a:lnTo>
                  <a:pt x="0" y="73623"/>
                </a:lnTo>
                <a:cubicBezTo>
                  <a:pt x="0" y="54097"/>
                  <a:pt x="7757" y="35371"/>
                  <a:pt x="21564" y="21564"/>
                </a:cubicBezTo>
                <a:cubicBezTo>
                  <a:pt x="35371" y="7757"/>
                  <a:pt x="54097" y="0"/>
                  <a:pt x="73623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7D21DED-691A-469B-9B8C-448E12278964}"/>
              </a:ext>
            </a:extLst>
          </p:cNvPr>
          <p:cNvSpPr>
            <a:spLocks noGrp="1"/>
          </p:cNvSpPr>
          <p:nvPr/>
        </p:nvSpPr>
        <p:spPr>
          <a:xfrm>
            <a:off x="13894051" y="1116040"/>
            <a:ext cx="3154678" cy="325348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A282835-8DC5-4208-BAA3-A3B28B022975}"/>
              </a:ext>
            </a:extLst>
          </p:cNvPr>
          <p:cNvSpPr>
            <a:spLocks noGrp="1"/>
          </p:cNvSpPr>
          <p:nvPr/>
        </p:nvSpPr>
        <p:spPr>
          <a:xfrm>
            <a:off x="16016921" y="3248694"/>
            <a:ext cx="783833" cy="662695"/>
          </a:xfrm>
          <a:custGeom>
            <a:avLst/>
            <a:gdLst/>
            <a:ahLst/>
            <a:cxnLst/>
            <a:rect l="l" t="t" r="r" b="b"/>
            <a:pathLst>
              <a:path w="783833" h="662695">
                <a:moveTo>
                  <a:pt x="0" y="0"/>
                </a:moveTo>
                <a:lnTo>
                  <a:pt x="783833" y="0"/>
                </a:lnTo>
                <a:lnTo>
                  <a:pt x="783833" y="662695"/>
                </a:lnTo>
                <a:lnTo>
                  <a:pt x="0" y="6626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26CA921-4B31-4EC5-897B-A6B56B5BC1CC}"/>
              </a:ext>
            </a:extLst>
          </p:cNvPr>
          <p:cNvSpPr>
            <a:spLocks noGrp="1"/>
          </p:cNvSpPr>
          <p:nvPr/>
        </p:nvSpPr>
        <p:spPr>
          <a:xfrm>
            <a:off x="14087243" y="1464918"/>
            <a:ext cx="2961485" cy="20408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59"/>
              </a:lnSpc>
              <a:buNone/>
            </a:pP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Low memory use compared with BFS</a:t>
            </a:r>
          </a:p>
        </p:txBody>
      </p:sp>
    </p:spTree>
    <p:extLst>
      <p:ext uri="{BB962C8B-B14F-4D97-AF65-F5344CB8AC3E}">
        <p14:creationId xmlns:p14="http://schemas.microsoft.com/office/powerpoint/2010/main" val="66433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853A08D-5A75-4293-8CE8-A525A1CB5B48}"/>
              </a:ext>
            </a:extLst>
          </p:cNvPr>
          <p:cNvSpPr>
            <a:spLocks noGrp="1"/>
          </p:cNvSpPr>
          <p:nvPr/>
        </p:nvSpPr>
        <p:spPr>
          <a:xfrm>
            <a:off x="1396043" y="1329309"/>
            <a:ext cx="15863257" cy="7455731"/>
          </a:xfrm>
          <a:custGeom>
            <a:avLst/>
            <a:gdLst/>
            <a:ahLst/>
            <a:cxnLst/>
            <a:rect l="l" t="t" r="r" b="b"/>
            <a:pathLst>
              <a:path w="15863257" h="7455731">
                <a:moveTo>
                  <a:pt x="0" y="0"/>
                </a:moveTo>
                <a:lnTo>
                  <a:pt x="15863257" y="0"/>
                </a:lnTo>
                <a:lnTo>
                  <a:pt x="15863257" y="7455731"/>
                </a:lnTo>
                <a:lnTo>
                  <a:pt x="0" y="74557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1442501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34738D1-EF0E-4B6B-9F05-23273347A758}"/>
              </a:ext>
            </a:extLst>
          </p:cNvPr>
          <p:cNvSpPr>
            <a:spLocks noGrp="1"/>
          </p:cNvSpPr>
          <p:nvPr/>
        </p:nvSpPr>
        <p:spPr>
          <a:xfrm>
            <a:off x="8344777" y="2008021"/>
            <a:ext cx="6378086" cy="2593825"/>
          </a:xfrm>
          <a:custGeom>
            <a:avLst/>
            <a:gdLst/>
            <a:ahLst/>
            <a:cxnLst/>
            <a:rect l="l" t="t" r="r" b="b"/>
            <a:pathLst>
              <a:path w="1679825" h="683147">
                <a:moveTo>
                  <a:pt x="36415" y="0"/>
                </a:moveTo>
                <a:lnTo>
                  <a:pt x="1643410" y="0"/>
                </a:lnTo>
                <a:cubicBezTo>
                  <a:pt x="1653068" y="0"/>
                  <a:pt x="1662330" y="3837"/>
                  <a:pt x="1669160" y="10666"/>
                </a:cubicBezTo>
                <a:cubicBezTo>
                  <a:pt x="1675989" y="17495"/>
                  <a:pt x="1679825" y="26757"/>
                  <a:pt x="1679825" y="36415"/>
                </a:cubicBezTo>
                <a:lnTo>
                  <a:pt x="1679825" y="646732"/>
                </a:lnTo>
                <a:cubicBezTo>
                  <a:pt x="1679825" y="656390"/>
                  <a:pt x="1675989" y="665652"/>
                  <a:pt x="1669160" y="672482"/>
                </a:cubicBezTo>
                <a:cubicBezTo>
                  <a:pt x="1662330" y="679311"/>
                  <a:pt x="1653068" y="683147"/>
                  <a:pt x="1643410" y="683147"/>
                </a:cubicBezTo>
                <a:lnTo>
                  <a:pt x="36415" y="683147"/>
                </a:lnTo>
                <a:cubicBezTo>
                  <a:pt x="26757" y="683147"/>
                  <a:pt x="17495" y="679311"/>
                  <a:pt x="10666" y="672482"/>
                </a:cubicBezTo>
                <a:cubicBezTo>
                  <a:pt x="3837" y="665652"/>
                  <a:pt x="0" y="656390"/>
                  <a:pt x="0" y="646732"/>
                </a:cubicBezTo>
                <a:lnTo>
                  <a:pt x="0" y="36415"/>
                </a:lnTo>
                <a:cubicBezTo>
                  <a:pt x="0" y="26757"/>
                  <a:pt x="3837" y="17495"/>
                  <a:pt x="10666" y="10666"/>
                </a:cubicBezTo>
                <a:cubicBezTo>
                  <a:pt x="17495" y="3837"/>
                  <a:pt x="26757" y="0"/>
                  <a:pt x="36415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421774A-3F10-43E0-8F89-401462C429D9}"/>
              </a:ext>
            </a:extLst>
          </p:cNvPr>
          <p:cNvSpPr>
            <a:spLocks noGrp="1"/>
          </p:cNvSpPr>
          <p:nvPr/>
        </p:nvSpPr>
        <p:spPr>
          <a:xfrm>
            <a:off x="8344777" y="1863360"/>
            <a:ext cx="6378086" cy="2738486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B630401-0966-4488-9E64-D8DC9DDE7C57}"/>
              </a:ext>
            </a:extLst>
          </p:cNvPr>
          <p:cNvSpPr>
            <a:spLocks noGrp="1"/>
          </p:cNvSpPr>
          <p:nvPr/>
        </p:nvSpPr>
        <p:spPr>
          <a:xfrm>
            <a:off x="5730498" y="5202737"/>
            <a:ext cx="6133926" cy="4675351"/>
          </a:xfrm>
          <a:custGeom>
            <a:avLst/>
            <a:gdLst/>
            <a:ahLst/>
            <a:cxnLst/>
            <a:rect l="l" t="t" r="r" b="b"/>
            <a:pathLst>
              <a:path w="1591083" h="1212742">
                <a:moveTo>
                  <a:pt x="37864" y="0"/>
                </a:moveTo>
                <a:lnTo>
                  <a:pt x="1553219" y="0"/>
                </a:lnTo>
                <a:cubicBezTo>
                  <a:pt x="1574131" y="0"/>
                  <a:pt x="1591083" y="16952"/>
                  <a:pt x="1591083" y="37864"/>
                </a:cubicBezTo>
                <a:lnTo>
                  <a:pt x="1591083" y="1174878"/>
                </a:lnTo>
                <a:cubicBezTo>
                  <a:pt x="1591083" y="1195790"/>
                  <a:pt x="1574131" y="1212742"/>
                  <a:pt x="1553219" y="1212742"/>
                </a:cubicBezTo>
                <a:lnTo>
                  <a:pt x="37864" y="1212742"/>
                </a:lnTo>
                <a:cubicBezTo>
                  <a:pt x="27822" y="1212742"/>
                  <a:pt x="18191" y="1208753"/>
                  <a:pt x="11090" y="1201652"/>
                </a:cubicBezTo>
                <a:cubicBezTo>
                  <a:pt x="3989" y="1194551"/>
                  <a:pt x="0" y="1184920"/>
                  <a:pt x="0" y="1174878"/>
                </a:cubicBezTo>
                <a:lnTo>
                  <a:pt x="0" y="37864"/>
                </a:lnTo>
                <a:cubicBezTo>
                  <a:pt x="0" y="16952"/>
                  <a:pt x="16952" y="0"/>
                  <a:pt x="37864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A89310D-DA2F-41F0-A3A9-5094F1E6706D}"/>
              </a:ext>
            </a:extLst>
          </p:cNvPr>
          <p:cNvSpPr>
            <a:spLocks noGrp="1"/>
          </p:cNvSpPr>
          <p:nvPr/>
        </p:nvSpPr>
        <p:spPr>
          <a:xfrm>
            <a:off x="5730498" y="5055855"/>
            <a:ext cx="6133926" cy="4822233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9198400-D786-4B43-AB38-CFEA6AB62FC4}"/>
              </a:ext>
            </a:extLst>
          </p:cNvPr>
          <p:cNvSpPr>
            <a:spLocks noGrp="1"/>
          </p:cNvSpPr>
          <p:nvPr/>
        </p:nvSpPr>
        <p:spPr>
          <a:xfrm>
            <a:off x="1342950" y="2008021"/>
            <a:ext cx="6230750" cy="3739696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3"/>
            <a:stretch>
              <a:fillRect l="-2533" r="-2533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32C540E-D296-4323-8CF4-888F23844B39}"/>
              </a:ext>
            </a:extLst>
          </p:cNvPr>
          <p:cNvSpPr>
            <a:spLocks noGrp="1"/>
          </p:cNvSpPr>
          <p:nvPr/>
        </p:nvSpPr>
        <p:spPr>
          <a:xfrm>
            <a:off x="12223717" y="5202737"/>
            <a:ext cx="5275922" cy="4675351"/>
          </a:xfrm>
          <a:custGeom>
            <a:avLst/>
            <a:gdLst/>
            <a:ahLst/>
            <a:cxnLst/>
            <a:rect l="l" t="t" r="r" b="b"/>
            <a:pathLst>
              <a:path w="1368525" h="1212742">
                <a:moveTo>
                  <a:pt x="44022" y="0"/>
                </a:moveTo>
                <a:lnTo>
                  <a:pt x="1324503" y="0"/>
                </a:lnTo>
                <a:cubicBezTo>
                  <a:pt x="1336178" y="0"/>
                  <a:pt x="1347375" y="4638"/>
                  <a:pt x="1355631" y="12894"/>
                </a:cubicBezTo>
                <a:cubicBezTo>
                  <a:pt x="1363887" y="21150"/>
                  <a:pt x="1368525" y="32347"/>
                  <a:pt x="1368525" y="44022"/>
                </a:cubicBezTo>
                <a:lnTo>
                  <a:pt x="1368525" y="1168720"/>
                </a:lnTo>
                <a:cubicBezTo>
                  <a:pt x="1368525" y="1193033"/>
                  <a:pt x="1348815" y="1212742"/>
                  <a:pt x="1324503" y="1212742"/>
                </a:cubicBezTo>
                <a:lnTo>
                  <a:pt x="44022" y="1212742"/>
                </a:lnTo>
                <a:cubicBezTo>
                  <a:pt x="32347" y="1212742"/>
                  <a:pt x="21150" y="1208104"/>
                  <a:pt x="12894" y="1199848"/>
                </a:cubicBezTo>
                <a:cubicBezTo>
                  <a:pt x="4638" y="1191593"/>
                  <a:pt x="0" y="1180395"/>
                  <a:pt x="0" y="1168720"/>
                </a:cubicBezTo>
                <a:lnTo>
                  <a:pt x="0" y="44022"/>
                </a:lnTo>
                <a:cubicBezTo>
                  <a:pt x="0" y="32347"/>
                  <a:pt x="4638" y="21150"/>
                  <a:pt x="12894" y="12894"/>
                </a:cubicBezTo>
                <a:cubicBezTo>
                  <a:pt x="21150" y="4638"/>
                  <a:pt x="32347" y="0"/>
                  <a:pt x="44022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4A932E6-FF49-47F6-9C49-25EE018294B1}"/>
              </a:ext>
            </a:extLst>
          </p:cNvPr>
          <p:cNvSpPr>
            <a:spLocks noGrp="1"/>
          </p:cNvSpPr>
          <p:nvPr/>
        </p:nvSpPr>
        <p:spPr>
          <a:xfrm>
            <a:off x="12223717" y="5055855"/>
            <a:ext cx="5275922" cy="4822233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440585C-A3E0-435A-B76D-1C2309F043E1}"/>
              </a:ext>
            </a:extLst>
          </p:cNvPr>
          <p:cNvSpPr>
            <a:spLocks noGrp="1"/>
          </p:cNvSpPr>
          <p:nvPr/>
        </p:nvSpPr>
        <p:spPr>
          <a:xfrm>
            <a:off x="2663243" y="7540412"/>
            <a:ext cx="1508414" cy="1240670"/>
          </a:xfrm>
          <a:custGeom>
            <a:avLst/>
            <a:gdLst/>
            <a:ahLst/>
            <a:cxnLst/>
            <a:rect l="l" t="t" r="r" b="b"/>
            <a:pathLst>
              <a:path w="1508414" h="1240670">
                <a:moveTo>
                  <a:pt x="0" y="0"/>
                </a:moveTo>
                <a:lnTo>
                  <a:pt x="1508414" y="0"/>
                </a:lnTo>
                <a:lnTo>
                  <a:pt x="1508414" y="1240671"/>
                </a:lnTo>
                <a:lnTo>
                  <a:pt x="0" y="1240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7CB78BA-AB78-4EF1-842C-E6A5C710FE08}"/>
              </a:ext>
            </a:extLst>
          </p:cNvPr>
          <p:cNvSpPr>
            <a:spLocks noGrp="1"/>
          </p:cNvSpPr>
          <p:nvPr/>
        </p:nvSpPr>
        <p:spPr>
          <a:xfrm>
            <a:off x="1028700" y="452755"/>
            <a:ext cx="14078405" cy="12280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600"/>
              </a:lnSpc>
              <a:buNone/>
            </a:pPr>
            <a:r>
              <a:rPr sz="8600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Informed Search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EDA3BAE-7FED-43CA-BFB1-3AE294871FB5}"/>
              </a:ext>
            </a:extLst>
          </p:cNvPr>
          <p:cNvSpPr>
            <a:spLocks noGrp="1"/>
          </p:cNvSpPr>
          <p:nvPr/>
        </p:nvSpPr>
        <p:spPr>
          <a:xfrm>
            <a:off x="8648410" y="2321106"/>
            <a:ext cx="5770820" cy="255778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919"/>
              </a:lnSpc>
              <a:buNone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Unlike blind search, it uses additional knowledge about the problem to guide exploration toward the goal</a:t>
            </a:r>
          </a:p>
          <a:p>
            <a:pPr algn="l">
              <a:lnSpc>
                <a:spcPts val="3919"/>
              </a:lnSpc>
              <a:buNone/>
            </a:pPr>
            <a:endParaRPr sz="27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344C4BC-5564-4372-BDED-C20AF668D23A}"/>
              </a:ext>
            </a:extLst>
          </p:cNvPr>
          <p:cNvSpPr>
            <a:spLocks noGrp="1"/>
          </p:cNvSpPr>
          <p:nvPr/>
        </p:nvSpPr>
        <p:spPr>
          <a:xfrm>
            <a:off x="6111318" y="5426558"/>
            <a:ext cx="5753106" cy="413783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980"/>
              </a:lnSpc>
              <a:buNone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Encodes knowledge in a function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heuristic does not guarantee the correct path; it is an estimate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good heuristic dramatically reduces the number of nodes explored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6B247F4-E98E-42F2-9AAB-6B503FA810C9}"/>
              </a:ext>
            </a:extLst>
          </p:cNvPr>
          <p:cNvSpPr>
            <a:spLocks noGrp="1"/>
          </p:cNvSpPr>
          <p:nvPr/>
        </p:nvSpPr>
        <p:spPr>
          <a:xfrm>
            <a:off x="1879257" y="6191506"/>
            <a:ext cx="5158135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 b="1">
                <a:solidFill>
                  <a:srgbClr val="1B1B1B"/>
                </a:solidFill>
                <a:latin typeface="Telegraf Bold"/>
                <a:ea typeface="Telegraf Bold"/>
                <a:cs typeface="Telegraf Bold"/>
              </a:rPr>
              <a:t>Heuristic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15E2DB6-F3A4-4660-93DA-71D4053D84A7}"/>
              </a:ext>
            </a:extLst>
          </p:cNvPr>
          <p:cNvSpPr>
            <a:spLocks noGrp="1"/>
          </p:cNvSpPr>
          <p:nvPr/>
        </p:nvSpPr>
        <p:spPr>
          <a:xfrm>
            <a:off x="12223717" y="5371798"/>
            <a:ext cx="5021913" cy="427055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700156" indent="-350078" algn="l">
              <a:lnSpc>
                <a:spcPts val="4540"/>
              </a:lnSpc>
              <a:buFont typeface="Arial"/>
              <a:buChar char="•"/>
            </a:pPr>
            <a:r>
              <a:rPr sz="32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h(n) = estimated cost from node n to the goal</a:t>
            </a:r>
          </a:p>
          <a:p>
            <a:pPr marL="700156" indent="-350078" algn="l">
              <a:lnSpc>
                <a:spcPts val="4540"/>
              </a:lnSpc>
              <a:buFont typeface="Arial"/>
              <a:buChar char="•"/>
            </a:pPr>
            <a:r>
              <a:rPr sz="32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h(n) = 0 if n is the goal node</a:t>
            </a:r>
          </a:p>
          <a:p>
            <a:pPr marL="700156" indent="-350078" algn="l">
              <a:lnSpc>
                <a:spcPts val="4540"/>
              </a:lnSpc>
              <a:buFont typeface="Arial"/>
              <a:buChar char="•"/>
            </a:pPr>
            <a:r>
              <a:rPr sz="32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h(n) ≥ 0 always</a:t>
            </a:r>
          </a:p>
          <a:p>
            <a:pPr algn="l">
              <a:lnSpc>
                <a:spcPts val="4540"/>
              </a:lnSpc>
              <a:buNone/>
            </a:pPr>
            <a:endParaRPr sz="3242" b="1">
              <a:solidFill>
                <a:srgbClr val="1B1B1B"/>
              </a:solidFill>
              <a:latin typeface="Helvetica World Bold"/>
              <a:ea typeface="Helvetica World Bold"/>
              <a:cs typeface="Helvetica World Bold"/>
            </a:endParaRPr>
          </a:p>
        </p:txBody>
      </p:sp>
    </p:spTree>
    <p:extLst>
      <p:ext uri="{BB962C8B-B14F-4D97-AF65-F5344CB8AC3E}">
        <p14:creationId xmlns:p14="http://schemas.microsoft.com/office/powerpoint/2010/main" val="1953209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19FB385-24DB-46B1-AA10-C7AC128CE3D1}"/>
              </a:ext>
            </a:extLst>
          </p:cNvPr>
          <p:cNvSpPr>
            <a:spLocks noGrp="1"/>
          </p:cNvSpPr>
          <p:nvPr/>
        </p:nvSpPr>
        <p:spPr>
          <a:xfrm>
            <a:off x="846905" y="1743557"/>
            <a:ext cx="8297095" cy="5972813"/>
          </a:xfrm>
          <a:custGeom>
            <a:avLst/>
            <a:gdLst/>
            <a:ahLst/>
            <a:cxnLst/>
            <a:rect l="l" t="t" r="r" b="b"/>
            <a:pathLst>
              <a:path w="2152189" h="1549292">
                <a:moveTo>
                  <a:pt x="27993" y="0"/>
                </a:moveTo>
                <a:lnTo>
                  <a:pt x="2124196" y="0"/>
                </a:lnTo>
                <a:cubicBezTo>
                  <a:pt x="2131620" y="0"/>
                  <a:pt x="2138740" y="2949"/>
                  <a:pt x="2143990" y="8199"/>
                </a:cubicBezTo>
                <a:cubicBezTo>
                  <a:pt x="2149240" y="13448"/>
                  <a:pt x="2152189" y="20569"/>
                  <a:pt x="2152189" y="27993"/>
                </a:cubicBezTo>
                <a:lnTo>
                  <a:pt x="2152189" y="1521299"/>
                </a:lnTo>
                <a:cubicBezTo>
                  <a:pt x="2152189" y="1528723"/>
                  <a:pt x="2149240" y="1535843"/>
                  <a:pt x="2143990" y="1541093"/>
                </a:cubicBezTo>
                <a:cubicBezTo>
                  <a:pt x="2138740" y="1546343"/>
                  <a:pt x="2131620" y="1549292"/>
                  <a:pt x="2124196" y="1549292"/>
                </a:cubicBezTo>
                <a:lnTo>
                  <a:pt x="27993" y="1549292"/>
                </a:lnTo>
                <a:cubicBezTo>
                  <a:pt x="20569" y="1549292"/>
                  <a:pt x="13448" y="1546343"/>
                  <a:pt x="8199" y="1541093"/>
                </a:cubicBezTo>
                <a:cubicBezTo>
                  <a:pt x="2949" y="1535843"/>
                  <a:pt x="0" y="1528723"/>
                  <a:pt x="0" y="1521299"/>
                </a:cubicBezTo>
                <a:lnTo>
                  <a:pt x="0" y="27993"/>
                </a:lnTo>
                <a:cubicBezTo>
                  <a:pt x="0" y="20569"/>
                  <a:pt x="2949" y="13448"/>
                  <a:pt x="8199" y="8199"/>
                </a:cubicBezTo>
                <a:cubicBezTo>
                  <a:pt x="13448" y="2949"/>
                  <a:pt x="20569" y="0"/>
                  <a:pt x="27993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8ED0659-8D0C-422C-AB7B-6A5AB2C5E20B}"/>
              </a:ext>
            </a:extLst>
          </p:cNvPr>
          <p:cNvSpPr>
            <a:spLocks noGrp="1"/>
          </p:cNvSpPr>
          <p:nvPr/>
        </p:nvSpPr>
        <p:spPr>
          <a:xfrm>
            <a:off x="846905" y="1596675"/>
            <a:ext cx="8297095" cy="611969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FA823C8-000F-48AC-A100-BD84D41A41D0}"/>
              </a:ext>
            </a:extLst>
          </p:cNvPr>
          <p:cNvSpPr>
            <a:spLocks noGrp="1"/>
          </p:cNvSpPr>
          <p:nvPr/>
        </p:nvSpPr>
        <p:spPr>
          <a:xfrm>
            <a:off x="9341454" y="1440188"/>
            <a:ext cx="8591188" cy="7860033"/>
          </a:xfrm>
          <a:custGeom>
            <a:avLst/>
            <a:gdLst/>
            <a:ahLst/>
            <a:cxnLst/>
            <a:rect l="l" t="t" r="r" b="b"/>
            <a:pathLst>
              <a:path w="8591188" h="7860033">
                <a:moveTo>
                  <a:pt x="0" y="0"/>
                </a:moveTo>
                <a:lnTo>
                  <a:pt x="8591187" y="0"/>
                </a:lnTo>
                <a:lnTo>
                  <a:pt x="8591187" y="7860033"/>
                </a:lnTo>
                <a:lnTo>
                  <a:pt x="0" y="7860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415" r="-982" b="-10815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43BFE1A-2FAC-463E-BEA3-D1E88F13F965}"/>
              </a:ext>
            </a:extLst>
          </p:cNvPr>
          <p:cNvSpPr>
            <a:spLocks noGrp="1"/>
          </p:cNvSpPr>
          <p:nvPr/>
        </p:nvSpPr>
        <p:spPr>
          <a:xfrm>
            <a:off x="1028700" y="424180"/>
            <a:ext cx="8115300" cy="10160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000"/>
              </a:lnSpc>
              <a:buNone/>
            </a:pPr>
            <a:r>
              <a:rPr sz="7000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Best-First Search 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B4BA3D7-3EDB-43A3-8D92-2582C20DE4A5}"/>
              </a:ext>
            </a:extLst>
          </p:cNvPr>
          <p:cNvSpPr>
            <a:spLocks noGrp="1"/>
          </p:cNvSpPr>
          <p:nvPr/>
        </p:nvSpPr>
        <p:spPr>
          <a:xfrm>
            <a:off x="997401" y="1949757"/>
            <a:ext cx="7996103" cy="611923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980"/>
              </a:lnSpc>
              <a:buNone/>
            </a:pPr>
            <a:r>
              <a:rPr sz="26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Always expands the node that appears closest to the goal according to h(n)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6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Data structure: priority queue ordered by h(n)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6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 is greedy—it makes the locally optimal decision at each step without considering accumulated cost</a:t>
            </a:r>
          </a:p>
          <a:p>
            <a:pPr algn="l">
              <a:lnSpc>
                <a:spcPts val="3980"/>
              </a:lnSpc>
              <a:buNone/>
            </a:pPr>
            <a:r>
              <a:rPr sz="26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Properties: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6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Complete:</a:t>
            </a:r>
            <a:r>
              <a:rPr sz="26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only when repeated states are controlled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6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Not optimal:</a:t>
            </a:r>
            <a:r>
              <a:rPr sz="26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does not guarantee the lowest-cost path</a:t>
            </a:r>
          </a:p>
          <a:p>
            <a:pPr algn="l">
              <a:lnSpc>
                <a:spcPts val="3980"/>
              </a:lnSpc>
              <a:buNone/>
            </a:pPr>
            <a:endParaRPr sz="2600" dirty="0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3F4F077-1375-4DB1-9775-2648C368B934}"/>
              </a:ext>
            </a:extLst>
          </p:cNvPr>
          <p:cNvSpPr>
            <a:spLocks noGrp="1"/>
          </p:cNvSpPr>
          <p:nvPr/>
        </p:nvSpPr>
        <p:spPr>
          <a:xfrm>
            <a:off x="846905" y="8021170"/>
            <a:ext cx="7163859" cy="1541930"/>
          </a:xfrm>
          <a:custGeom>
            <a:avLst/>
            <a:gdLst/>
            <a:ahLst/>
            <a:cxnLst/>
            <a:rect l="l" t="t" r="r" b="b"/>
            <a:pathLst>
              <a:path w="1886778" h="406105">
                <a:moveTo>
                  <a:pt x="32421" y="0"/>
                </a:moveTo>
                <a:lnTo>
                  <a:pt x="1854357" y="0"/>
                </a:lnTo>
                <a:cubicBezTo>
                  <a:pt x="1862955" y="0"/>
                  <a:pt x="1871202" y="3416"/>
                  <a:pt x="1877282" y="9496"/>
                </a:cubicBezTo>
                <a:cubicBezTo>
                  <a:pt x="1883362" y="15576"/>
                  <a:pt x="1886778" y="23822"/>
                  <a:pt x="1886778" y="32421"/>
                </a:cubicBezTo>
                <a:lnTo>
                  <a:pt x="1886778" y="373684"/>
                </a:lnTo>
                <a:cubicBezTo>
                  <a:pt x="1886778" y="391590"/>
                  <a:pt x="1872262" y="406105"/>
                  <a:pt x="1854357" y="406105"/>
                </a:cubicBezTo>
                <a:lnTo>
                  <a:pt x="32421" y="406105"/>
                </a:lnTo>
                <a:cubicBezTo>
                  <a:pt x="14515" y="406105"/>
                  <a:pt x="0" y="391590"/>
                  <a:pt x="0" y="373684"/>
                </a:cubicBezTo>
                <a:lnTo>
                  <a:pt x="0" y="32421"/>
                </a:lnTo>
                <a:cubicBezTo>
                  <a:pt x="0" y="14515"/>
                  <a:pt x="14515" y="0"/>
                  <a:pt x="32421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0E2C0F3-4545-4E2C-ABB3-93EBB652F8D1}"/>
              </a:ext>
            </a:extLst>
          </p:cNvPr>
          <p:cNvSpPr>
            <a:spLocks noGrp="1"/>
          </p:cNvSpPr>
          <p:nvPr/>
        </p:nvSpPr>
        <p:spPr>
          <a:xfrm>
            <a:off x="846905" y="7876510"/>
            <a:ext cx="7163859" cy="168659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71F0415-F815-47A3-A6C4-75B4817E8419}"/>
              </a:ext>
            </a:extLst>
          </p:cNvPr>
          <p:cNvSpPr>
            <a:spLocks noGrp="1"/>
          </p:cNvSpPr>
          <p:nvPr/>
        </p:nvSpPr>
        <p:spPr>
          <a:xfrm>
            <a:off x="1212486" y="8233734"/>
            <a:ext cx="6798278" cy="10121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59"/>
              </a:lnSpc>
              <a:buNone/>
            </a:pP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 may become trapped in suboptimal paths when the heuristic is misleading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BBF0FFE-B33C-4271-A1B9-11B91EC4BAEC}"/>
              </a:ext>
            </a:extLst>
          </p:cNvPr>
          <p:cNvSpPr>
            <a:spLocks noGrp="1"/>
          </p:cNvSpPr>
          <p:nvPr/>
        </p:nvSpPr>
        <p:spPr>
          <a:xfrm>
            <a:off x="7394733" y="8228466"/>
            <a:ext cx="616031" cy="563669"/>
          </a:xfrm>
          <a:custGeom>
            <a:avLst/>
            <a:gdLst/>
            <a:ahLst/>
            <a:cxnLst/>
            <a:rect l="l" t="t" r="r" b="b"/>
            <a:pathLst>
              <a:path w="616031" h="563669">
                <a:moveTo>
                  <a:pt x="0" y="0"/>
                </a:moveTo>
                <a:lnTo>
                  <a:pt x="616031" y="0"/>
                </a:lnTo>
                <a:lnTo>
                  <a:pt x="616031" y="563669"/>
                </a:lnTo>
                <a:lnTo>
                  <a:pt x="0" y="5636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114017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1F93D2D-18BC-4E33-AFA1-1D62A5713B5A}"/>
              </a:ext>
            </a:extLst>
          </p:cNvPr>
          <p:cNvSpPr>
            <a:spLocks noGrp="1"/>
          </p:cNvSpPr>
          <p:nvPr/>
        </p:nvSpPr>
        <p:spPr>
          <a:xfrm>
            <a:off x="3058743" y="189805"/>
            <a:ext cx="13036040" cy="9907391"/>
          </a:xfrm>
          <a:custGeom>
            <a:avLst/>
            <a:gdLst/>
            <a:ahLst/>
            <a:cxnLst/>
            <a:rect l="l" t="t" r="r" b="b"/>
            <a:pathLst>
              <a:path w="13036040" h="9907391">
                <a:moveTo>
                  <a:pt x="0" y="0"/>
                </a:moveTo>
                <a:lnTo>
                  <a:pt x="13036041" y="0"/>
                </a:lnTo>
                <a:lnTo>
                  <a:pt x="13036041" y="9907390"/>
                </a:lnTo>
                <a:lnTo>
                  <a:pt x="0" y="9907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1830322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25ED593-E0A4-434E-820F-044C05941157}"/>
              </a:ext>
            </a:extLst>
          </p:cNvPr>
          <p:cNvSpPr>
            <a:spLocks noGrp="1"/>
          </p:cNvSpPr>
          <p:nvPr/>
        </p:nvSpPr>
        <p:spPr>
          <a:xfrm>
            <a:off x="846905" y="1743557"/>
            <a:ext cx="8146599" cy="4220576"/>
          </a:xfrm>
          <a:custGeom>
            <a:avLst/>
            <a:gdLst/>
            <a:ahLst/>
            <a:cxnLst/>
            <a:rect l="l" t="t" r="r" b="b"/>
            <a:pathLst>
              <a:path w="2113152" h="1094778">
                <a:moveTo>
                  <a:pt x="28510" y="0"/>
                </a:moveTo>
                <a:lnTo>
                  <a:pt x="2084642" y="0"/>
                </a:lnTo>
                <a:cubicBezTo>
                  <a:pt x="2100387" y="0"/>
                  <a:pt x="2113152" y="12764"/>
                  <a:pt x="2113152" y="28510"/>
                </a:cubicBezTo>
                <a:lnTo>
                  <a:pt x="2113152" y="1066268"/>
                </a:lnTo>
                <a:cubicBezTo>
                  <a:pt x="2113152" y="1082014"/>
                  <a:pt x="2100387" y="1094778"/>
                  <a:pt x="2084642" y="1094778"/>
                </a:cubicBezTo>
                <a:lnTo>
                  <a:pt x="28510" y="1094778"/>
                </a:lnTo>
                <a:cubicBezTo>
                  <a:pt x="12764" y="1094778"/>
                  <a:pt x="0" y="1082014"/>
                  <a:pt x="0" y="1066268"/>
                </a:cubicBezTo>
                <a:lnTo>
                  <a:pt x="0" y="28510"/>
                </a:lnTo>
                <a:cubicBezTo>
                  <a:pt x="0" y="12764"/>
                  <a:pt x="12764" y="0"/>
                  <a:pt x="2851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C26ABF7-B0E6-4ECD-85EC-B243F21C71FD}"/>
              </a:ext>
            </a:extLst>
          </p:cNvPr>
          <p:cNvSpPr>
            <a:spLocks noGrp="1"/>
          </p:cNvSpPr>
          <p:nvPr/>
        </p:nvSpPr>
        <p:spPr>
          <a:xfrm>
            <a:off x="846905" y="1596675"/>
            <a:ext cx="8146599" cy="436745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E315454-A8CD-4C09-9F85-692A7A9BDF76}"/>
              </a:ext>
            </a:extLst>
          </p:cNvPr>
          <p:cNvSpPr>
            <a:spLocks noGrp="1"/>
          </p:cNvSpPr>
          <p:nvPr/>
        </p:nvSpPr>
        <p:spPr>
          <a:xfrm>
            <a:off x="846905" y="6268934"/>
            <a:ext cx="11348843" cy="3555519"/>
          </a:xfrm>
          <a:custGeom>
            <a:avLst/>
            <a:gdLst/>
            <a:ahLst/>
            <a:cxnLst/>
            <a:rect l="l" t="t" r="r" b="b"/>
            <a:pathLst>
              <a:path w="2988996" h="936433">
                <a:moveTo>
                  <a:pt x="20465" y="0"/>
                </a:moveTo>
                <a:lnTo>
                  <a:pt x="2968530" y="0"/>
                </a:lnTo>
                <a:cubicBezTo>
                  <a:pt x="2973958" y="0"/>
                  <a:pt x="2979164" y="2156"/>
                  <a:pt x="2983001" y="5994"/>
                </a:cubicBezTo>
                <a:cubicBezTo>
                  <a:pt x="2986840" y="9832"/>
                  <a:pt x="2988996" y="15038"/>
                  <a:pt x="2988996" y="20465"/>
                </a:cubicBezTo>
                <a:lnTo>
                  <a:pt x="2988996" y="915968"/>
                </a:lnTo>
                <a:cubicBezTo>
                  <a:pt x="2988996" y="927270"/>
                  <a:pt x="2979833" y="936433"/>
                  <a:pt x="2968530" y="936433"/>
                </a:cubicBezTo>
                <a:lnTo>
                  <a:pt x="20465" y="936433"/>
                </a:lnTo>
                <a:cubicBezTo>
                  <a:pt x="15038" y="936433"/>
                  <a:pt x="9832" y="934277"/>
                  <a:pt x="5994" y="930439"/>
                </a:cubicBezTo>
                <a:cubicBezTo>
                  <a:pt x="2156" y="926601"/>
                  <a:pt x="0" y="921395"/>
                  <a:pt x="0" y="915968"/>
                </a:cubicBezTo>
                <a:lnTo>
                  <a:pt x="0" y="20465"/>
                </a:lnTo>
                <a:cubicBezTo>
                  <a:pt x="0" y="15038"/>
                  <a:pt x="2156" y="9832"/>
                  <a:pt x="5994" y="5994"/>
                </a:cubicBezTo>
                <a:cubicBezTo>
                  <a:pt x="9832" y="2156"/>
                  <a:pt x="15038" y="0"/>
                  <a:pt x="20465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BDDE40B-4451-4B74-947D-0E03B2C5D27E}"/>
              </a:ext>
            </a:extLst>
          </p:cNvPr>
          <p:cNvSpPr>
            <a:spLocks noGrp="1"/>
          </p:cNvSpPr>
          <p:nvPr/>
        </p:nvSpPr>
        <p:spPr>
          <a:xfrm>
            <a:off x="846905" y="6124274"/>
            <a:ext cx="11348843" cy="3700179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E0453ED-9629-4861-8CF9-C28128A35AC0}"/>
              </a:ext>
            </a:extLst>
          </p:cNvPr>
          <p:cNvSpPr>
            <a:spLocks noGrp="1"/>
          </p:cNvSpPr>
          <p:nvPr/>
        </p:nvSpPr>
        <p:spPr>
          <a:xfrm>
            <a:off x="10341675" y="1108375"/>
            <a:ext cx="5550943" cy="1270365"/>
          </a:xfrm>
          <a:custGeom>
            <a:avLst/>
            <a:gdLst/>
            <a:ahLst/>
            <a:cxnLst/>
            <a:rect l="l" t="t" r="r" b="b"/>
            <a:pathLst>
              <a:path w="5550943" h="1270365">
                <a:moveTo>
                  <a:pt x="0" y="0"/>
                </a:moveTo>
                <a:lnTo>
                  <a:pt x="5550944" y="0"/>
                </a:lnTo>
                <a:lnTo>
                  <a:pt x="5550944" y="1270365"/>
                </a:lnTo>
                <a:lnTo>
                  <a:pt x="0" y="1270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8448270-805B-4463-8D8A-4C35298D12CD}"/>
              </a:ext>
            </a:extLst>
          </p:cNvPr>
          <p:cNvSpPr>
            <a:spLocks noGrp="1"/>
          </p:cNvSpPr>
          <p:nvPr/>
        </p:nvSpPr>
        <p:spPr>
          <a:xfrm>
            <a:off x="1028700" y="424180"/>
            <a:ext cx="8115300" cy="10160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000"/>
              </a:lnSpc>
              <a:buNone/>
            </a:pPr>
            <a:r>
              <a:rPr sz="7000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A*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8BE696B-C434-400D-923B-35D6B795275B}"/>
              </a:ext>
            </a:extLst>
          </p:cNvPr>
          <p:cNvSpPr>
            <a:spLocks noGrp="1"/>
          </p:cNvSpPr>
          <p:nvPr/>
        </p:nvSpPr>
        <p:spPr>
          <a:xfrm>
            <a:off x="1147897" y="2008764"/>
            <a:ext cx="7996103" cy="363301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980"/>
              </a:lnSpc>
              <a:buNone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Always expands the node with the lowest f(n)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Data structure: priority queue ordered by f(n)</a:t>
            </a:r>
          </a:p>
          <a:p>
            <a:pPr algn="l">
              <a:lnSpc>
                <a:spcPts val="3980"/>
              </a:lnSpc>
              <a:buNone/>
            </a:pPr>
            <a:endParaRPr sz="2842" b="1">
              <a:solidFill>
                <a:srgbClr val="1B1B1B"/>
              </a:solidFill>
              <a:latin typeface="Helvetica World Bold"/>
              <a:ea typeface="Helvetica World Bold"/>
              <a:cs typeface="Helvetica World Bold"/>
            </a:endParaRPr>
          </a:p>
          <a:p>
            <a:pPr algn="l">
              <a:lnSpc>
                <a:spcPts val="3980"/>
              </a:lnSpc>
              <a:buNone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Intuition:</a:t>
            </a: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it considers not only what appears close to the goal (h), but also the best estimated total cost (h + g)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9351204-5B8F-4C26-A989-E0BCF2CCA7B1}"/>
              </a:ext>
            </a:extLst>
          </p:cNvPr>
          <p:cNvSpPr>
            <a:spLocks noGrp="1"/>
          </p:cNvSpPr>
          <p:nvPr/>
        </p:nvSpPr>
        <p:spPr>
          <a:xfrm>
            <a:off x="9600955" y="2655765"/>
            <a:ext cx="8146599" cy="3215492"/>
          </a:xfrm>
          <a:custGeom>
            <a:avLst/>
            <a:gdLst/>
            <a:ahLst/>
            <a:cxnLst/>
            <a:rect l="l" t="t" r="r" b="b"/>
            <a:pathLst>
              <a:path w="2113152" h="834069">
                <a:moveTo>
                  <a:pt x="28510" y="0"/>
                </a:moveTo>
                <a:lnTo>
                  <a:pt x="2084642" y="0"/>
                </a:lnTo>
                <a:cubicBezTo>
                  <a:pt x="2100387" y="0"/>
                  <a:pt x="2113152" y="12764"/>
                  <a:pt x="2113152" y="28510"/>
                </a:cubicBezTo>
                <a:lnTo>
                  <a:pt x="2113152" y="805559"/>
                </a:lnTo>
                <a:cubicBezTo>
                  <a:pt x="2113152" y="821304"/>
                  <a:pt x="2100387" y="834069"/>
                  <a:pt x="2084642" y="834069"/>
                </a:cubicBezTo>
                <a:lnTo>
                  <a:pt x="28510" y="834069"/>
                </a:lnTo>
                <a:cubicBezTo>
                  <a:pt x="12764" y="834069"/>
                  <a:pt x="0" y="821304"/>
                  <a:pt x="0" y="805559"/>
                </a:cubicBezTo>
                <a:lnTo>
                  <a:pt x="0" y="28510"/>
                </a:lnTo>
                <a:cubicBezTo>
                  <a:pt x="0" y="12764"/>
                  <a:pt x="12764" y="0"/>
                  <a:pt x="2851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6D300AD-FB7D-4C71-B1F3-C7CA50990557}"/>
              </a:ext>
            </a:extLst>
          </p:cNvPr>
          <p:cNvSpPr>
            <a:spLocks noGrp="1"/>
          </p:cNvSpPr>
          <p:nvPr/>
        </p:nvSpPr>
        <p:spPr>
          <a:xfrm>
            <a:off x="9600955" y="2508883"/>
            <a:ext cx="8146599" cy="3362374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E31F3E0-53BA-4BBB-AAC6-5C4BAC120CB4}"/>
              </a:ext>
            </a:extLst>
          </p:cNvPr>
          <p:cNvSpPr>
            <a:spLocks noGrp="1"/>
          </p:cNvSpPr>
          <p:nvPr/>
        </p:nvSpPr>
        <p:spPr>
          <a:xfrm>
            <a:off x="9831824" y="2805275"/>
            <a:ext cx="8172844" cy="316628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980"/>
              </a:lnSpc>
              <a:buNone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g(n) — </a:t>
            </a: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actual accumulated cost from the start to n</a:t>
            </a:r>
          </a:p>
          <a:p>
            <a:pPr algn="l">
              <a:lnSpc>
                <a:spcPts val="3980"/>
              </a:lnSpc>
              <a:buNone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h(n) — heuristic estimate of the lowest cost from n to the goal.</a:t>
            </a:r>
          </a:p>
          <a:p>
            <a:pPr algn="l">
              <a:lnSpc>
                <a:spcPts val="3980"/>
              </a:lnSpc>
              <a:buNone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f(n) = g(n) + h(n) — </a:t>
            </a: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estimated total cost of the path through n</a:t>
            </a:r>
          </a:p>
          <a:p>
            <a:pPr algn="l">
              <a:lnSpc>
                <a:spcPts val="3980"/>
              </a:lnSpc>
              <a:buNone/>
            </a:pPr>
            <a:endParaRPr sz="2842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A9D900D-5D93-43B9-8CD2-9316AA0846BB}"/>
              </a:ext>
            </a:extLst>
          </p:cNvPr>
          <p:cNvSpPr>
            <a:spLocks noGrp="1"/>
          </p:cNvSpPr>
          <p:nvPr/>
        </p:nvSpPr>
        <p:spPr>
          <a:xfrm>
            <a:off x="1028700" y="6400189"/>
            <a:ext cx="11689202" cy="367111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980"/>
              </a:lnSpc>
              <a:buNone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Properties: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Complete:</a:t>
            </a: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always finds a solution if one exists and h is admissible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Optimal:</a:t>
            </a: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guarantees the lowest-cost path if h is admissible/consistent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Space complexity: O(b^d); stores every node in memory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Time complexity: depends on the quality of h(n)</a:t>
            </a:r>
          </a:p>
          <a:p>
            <a:pPr algn="l">
              <a:lnSpc>
                <a:spcPts val="3980"/>
              </a:lnSpc>
              <a:buNone/>
            </a:pPr>
            <a:endParaRPr sz="2842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0DEE3AAB-E694-4AF3-8315-CAFD399D4187}"/>
              </a:ext>
            </a:extLst>
          </p:cNvPr>
          <p:cNvSpPr>
            <a:spLocks noGrp="1"/>
          </p:cNvSpPr>
          <p:nvPr/>
        </p:nvSpPr>
        <p:spPr>
          <a:xfrm>
            <a:off x="12957117" y="6662446"/>
            <a:ext cx="4612621" cy="2768495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4"/>
            <a:stretch>
              <a:fillRect l="-18988" r="-18988"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1624997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BEF7FA-F68F-481B-BE2D-0B151823B423}"/>
              </a:ext>
            </a:extLst>
          </p:cNvPr>
          <p:cNvSpPr>
            <a:spLocks noGrp="1"/>
          </p:cNvSpPr>
          <p:nvPr/>
        </p:nvSpPr>
        <p:spPr>
          <a:xfrm>
            <a:off x="568382" y="396873"/>
            <a:ext cx="8575618" cy="7257116"/>
          </a:xfrm>
          <a:custGeom>
            <a:avLst/>
            <a:gdLst/>
            <a:ahLst/>
            <a:cxnLst/>
            <a:rect l="l" t="t" r="r" b="b"/>
            <a:pathLst>
              <a:path w="8575618" h="7257116">
                <a:moveTo>
                  <a:pt x="0" y="0"/>
                </a:moveTo>
                <a:lnTo>
                  <a:pt x="8575618" y="0"/>
                </a:lnTo>
                <a:lnTo>
                  <a:pt x="8575618" y="7257116"/>
                </a:lnTo>
                <a:lnTo>
                  <a:pt x="0" y="7257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AA440D6-9AD7-4F02-B5A9-3FE3BDFE25F0}"/>
              </a:ext>
            </a:extLst>
          </p:cNvPr>
          <p:cNvSpPr>
            <a:spLocks noGrp="1"/>
          </p:cNvSpPr>
          <p:nvPr/>
        </p:nvSpPr>
        <p:spPr>
          <a:xfrm>
            <a:off x="8932979" y="3012325"/>
            <a:ext cx="9139130" cy="6717261"/>
          </a:xfrm>
          <a:custGeom>
            <a:avLst/>
            <a:gdLst/>
            <a:ahLst/>
            <a:cxnLst/>
            <a:rect l="l" t="t" r="r" b="b"/>
            <a:pathLst>
              <a:path w="9139130" h="6717261">
                <a:moveTo>
                  <a:pt x="0" y="0"/>
                </a:moveTo>
                <a:lnTo>
                  <a:pt x="9139130" y="0"/>
                </a:lnTo>
                <a:lnTo>
                  <a:pt x="9139130" y="6717261"/>
                </a:lnTo>
                <a:lnTo>
                  <a:pt x="0" y="6717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1766362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139E296-CF34-4132-85B7-8536D38AFCD8}"/>
              </a:ext>
            </a:extLst>
          </p:cNvPr>
          <p:cNvSpPr>
            <a:spLocks noGrp="1"/>
          </p:cNvSpPr>
          <p:nvPr/>
        </p:nvSpPr>
        <p:spPr>
          <a:xfrm>
            <a:off x="9657523" y="865082"/>
            <a:ext cx="6940770" cy="3329303"/>
          </a:xfrm>
          <a:custGeom>
            <a:avLst/>
            <a:gdLst/>
            <a:ahLst/>
            <a:cxnLst/>
            <a:rect l="l" t="t" r="r" b="b"/>
            <a:pathLst>
              <a:path w="6940770" h="3329303">
                <a:moveTo>
                  <a:pt x="0" y="0"/>
                </a:moveTo>
                <a:lnTo>
                  <a:pt x="6940769" y="0"/>
                </a:lnTo>
                <a:lnTo>
                  <a:pt x="6940769" y="3329302"/>
                </a:lnTo>
                <a:lnTo>
                  <a:pt x="0" y="3329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845" r="-54247" b="-57802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86F720E-BDC3-45C0-88E5-00EFB7C39763}"/>
              </a:ext>
            </a:extLst>
          </p:cNvPr>
          <p:cNvSpPr>
            <a:spLocks noGrp="1"/>
          </p:cNvSpPr>
          <p:nvPr/>
        </p:nvSpPr>
        <p:spPr>
          <a:xfrm>
            <a:off x="1395623" y="6602468"/>
            <a:ext cx="15202669" cy="2736480"/>
          </a:xfrm>
          <a:custGeom>
            <a:avLst/>
            <a:gdLst/>
            <a:ahLst/>
            <a:cxnLst/>
            <a:rect l="l" t="t" r="r" b="b"/>
            <a:pathLst>
              <a:path w="15202669" h="2736480">
                <a:moveTo>
                  <a:pt x="0" y="0"/>
                </a:moveTo>
                <a:lnTo>
                  <a:pt x="15202669" y="0"/>
                </a:lnTo>
                <a:lnTo>
                  <a:pt x="15202669" y="2736480"/>
                </a:lnTo>
                <a:lnTo>
                  <a:pt x="0" y="2736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28CFBAB-AF57-4BBF-93FB-8289E0B17E2F}"/>
              </a:ext>
            </a:extLst>
          </p:cNvPr>
          <p:cNvSpPr>
            <a:spLocks noGrp="1"/>
          </p:cNvSpPr>
          <p:nvPr/>
        </p:nvSpPr>
        <p:spPr>
          <a:xfrm>
            <a:off x="1248581" y="4991311"/>
            <a:ext cx="15496753" cy="1868271"/>
          </a:xfrm>
          <a:custGeom>
            <a:avLst/>
            <a:gdLst/>
            <a:ahLst/>
            <a:cxnLst/>
            <a:rect l="l" t="t" r="r" b="b"/>
            <a:pathLst>
              <a:path w="15496753" h="1868271">
                <a:moveTo>
                  <a:pt x="0" y="0"/>
                </a:moveTo>
                <a:lnTo>
                  <a:pt x="15496753" y="0"/>
                </a:lnTo>
                <a:lnTo>
                  <a:pt x="15496753" y="1868271"/>
                </a:lnTo>
                <a:lnTo>
                  <a:pt x="0" y="18682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107" b="-576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9754683-C9F4-475F-86E2-55B677164A5B}"/>
              </a:ext>
            </a:extLst>
          </p:cNvPr>
          <p:cNvSpPr>
            <a:spLocks noGrp="1"/>
          </p:cNvSpPr>
          <p:nvPr/>
        </p:nvSpPr>
        <p:spPr>
          <a:xfrm>
            <a:off x="1248581" y="1076325"/>
            <a:ext cx="6940770" cy="180793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000"/>
              </a:lnSpc>
              <a:buNone/>
            </a:pPr>
            <a:r>
              <a:rPr sz="7000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Properties of</a:t>
            </a:r>
          </a:p>
          <a:p>
            <a:pPr algn="l">
              <a:lnSpc>
                <a:spcPts val="7000"/>
              </a:lnSpc>
              <a:buNone/>
            </a:pPr>
            <a:r>
              <a:rPr sz="7000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Heuristics</a:t>
            </a:r>
          </a:p>
        </p:txBody>
      </p:sp>
    </p:spTree>
    <p:extLst>
      <p:ext uri="{BB962C8B-B14F-4D97-AF65-F5344CB8AC3E}">
        <p14:creationId xmlns:p14="http://schemas.microsoft.com/office/powerpoint/2010/main" val="930162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206C5A09-C0E2-429B-90B7-9A25BDF5717F}"/>
              </a:ext>
            </a:extLst>
          </p:cNvPr>
          <p:cNvSpPr>
            <a:spLocks noGrp="1"/>
          </p:cNvSpPr>
          <p:nvPr/>
        </p:nvSpPr>
        <p:spPr>
          <a:xfrm>
            <a:off x="7599601" y="1917098"/>
            <a:ext cx="9154862" cy="4063546"/>
          </a:xfrm>
          <a:custGeom>
            <a:avLst/>
            <a:gdLst/>
            <a:ahLst/>
            <a:cxnLst/>
            <a:rect l="l" t="t" r="r" b="b"/>
            <a:pathLst>
              <a:path w="2411157" h="1070234">
                <a:moveTo>
                  <a:pt x="25370" y="0"/>
                </a:moveTo>
                <a:lnTo>
                  <a:pt x="2385787" y="0"/>
                </a:lnTo>
                <a:cubicBezTo>
                  <a:pt x="2392516" y="0"/>
                  <a:pt x="2398969" y="2673"/>
                  <a:pt x="2403726" y="7431"/>
                </a:cubicBezTo>
                <a:cubicBezTo>
                  <a:pt x="2408484" y="12188"/>
                  <a:pt x="2411157" y="18641"/>
                  <a:pt x="2411157" y="25370"/>
                </a:cubicBezTo>
                <a:lnTo>
                  <a:pt x="2411157" y="1044865"/>
                </a:lnTo>
                <a:cubicBezTo>
                  <a:pt x="2411157" y="1051593"/>
                  <a:pt x="2408484" y="1058046"/>
                  <a:pt x="2403726" y="1062804"/>
                </a:cubicBezTo>
                <a:cubicBezTo>
                  <a:pt x="2398969" y="1067561"/>
                  <a:pt x="2392516" y="1070234"/>
                  <a:pt x="2385787" y="1070234"/>
                </a:cubicBezTo>
                <a:lnTo>
                  <a:pt x="25370" y="1070234"/>
                </a:lnTo>
                <a:cubicBezTo>
                  <a:pt x="18641" y="1070234"/>
                  <a:pt x="12188" y="1067561"/>
                  <a:pt x="7431" y="1062804"/>
                </a:cubicBezTo>
                <a:cubicBezTo>
                  <a:pt x="2673" y="1058046"/>
                  <a:pt x="0" y="1051593"/>
                  <a:pt x="0" y="1044865"/>
                </a:cubicBezTo>
                <a:lnTo>
                  <a:pt x="0" y="25370"/>
                </a:lnTo>
                <a:cubicBezTo>
                  <a:pt x="0" y="18641"/>
                  <a:pt x="2673" y="12188"/>
                  <a:pt x="7431" y="7431"/>
                </a:cubicBezTo>
                <a:cubicBezTo>
                  <a:pt x="12188" y="2673"/>
                  <a:pt x="18641" y="0"/>
                  <a:pt x="2537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E43D414-CFED-4D28-A980-406947D629CD}"/>
              </a:ext>
            </a:extLst>
          </p:cNvPr>
          <p:cNvSpPr>
            <a:spLocks noGrp="1"/>
          </p:cNvSpPr>
          <p:nvPr/>
        </p:nvSpPr>
        <p:spPr>
          <a:xfrm>
            <a:off x="7599601" y="1772438"/>
            <a:ext cx="9154862" cy="4208206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C049165-A97B-40A8-A21B-A80673A71FE4}"/>
              </a:ext>
            </a:extLst>
          </p:cNvPr>
          <p:cNvSpPr>
            <a:spLocks noGrp="1"/>
          </p:cNvSpPr>
          <p:nvPr/>
        </p:nvSpPr>
        <p:spPr>
          <a:xfrm>
            <a:off x="6112553" y="6460946"/>
            <a:ext cx="10828903" cy="3208685"/>
          </a:xfrm>
          <a:custGeom>
            <a:avLst/>
            <a:gdLst/>
            <a:ahLst/>
            <a:cxnLst/>
            <a:rect l="l" t="t" r="r" b="b"/>
            <a:pathLst>
              <a:path w="2808916" h="832303">
                <a:moveTo>
                  <a:pt x="21448" y="0"/>
                </a:moveTo>
                <a:lnTo>
                  <a:pt x="2787468" y="0"/>
                </a:lnTo>
                <a:cubicBezTo>
                  <a:pt x="2799314" y="0"/>
                  <a:pt x="2808916" y="9603"/>
                  <a:pt x="2808916" y="21448"/>
                </a:cubicBezTo>
                <a:lnTo>
                  <a:pt x="2808916" y="810855"/>
                </a:lnTo>
                <a:cubicBezTo>
                  <a:pt x="2808916" y="816543"/>
                  <a:pt x="2806656" y="821999"/>
                  <a:pt x="2802634" y="826021"/>
                </a:cubicBezTo>
                <a:cubicBezTo>
                  <a:pt x="2798612" y="830043"/>
                  <a:pt x="2793157" y="832303"/>
                  <a:pt x="2787468" y="832303"/>
                </a:cubicBezTo>
                <a:lnTo>
                  <a:pt x="21448" y="832303"/>
                </a:lnTo>
                <a:cubicBezTo>
                  <a:pt x="15760" y="832303"/>
                  <a:pt x="10304" y="830043"/>
                  <a:pt x="6282" y="826021"/>
                </a:cubicBezTo>
                <a:cubicBezTo>
                  <a:pt x="2260" y="821999"/>
                  <a:pt x="0" y="816543"/>
                  <a:pt x="0" y="810855"/>
                </a:cubicBezTo>
                <a:lnTo>
                  <a:pt x="0" y="21448"/>
                </a:lnTo>
                <a:cubicBezTo>
                  <a:pt x="0" y="9603"/>
                  <a:pt x="9603" y="0"/>
                  <a:pt x="21448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8370CFA-8581-4AD5-B17B-861EC78E3780}"/>
              </a:ext>
            </a:extLst>
          </p:cNvPr>
          <p:cNvSpPr>
            <a:spLocks noGrp="1"/>
          </p:cNvSpPr>
          <p:nvPr/>
        </p:nvSpPr>
        <p:spPr>
          <a:xfrm>
            <a:off x="6112553" y="6314064"/>
            <a:ext cx="10828903" cy="335556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238EBAA-DB38-40AD-8406-1EAF79F46FED}"/>
              </a:ext>
            </a:extLst>
          </p:cNvPr>
          <p:cNvSpPr>
            <a:spLocks noGrp="1"/>
          </p:cNvSpPr>
          <p:nvPr/>
        </p:nvSpPr>
        <p:spPr>
          <a:xfrm>
            <a:off x="1028700" y="2782696"/>
            <a:ext cx="6230750" cy="3739696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3"/>
            <a:stretch>
              <a:fillRect t="-5502" b="-5502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EA5BDE5-C525-48C4-AE88-0DC29D116BC4}"/>
              </a:ext>
            </a:extLst>
          </p:cNvPr>
          <p:cNvSpPr>
            <a:spLocks noGrp="1"/>
          </p:cNvSpPr>
          <p:nvPr/>
        </p:nvSpPr>
        <p:spPr>
          <a:xfrm>
            <a:off x="1028700" y="452755"/>
            <a:ext cx="14078405" cy="12280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600"/>
              </a:lnSpc>
              <a:buNone/>
            </a:pPr>
            <a:r>
              <a:rPr sz="8600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Adversarial Search and Games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4934A77-CE76-422A-BA38-DEE21D17FE89}"/>
              </a:ext>
            </a:extLst>
          </p:cNvPr>
          <p:cNvSpPr>
            <a:spLocks noGrp="1"/>
          </p:cNvSpPr>
          <p:nvPr/>
        </p:nvSpPr>
        <p:spPr>
          <a:xfrm>
            <a:off x="7916905" y="2093415"/>
            <a:ext cx="8597220" cy="412940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919"/>
              </a:lnSpc>
              <a:buNone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So far:</a:t>
            </a: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one agent searching for a solution in a cooperative or neutral environment</a:t>
            </a:r>
          </a:p>
          <a:p>
            <a:pPr algn="l">
              <a:lnSpc>
                <a:spcPts val="3919"/>
              </a:lnSpc>
              <a:buNone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In games:</a:t>
            </a: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two or more agents with opposing objectives.</a:t>
            </a:r>
          </a:p>
          <a:p>
            <a:pPr algn="l">
              <a:lnSpc>
                <a:spcPts val="3919"/>
              </a:lnSpc>
              <a:buNone/>
            </a:pPr>
            <a:endParaRPr sz="27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algn="l">
              <a:lnSpc>
                <a:spcPts val="3919"/>
              </a:lnSpc>
              <a:buNone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problem is no longer finding a path to the goal; it is finding the optimal strategy while considering that the opponent also plays optimally</a:t>
            </a:r>
          </a:p>
          <a:p>
            <a:pPr algn="l">
              <a:lnSpc>
                <a:spcPts val="3919"/>
              </a:lnSpc>
              <a:buNone/>
            </a:pPr>
            <a:endParaRPr sz="27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4FCE87C-88E4-4B7B-BB05-4A5FB1D8D918}"/>
              </a:ext>
            </a:extLst>
          </p:cNvPr>
          <p:cNvSpPr>
            <a:spLocks noGrp="1"/>
          </p:cNvSpPr>
          <p:nvPr/>
        </p:nvSpPr>
        <p:spPr>
          <a:xfrm>
            <a:off x="6299545" y="6941492"/>
            <a:ext cx="10641910" cy="266146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Two players: MAX and MIN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One player’s gain is the other player’s loss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Perfect information: a fully observable environment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Deterministic: no randomness</a:t>
            </a:r>
          </a:p>
          <a:p>
            <a:pPr algn="l">
              <a:lnSpc>
                <a:spcPts val="3980"/>
              </a:lnSpc>
              <a:buNone/>
            </a:pPr>
            <a:endParaRPr sz="2842" b="1">
              <a:solidFill>
                <a:srgbClr val="1B1B1B"/>
              </a:solidFill>
              <a:latin typeface="Helvetica World Bold"/>
              <a:ea typeface="Helvetica World Bold"/>
              <a:cs typeface="Helvetica World Bold"/>
            </a:endParaRPr>
          </a:p>
        </p:txBody>
      </p:sp>
    </p:spTree>
    <p:extLst>
      <p:ext uri="{BB962C8B-B14F-4D97-AF65-F5344CB8AC3E}">
        <p14:creationId xmlns:p14="http://schemas.microsoft.com/office/powerpoint/2010/main" val="7427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3D0341B-10E0-4960-8F3E-6FFA9C6EBD6B}"/>
              </a:ext>
            </a:extLst>
          </p:cNvPr>
          <p:cNvSpPr>
            <a:spLocks noGrp="1"/>
          </p:cNvSpPr>
          <p:nvPr/>
        </p:nvSpPr>
        <p:spPr>
          <a:xfrm>
            <a:off x="11061364" y="1113160"/>
            <a:ext cx="6977897" cy="4968388"/>
          </a:xfrm>
          <a:custGeom>
            <a:avLst/>
            <a:gdLst/>
            <a:ahLst/>
            <a:cxnLst/>
            <a:rect l="l" t="t" r="r" b="b"/>
            <a:pathLst>
              <a:path w="1810001" h="1288754">
                <a:moveTo>
                  <a:pt x="33285" y="0"/>
                </a:moveTo>
                <a:lnTo>
                  <a:pt x="1776716" y="0"/>
                </a:lnTo>
                <a:cubicBezTo>
                  <a:pt x="1795099" y="0"/>
                  <a:pt x="1810001" y="14902"/>
                  <a:pt x="1810001" y="33285"/>
                </a:cubicBezTo>
                <a:lnTo>
                  <a:pt x="1810001" y="1255470"/>
                </a:lnTo>
                <a:cubicBezTo>
                  <a:pt x="1810001" y="1264297"/>
                  <a:pt x="1806494" y="1272763"/>
                  <a:pt x="1800252" y="1279006"/>
                </a:cubicBezTo>
                <a:cubicBezTo>
                  <a:pt x="1794010" y="1285248"/>
                  <a:pt x="1785544" y="1288754"/>
                  <a:pt x="1776716" y="1288754"/>
                </a:cubicBezTo>
                <a:lnTo>
                  <a:pt x="33285" y="1288754"/>
                </a:lnTo>
                <a:cubicBezTo>
                  <a:pt x="14902" y="1288754"/>
                  <a:pt x="0" y="1273852"/>
                  <a:pt x="0" y="1255470"/>
                </a:cubicBezTo>
                <a:lnTo>
                  <a:pt x="0" y="33285"/>
                </a:lnTo>
                <a:cubicBezTo>
                  <a:pt x="0" y="14902"/>
                  <a:pt x="14902" y="0"/>
                  <a:pt x="33285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B12017B-0899-46DD-973F-4E2F3B631768}"/>
              </a:ext>
            </a:extLst>
          </p:cNvPr>
          <p:cNvSpPr>
            <a:spLocks noGrp="1"/>
          </p:cNvSpPr>
          <p:nvPr/>
        </p:nvSpPr>
        <p:spPr>
          <a:xfrm>
            <a:off x="11061364" y="966278"/>
            <a:ext cx="6977897" cy="5115274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03EB277-7AED-41DB-A627-77215BB5E764}"/>
              </a:ext>
            </a:extLst>
          </p:cNvPr>
          <p:cNvSpPr>
            <a:spLocks noGrp="1"/>
          </p:cNvSpPr>
          <p:nvPr/>
        </p:nvSpPr>
        <p:spPr>
          <a:xfrm>
            <a:off x="800157" y="6988992"/>
            <a:ext cx="10772417" cy="2503686"/>
          </a:xfrm>
          <a:custGeom>
            <a:avLst/>
            <a:gdLst/>
            <a:ahLst/>
            <a:cxnLst/>
            <a:rect l="l" t="t" r="r" b="b"/>
            <a:pathLst>
              <a:path w="2837180" h="659407">
                <a:moveTo>
                  <a:pt x="21560" y="0"/>
                </a:moveTo>
                <a:lnTo>
                  <a:pt x="2815619" y="0"/>
                </a:lnTo>
                <a:cubicBezTo>
                  <a:pt x="2821337" y="0"/>
                  <a:pt x="2826821" y="2272"/>
                  <a:pt x="2830865" y="6315"/>
                </a:cubicBezTo>
                <a:cubicBezTo>
                  <a:pt x="2834908" y="10358"/>
                  <a:pt x="2837180" y="15842"/>
                  <a:pt x="2837180" y="21560"/>
                </a:cubicBezTo>
                <a:lnTo>
                  <a:pt x="2837180" y="637847"/>
                </a:lnTo>
                <a:cubicBezTo>
                  <a:pt x="2837180" y="643565"/>
                  <a:pt x="2834908" y="649049"/>
                  <a:pt x="2830865" y="653092"/>
                </a:cubicBezTo>
                <a:cubicBezTo>
                  <a:pt x="2826821" y="657136"/>
                  <a:pt x="2821337" y="659407"/>
                  <a:pt x="2815619" y="659407"/>
                </a:cubicBezTo>
                <a:lnTo>
                  <a:pt x="21560" y="659407"/>
                </a:lnTo>
                <a:cubicBezTo>
                  <a:pt x="15842" y="659407"/>
                  <a:pt x="10358" y="657136"/>
                  <a:pt x="6315" y="653092"/>
                </a:cubicBezTo>
                <a:cubicBezTo>
                  <a:pt x="2272" y="649049"/>
                  <a:pt x="0" y="643565"/>
                  <a:pt x="0" y="637847"/>
                </a:cubicBezTo>
                <a:lnTo>
                  <a:pt x="0" y="21560"/>
                </a:lnTo>
                <a:cubicBezTo>
                  <a:pt x="0" y="15842"/>
                  <a:pt x="2272" y="10358"/>
                  <a:pt x="6315" y="6315"/>
                </a:cubicBezTo>
                <a:cubicBezTo>
                  <a:pt x="10358" y="2272"/>
                  <a:pt x="15842" y="0"/>
                  <a:pt x="2156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BC7492B-6236-4199-AB3F-63FBBDF79C52}"/>
              </a:ext>
            </a:extLst>
          </p:cNvPr>
          <p:cNvSpPr>
            <a:spLocks noGrp="1"/>
          </p:cNvSpPr>
          <p:nvPr/>
        </p:nvSpPr>
        <p:spPr>
          <a:xfrm>
            <a:off x="800157" y="6844332"/>
            <a:ext cx="10772417" cy="2648346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E77955F-1DC4-47EE-B733-FE004A50F021}"/>
              </a:ext>
            </a:extLst>
          </p:cNvPr>
          <p:cNvSpPr>
            <a:spLocks noGrp="1"/>
          </p:cNvSpPr>
          <p:nvPr/>
        </p:nvSpPr>
        <p:spPr>
          <a:xfrm>
            <a:off x="659913" y="4582523"/>
            <a:ext cx="10028456" cy="1765529"/>
          </a:xfrm>
          <a:custGeom>
            <a:avLst/>
            <a:gdLst/>
            <a:ahLst/>
            <a:cxnLst/>
            <a:rect l="l" t="t" r="r" b="b"/>
            <a:pathLst>
              <a:path w="10028456" h="1765529">
                <a:moveTo>
                  <a:pt x="0" y="0"/>
                </a:moveTo>
                <a:lnTo>
                  <a:pt x="10028456" y="0"/>
                </a:lnTo>
                <a:lnTo>
                  <a:pt x="10028456" y="1765528"/>
                </a:lnTo>
                <a:lnTo>
                  <a:pt x="0" y="1765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21" b="-1121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96546EB-A41A-4A70-81EA-22FDFB1A9566}"/>
              </a:ext>
            </a:extLst>
          </p:cNvPr>
          <p:cNvSpPr>
            <a:spLocks noGrp="1"/>
          </p:cNvSpPr>
          <p:nvPr/>
        </p:nvSpPr>
        <p:spPr>
          <a:xfrm>
            <a:off x="1028700" y="424180"/>
            <a:ext cx="8115300" cy="10160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000"/>
              </a:lnSpc>
              <a:buNone/>
            </a:pPr>
            <a:r>
              <a:rPr sz="7000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Minimax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41C4077-FEED-4617-B675-0B64EC83D68D}"/>
              </a:ext>
            </a:extLst>
          </p:cNvPr>
          <p:cNvSpPr>
            <a:spLocks noGrp="1"/>
          </p:cNvSpPr>
          <p:nvPr/>
        </p:nvSpPr>
        <p:spPr>
          <a:xfrm>
            <a:off x="11246339" y="1298578"/>
            <a:ext cx="6792921" cy="569041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MAX attempts to maximize the value of the final state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MIN attempts to minimize that same value</a:t>
            </a:r>
          </a:p>
          <a:p>
            <a:pPr algn="l">
              <a:lnSpc>
                <a:spcPts val="3980"/>
              </a:lnSpc>
              <a:buNone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Assumes both players play optimally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Time complexity: O(b^m)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Space complexity: O(b·m)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Explores the complete tree down to terminal nodes</a:t>
            </a:r>
          </a:p>
          <a:p>
            <a:pPr algn="l">
              <a:lnSpc>
                <a:spcPts val="3980"/>
              </a:lnSpc>
              <a:buNone/>
            </a:pPr>
            <a:endParaRPr sz="2842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algn="l">
              <a:lnSpc>
                <a:spcPts val="3980"/>
              </a:lnSpc>
              <a:buNone/>
            </a:pPr>
            <a:endParaRPr sz="2842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1851A78-3777-4F40-BFD5-8E8BD87F0DA0}"/>
              </a:ext>
            </a:extLst>
          </p:cNvPr>
          <p:cNvSpPr>
            <a:spLocks noGrp="1"/>
          </p:cNvSpPr>
          <p:nvPr/>
        </p:nvSpPr>
        <p:spPr>
          <a:xfrm>
            <a:off x="981952" y="7120246"/>
            <a:ext cx="10590622" cy="20120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980"/>
              </a:lnSpc>
              <a:buNone/>
            </a:pPr>
            <a:r>
              <a:rPr sz="25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Minimax value of a node is defined recursively: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5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If it is a terminal node: Utility(s), the actual value of the outcome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5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If it is MAX’s turn: the maximum Minimax value among the successors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5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If it is MIN’s turn: the minimum Minimax value among the successors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578E777E-B997-4EDA-A0B0-F9A5548F80E9}"/>
              </a:ext>
            </a:extLst>
          </p:cNvPr>
          <p:cNvSpPr>
            <a:spLocks noGrp="1"/>
          </p:cNvSpPr>
          <p:nvPr/>
        </p:nvSpPr>
        <p:spPr>
          <a:xfrm>
            <a:off x="4114074" y="1113160"/>
            <a:ext cx="5443689" cy="3267302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4"/>
            <a:stretch>
              <a:fillRect t="-14332" b="-10625"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933369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EBF6FE-1E86-4641-80B5-66278846E95D}"/>
              </a:ext>
            </a:extLst>
          </p:cNvPr>
          <p:cNvSpPr>
            <a:spLocks noGrp="1"/>
          </p:cNvSpPr>
          <p:nvPr/>
        </p:nvSpPr>
        <p:spPr>
          <a:xfrm>
            <a:off x="752456" y="705285"/>
            <a:ext cx="17136796" cy="8696924"/>
          </a:xfrm>
          <a:custGeom>
            <a:avLst/>
            <a:gdLst/>
            <a:ahLst/>
            <a:cxnLst/>
            <a:rect l="l" t="t" r="r" b="b"/>
            <a:pathLst>
              <a:path w="17136796" h="8696924">
                <a:moveTo>
                  <a:pt x="0" y="0"/>
                </a:moveTo>
                <a:lnTo>
                  <a:pt x="17136796" y="0"/>
                </a:lnTo>
                <a:lnTo>
                  <a:pt x="17136796" y="8696923"/>
                </a:lnTo>
                <a:lnTo>
                  <a:pt x="0" y="8696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1420736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E2474F5-95A3-4DCE-9F68-1D70778803D8}"/>
              </a:ext>
            </a:extLst>
          </p:cNvPr>
          <p:cNvSpPr>
            <a:spLocks noGrp="1"/>
          </p:cNvSpPr>
          <p:nvPr/>
        </p:nvSpPr>
        <p:spPr>
          <a:xfrm>
            <a:off x="6758513" y="2337294"/>
            <a:ext cx="10151290" cy="6921006"/>
          </a:xfrm>
          <a:custGeom>
            <a:avLst/>
            <a:gdLst/>
            <a:ahLst/>
            <a:cxnLst/>
            <a:rect l="l" t="t" r="r" b="b"/>
            <a:pathLst>
              <a:path w="2633150" h="1795244">
                <a:moveTo>
                  <a:pt x="22880" y="0"/>
                </a:moveTo>
                <a:lnTo>
                  <a:pt x="2610270" y="0"/>
                </a:lnTo>
                <a:cubicBezTo>
                  <a:pt x="2616338" y="0"/>
                  <a:pt x="2622158" y="2411"/>
                  <a:pt x="2626448" y="6701"/>
                </a:cubicBezTo>
                <a:cubicBezTo>
                  <a:pt x="2630739" y="10992"/>
                  <a:pt x="2633150" y="16812"/>
                  <a:pt x="2633150" y="22880"/>
                </a:cubicBezTo>
                <a:lnTo>
                  <a:pt x="2633150" y="1772365"/>
                </a:lnTo>
                <a:cubicBezTo>
                  <a:pt x="2633150" y="1778433"/>
                  <a:pt x="2630739" y="1784252"/>
                  <a:pt x="2626448" y="1788543"/>
                </a:cubicBezTo>
                <a:cubicBezTo>
                  <a:pt x="2622158" y="1792834"/>
                  <a:pt x="2616338" y="1795244"/>
                  <a:pt x="2610270" y="1795244"/>
                </a:cubicBezTo>
                <a:lnTo>
                  <a:pt x="22880" y="1795244"/>
                </a:lnTo>
                <a:cubicBezTo>
                  <a:pt x="16812" y="1795244"/>
                  <a:pt x="10992" y="1792834"/>
                  <a:pt x="6701" y="1788543"/>
                </a:cubicBezTo>
                <a:cubicBezTo>
                  <a:pt x="2411" y="1784252"/>
                  <a:pt x="0" y="1778433"/>
                  <a:pt x="0" y="1772365"/>
                </a:cubicBezTo>
                <a:lnTo>
                  <a:pt x="0" y="22880"/>
                </a:lnTo>
                <a:cubicBezTo>
                  <a:pt x="0" y="16812"/>
                  <a:pt x="2411" y="10992"/>
                  <a:pt x="6701" y="6701"/>
                </a:cubicBezTo>
                <a:cubicBezTo>
                  <a:pt x="10992" y="2411"/>
                  <a:pt x="16812" y="0"/>
                  <a:pt x="2288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B7AB04E-F38F-44AB-961D-0A6E26D48172}"/>
              </a:ext>
            </a:extLst>
          </p:cNvPr>
          <p:cNvSpPr>
            <a:spLocks noGrp="1"/>
          </p:cNvSpPr>
          <p:nvPr/>
        </p:nvSpPr>
        <p:spPr>
          <a:xfrm>
            <a:off x="6758513" y="2190412"/>
            <a:ext cx="10151290" cy="706788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90A5459-3081-4377-BF26-DEA49B1245AB}"/>
              </a:ext>
            </a:extLst>
          </p:cNvPr>
          <p:cNvSpPr>
            <a:spLocks noGrp="1"/>
          </p:cNvSpPr>
          <p:nvPr/>
        </p:nvSpPr>
        <p:spPr>
          <a:xfrm>
            <a:off x="7526685" y="544509"/>
            <a:ext cx="9012726" cy="91024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000"/>
              </a:lnSpc>
              <a:buNone/>
            </a:pPr>
            <a:r>
              <a:rPr sz="7000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Alpha–Beta Pruning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9E7027E-BBFC-4A1C-88BE-1C1B65D59CE4}"/>
              </a:ext>
            </a:extLst>
          </p:cNvPr>
          <p:cNvSpPr>
            <a:spLocks noGrp="1"/>
          </p:cNvSpPr>
          <p:nvPr/>
        </p:nvSpPr>
        <p:spPr>
          <a:xfrm>
            <a:off x="6992254" y="2602501"/>
            <a:ext cx="9917550" cy="681436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Minimax explores the entire tree but is inefficient for real games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Alpha–Beta eliminates branches that cannot influence the final decision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 finds the same solution as Minimax while exploring far fewer nodes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Optimal complexity: O(b^(m/2))</a:t>
            </a:r>
          </a:p>
          <a:p>
            <a:pPr algn="l">
              <a:lnSpc>
                <a:spcPts val="3980"/>
              </a:lnSpc>
              <a:buNone/>
            </a:pPr>
            <a:r>
              <a:rPr sz="2842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Pruning rule: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If the value at a MIN node falls below α</a:t>
            </a:r>
          </a:p>
          <a:p>
            <a:pPr marL="1227596" indent="-409199" algn="l">
              <a:lnSpc>
                <a:spcPts val="3980"/>
              </a:lnSpc>
              <a:buFont typeface="Arial"/>
              <a:buChar char="⚬"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→ prune (MAX would never choose this path)</a:t>
            </a:r>
          </a:p>
          <a:p>
            <a:pPr marL="613798" indent="-306899" algn="l">
              <a:lnSpc>
                <a:spcPts val="3980"/>
              </a:lnSpc>
              <a:buFont typeface="Arial"/>
              <a:buChar char="•"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If the value at a MAX node rises above β</a:t>
            </a:r>
          </a:p>
          <a:p>
            <a:pPr marL="1227596" indent="-409199" algn="l">
              <a:lnSpc>
                <a:spcPts val="3980"/>
              </a:lnSpc>
              <a:buFont typeface="Arial"/>
              <a:buChar char="⚬"/>
            </a:pPr>
            <a:r>
              <a:rPr sz="2842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→ prune (MIN would never choose this path)</a:t>
            </a:r>
          </a:p>
          <a:p>
            <a:pPr algn="l">
              <a:lnSpc>
                <a:spcPts val="3980"/>
              </a:lnSpc>
              <a:buNone/>
            </a:pPr>
            <a:endParaRPr sz="2842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3E46FBC-2219-4C0E-BA7A-01074C718097}"/>
              </a:ext>
            </a:extLst>
          </p:cNvPr>
          <p:cNvSpPr>
            <a:spLocks noGrp="1"/>
          </p:cNvSpPr>
          <p:nvPr/>
        </p:nvSpPr>
        <p:spPr>
          <a:xfrm>
            <a:off x="949229" y="1282749"/>
            <a:ext cx="5161861" cy="3098149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3"/>
            <a:stretch>
              <a:fillRect t="-5502" b="-5502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73CC387-6DE6-448D-99DC-50EEC38F48F4}"/>
              </a:ext>
            </a:extLst>
          </p:cNvPr>
          <p:cNvSpPr>
            <a:spLocks noGrp="1"/>
          </p:cNvSpPr>
          <p:nvPr/>
        </p:nvSpPr>
        <p:spPr>
          <a:xfrm>
            <a:off x="768238" y="5192798"/>
            <a:ext cx="5342852" cy="3953890"/>
          </a:xfrm>
          <a:custGeom>
            <a:avLst/>
            <a:gdLst/>
            <a:ahLst/>
            <a:cxnLst/>
            <a:rect l="l" t="t" r="r" b="b"/>
            <a:pathLst>
              <a:path w="1407171" h="1041354">
                <a:moveTo>
                  <a:pt x="43471" y="0"/>
                </a:moveTo>
                <a:lnTo>
                  <a:pt x="1363700" y="0"/>
                </a:lnTo>
                <a:cubicBezTo>
                  <a:pt x="1387708" y="0"/>
                  <a:pt x="1407171" y="19463"/>
                  <a:pt x="1407171" y="43471"/>
                </a:cubicBezTo>
                <a:lnTo>
                  <a:pt x="1407171" y="997883"/>
                </a:lnTo>
                <a:cubicBezTo>
                  <a:pt x="1407171" y="1021891"/>
                  <a:pt x="1387708" y="1041354"/>
                  <a:pt x="1363700" y="1041354"/>
                </a:cubicBezTo>
                <a:lnTo>
                  <a:pt x="43471" y="1041354"/>
                </a:lnTo>
                <a:cubicBezTo>
                  <a:pt x="19463" y="1041354"/>
                  <a:pt x="0" y="1021891"/>
                  <a:pt x="0" y="997883"/>
                </a:cubicBezTo>
                <a:lnTo>
                  <a:pt x="0" y="43471"/>
                </a:lnTo>
                <a:cubicBezTo>
                  <a:pt x="0" y="19463"/>
                  <a:pt x="19463" y="0"/>
                  <a:pt x="43471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74ADC9C-3E1D-4C9F-9456-3B64004D9EAE}"/>
              </a:ext>
            </a:extLst>
          </p:cNvPr>
          <p:cNvSpPr>
            <a:spLocks noGrp="1"/>
          </p:cNvSpPr>
          <p:nvPr/>
        </p:nvSpPr>
        <p:spPr>
          <a:xfrm>
            <a:off x="768238" y="5048138"/>
            <a:ext cx="5342852" cy="409855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F273228-5958-472E-A89A-1E5EB57DD1C3}"/>
              </a:ext>
            </a:extLst>
          </p:cNvPr>
          <p:cNvSpPr>
            <a:spLocks noGrp="1"/>
          </p:cNvSpPr>
          <p:nvPr/>
        </p:nvSpPr>
        <p:spPr>
          <a:xfrm>
            <a:off x="691580" y="5486547"/>
            <a:ext cx="5087853" cy="36601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26102" indent="-313051" algn="l">
              <a:lnSpc>
                <a:spcPts val="4059"/>
              </a:lnSpc>
              <a:buFont typeface="Arial"/>
              <a:buChar char="•"/>
            </a:pPr>
            <a:r>
              <a:rPr sz="28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α:</a:t>
            </a: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best value found so far for MAX (lower bound)</a:t>
            </a:r>
          </a:p>
          <a:p>
            <a:pPr marL="626102" indent="-313051" algn="l">
              <a:lnSpc>
                <a:spcPts val="4059"/>
              </a:lnSpc>
              <a:buFont typeface="Arial"/>
              <a:buChar char="•"/>
            </a:pPr>
            <a:r>
              <a:rPr sz="28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β:</a:t>
            </a: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best value found so far for MIN (upper bound)</a:t>
            </a:r>
          </a:p>
          <a:p>
            <a:pPr algn="l">
              <a:lnSpc>
                <a:spcPts val="4059"/>
              </a:lnSpc>
              <a:buNone/>
            </a:pPr>
            <a:endParaRPr sz="28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1552384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CDCF86-D5B5-49C8-ABFD-7FDBF8FCE69D}"/>
              </a:ext>
            </a:extLst>
          </p:cNvPr>
          <p:cNvSpPr>
            <a:spLocks noGrp="1"/>
          </p:cNvSpPr>
          <p:nvPr/>
        </p:nvSpPr>
        <p:spPr>
          <a:xfrm>
            <a:off x="2702122" y="279882"/>
            <a:ext cx="12883756" cy="9727236"/>
          </a:xfrm>
          <a:custGeom>
            <a:avLst/>
            <a:gdLst/>
            <a:ahLst/>
            <a:cxnLst/>
            <a:rect l="l" t="t" r="r" b="b"/>
            <a:pathLst>
              <a:path w="12883756" h="9727236">
                <a:moveTo>
                  <a:pt x="0" y="0"/>
                </a:moveTo>
                <a:lnTo>
                  <a:pt x="12883756" y="0"/>
                </a:lnTo>
                <a:lnTo>
                  <a:pt x="12883756" y="9727236"/>
                </a:lnTo>
                <a:lnTo>
                  <a:pt x="0" y="97272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493621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0221FF-6C55-49F3-B6B0-02BA82308EC2}"/>
              </a:ext>
            </a:extLst>
          </p:cNvPr>
          <p:cNvSpPr>
            <a:spLocks noGrp="1"/>
          </p:cNvSpPr>
          <p:nvPr/>
        </p:nvSpPr>
        <p:spPr>
          <a:xfrm>
            <a:off x="3721642" y="236266"/>
            <a:ext cx="10844715" cy="9814468"/>
          </a:xfrm>
          <a:custGeom>
            <a:avLst/>
            <a:gdLst/>
            <a:ahLst/>
            <a:cxnLst/>
            <a:rect l="l" t="t" r="r" b="b"/>
            <a:pathLst>
              <a:path w="10844715" h="9814468">
                <a:moveTo>
                  <a:pt x="0" y="0"/>
                </a:moveTo>
                <a:lnTo>
                  <a:pt x="10844716" y="0"/>
                </a:lnTo>
                <a:lnTo>
                  <a:pt x="10844716" y="9814468"/>
                </a:lnTo>
                <a:lnTo>
                  <a:pt x="0" y="9814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780141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9A8D623-3223-4149-8F5C-2B55A614A4EA}"/>
              </a:ext>
            </a:extLst>
          </p:cNvPr>
          <p:cNvSpPr>
            <a:spLocks noGrp="1"/>
          </p:cNvSpPr>
          <p:nvPr/>
        </p:nvSpPr>
        <p:spPr>
          <a:xfrm>
            <a:off x="1028700" y="567883"/>
            <a:ext cx="11972018" cy="10160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000"/>
              </a:lnSpc>
              <a:buNone/>
            </a:pPr>
            <a:r>
              <a:rPr sz="7000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Constraint Satisfaction Problems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C9A7CA8-29CE-43D1-9926-1F8BA422EBE9}"/>
              </a:ext>
            </a:extLst>
          </p:cNvPr>
          <p:cNvSpPr>
            <a:spLocks noGrp="1"/>
          </p:cNvSpPr>
          <p:nvPr/>
        </p:nvSpPr>
        <p:spPr>
          <a:xfrm>
            <a:off x="1028700" y="2299450"/>
            <a:ext cx="6424834" cy="6488492"/>
          </a:xfrm>
          <a:custGeom>
            <a:avLst/>
            <a:gdLst/>
            <a:ahLst/>
            <a:cxnLst/>
            <a:rect l="l" t="t" r="r" b="b"/>
            <a:pathLst>
              <a:path w="1692137" h="1708903">
                <a:moveTo>
                  <a:pt x="36150" y="0"/>
                </a:moveTo>
                <a:lnTo>
                  <a:pt x="1655987" y="0"/>
                </a:lnTo>
                <a:cubicBezTo>
                  <a:pt x="1665575" y="0"/>
                  <a:pt x="1674770" y="3809"/>
                  <a:pt x="1681549" y="10588"/>
                </a:cubicBezTo>
                <a:cubicBezTo>
                  <a:pt x="1688329" y="17368"/>
                  <a:pt x="1692137" y="26562"/>
                  <a:pt x="1692137" y="36150"/>
                </a:cubicBezTo>
                <a:lnTo>
                  <a:pt x="1692137" y="1672753"/>
                </a:lnTo>
                <a:cubicBezTo>
                  <a:pt x="1692137" y="1692718"/>
                  <a:pt x="1675953" y="1708903"/>
                  <a:pt x="1655987" y="1708903"/>
                </a:cubicBezTo>
                <a:lnTo>
                  <a:pt x="36150" y="1708903"/>
                </a:lnTo>
                <a:cubicBezTo>
                  <a:pt x="26562" y="1708903"/>
                  <a:pt x="17368" y="1705095"/>
                  <a:pt x="10588" y="1698315"/>
                </a:cubicBezTo>
                <a:cubicBezTo>
                  <a:pt x="3809" y="1691536"/>
                  <a:pt x="0" y="1682341"/>
                  <a:pt x="0" y="1672753"/>
                </a:cubicBezTo>
                <a:lnTo>
                  <a:pt x="0" y="36150"/>
                </a:lnTo>
                <a:cubicBezTo>
                  <a:pt x="0" y="16185"/>
                  <a:pt x="16185" y="0"/>
                  <a:pt x="361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1019B77-5948-4345-A35D-D788E33177BC}"/>
              </a:ext>
            </a:extLst>
          </p:cNvPr>
          <p:cNvSpPr>
            <a:spLocks noGrp="1"/>
          </p:cNvSpPr>
          <p:nvPr/>
        </p:nvSpPr>
        <p:spPr>
          <a:xfrm>
            <a:off x="1028700" y="1914160"/>
            <a:ext cx="6424834" cy="6633152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09B57B2-36BD-46A6-84E8-0A27A0697522}"/>
              </a:ext>
            </a:extLst>
          </p:cNvPr>
          <p:cNvSpPr>
            <a:spLocks noGrp="1"/>
          </p:cNvSpPr>
          <p:nvPr/>
        </p:nvSpPr>
        <p:spPr>
          <a:xfrm>
            <a:off x="1332333" y="2468158"/>
            <a:ext cx="5770820" cy="682021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919"/>
              </a:lnSpc>
              <a:buNone/>
            </a:pPr>
            <a:r>
              <a:rPr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In standard search, states are black boxes; only reaching the goal matters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In a CSP, states have internal structure:</a:t>
            </a:r>
            <a:r>
              <a:rPr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variables with values that must satisfy constraints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A CSP is solved when a complete and consistent assignment of values to all variables is found</a:t>
            </a:r>
          </a:p>
          <a:p>
            <a:pPr algn="l">
              <a:lnSpc>
                <a:spcPts val="3919"/>
              </a:lnSpc>
              <a:buNone/>
            </a:pPr>
            <a:endParaRPr sz="2799" b="1" dirty="0">
              <a:solidFill>
                <a:srgbClr val="1B1B1B"/>
              </a:solidFill>
              <a:latin typeface="Helvetica World Bold"/>
              <a:ea typeface="Helvetica World Bold"/>
              <a:cs typeface="Helvetica World Bold"/>
            </a:endParaRPr>
          </a:p>
          <a:p>
            <a:pPr algn="l">
              <a:lnSpc>
                <a:spcPts val="3919"/>
              </a:lnSpc>
              <a:buNone/>
            </a:pPr>
            <a:endParaRPr sz="2799" b="1" dirty="0">
              <a:solidFill>
                <a:srgbClr val="1B1B1B"/>
              </a:solidFill>
              <a:latin typeface="Helvetica World Bold"/>
              <a:ea typeface="Helvetica World Bold"/>
              <a:cs typeface="Helvetica World Bold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BF758D3-A40F-4F63-A0BD-C255BEACB3BE}"/>
              </a:ext>
            </a:extLst>
          </p:cNvPr>
          <p:cNvSpPr>
            <a:spLocks noGrp="1"/>
          </p:cNvSpPr>
          <p:nvPr/>
        </p:nvSpPr>
        <p:spPr>
          <a:xfrm>
            <a:off x="12524279" y="2058820"/>
            <a:ext cx="4734073" cy="4408514"/>
          </a:xfrm>
          <a:custGeom>
            <a:avLst/>
            <a:gdLst/>
            <a:ahLst/>
            <a:cxnLst/>
            <a:rect l="l" t="t" r="r" b="b"/>
            <a:pathLst>
              <a:path w="6348428" h="5911850">
                <a:moveTo>
                  <a:pt x="1146508" y="402590"/>
                </a:moveTo>
                <a:lnTo>
                  <a:pt x="108918" y="2192020"/>
                </a:lnTo>
                <a:cubicBezTo>
                  <a:pt x="-68882" y="2498090"/>
                  <a:pt x="-25702" y="2884170"/>
                  <a:pt x="214328" y="3144520"/>
                </a:cubicBezTo>
                <a:lnTo>
                  <a:pt x="2525728" y="5651500"/>
                </a:lnTo>
                <a:cubicBezTo>
                  <a:pt x="2678128" y="5817870"/>
                  <a:pt x="2894028" y="5911850"/>
                  <a:pt x="3118818" y="5911850"/>
                </a:cubicBezTo>
                <a:lnTo>
                  <a:pt x="5540708" y="5911850"/>
                </a:lnTo>
                <a:cubicBezTo>
                  <a:pt x="5986478" y="5911850"/>
                  <a:pt x="6348428" y="5549900"/>
                  <a:pt x="6348428" y="5104130"/>
                </a:cubicBezTo>
                <a:lnTo>
                  <a:pt x="6348428" y="1891030"/>
                </a:lnTo>
                <a:cubicBezTo>
                  <a:pt x="6348428" y="1724660"/>
                  <a:pt x="6297628" y="1562100"/>
                  <a:pt x="6201108" y="1426210"/>
                </a:cubicBezTo>
                <a:lnTo>
                  <a:pt x="5439108" y="342900"/>
                </a:lnTo>
                <a:cubicBezTo>
                  <a:pt x="5287978" y="128270"/>
                  <a:pt x="5041598" y="0"/>
                  <a:pt x="4778708" y="0"/>
                </a:cubicBezTo>
                <a:lnTo>
                  <a:pt x="1845008" y="0"/>
                </a:lnTo>
                <a:cubicBezTo>
                  <a:pt x="1556718" y="0"/>
                  <a:pt x="1290018" y="153670"/>
                  <a:pt x="1146508" y="402590"/>
                </a:cubicBezTo>
                <a:close/>
              </a:path>
            </a:pathLst>
          </a:custGeom>
          <a:blipFill>
            <a:blip r:embed="rId3"/>
            <a:stretch>
              <a:fillRect l="-19885" r="-19885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EBCE6CC-431B-437F-972E-E78CF321BC94}"/>
              </a:ext>
            </a:extLst>
          </p:cNvPr>
          <p:cNvSpPr>
            <a:spLocks noGrp="1"/>
          </p:cNvSpPr>
          <p:nvPr/>
        </p:nvSpPr>
        <p:spPr>
          <a:xfrm>
            <a:off x="8265697" y="4849786"/>
            <a:ext cx="4734073" cy="4408514"/>
          </a:xfrm>
          <a:custGeom>
            <a:avLst/>
            <a:gdLst/>
            <a:ahLst/>
            <a:cxnLst/>
            <a:rect l="l" t="t" r="r" b="b"/>
            <a:pathLst>
              <a:path w="6348428" h="5911850">
                <a:moveTo>
                  <a:pt x="1146508" y="402590"/>
                </a:moveTo>
                <a:lnTo>
                  <a:pt x="108918" y="2192020"/>
                </a:lnTo>
                <a:cubicBezTo>
                  <a:pt x="-68882" y="2498090"/>
                  <a:pt x="-25702" y="2884170"/>
                  <a:pt x="214328" y="3144520"/>
                </a:cubicBezTo>
                <a:lnTo>
                  <a:pt x="2525728" y="5651500"/>
                </a:lnTo>
                <a:cubicBezTo>
                  <a:pt x="2678128" y="5817870"/>
                  <a:pt x="2894028" y="5911850"/>
                  <a:pt x="3118818" y="5911850"/>
                </a:cubicBezTo>
                <a:lnTo>
                  <a:pt x="5540708" y="5911850"/>
                </a:lnTo>
                <a:cubicBezTo>
                  <a:pt x="5986478" y="5911850"/>
                  <a:pt x="6348428" y="5549900"/>
                  <a:pt x="6348428" y="5104130"/>
                </a:cubicBezTo>
                <a:lnTo>
                  <a:pt x="6348428" y="1891030"/>
                </a:lnTo>
                <a:cubicBezTo>
                  <a:pt x="6348428" y="1724660"/>
                  <a:pt x="6297628" y="1562100"/>
                  <a:pt x="6201108" y="1426210"/>
                </a:cubicBezTo>
                <a:lnTo>
                  <a:pt x="5439108" y="342900"/>
                </a:lnTo>
                <a:cubicBezTo>
                  <a:pt x="5287978" y="128270"/>
                  <a:pt x="5041598" y="0"/>
                  <a:pt x="4778708" y="0"/>
                </a:cubicBezTo>
                <a:lnTo>
                  <a:pt x="1845008" y="0"/>
                </a:lnTo>
                <a:cubicBezTo>
                  <a:pt x="1556718" y="0"/>
                  <a:pt x="1290018" y="153670"/>
                  <a:pt x="1146508" y="402590"/>
                </a:cubicBezTo>
                <a:close/>
              </a:path>
            </a:pathLst>
          </a:custGeom>
          <a:blipFill>
            <a:blip r:embed="rId4"/>
            <a:stretch>
              <a:fillRect l="-19885" r="-19885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D0B5859-17AC-4439-A56C-C91B26CB7D82}"/>
              </a:ext>
            </a:extLst>
          </p:cNvPr>
          <p:cNvSpPr>
            <a:spLocks noGrp="1"/>
          </p:cNvSpPr>
          <p:nvPr/>
        </p:nvSpPr>
        <p:spPr>
          <a:xfrm>
            <a:off x="8464500" y="1755280"/>
            <a:ext cx="4059555" cy="206946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60"/>
              </a:lnSpc>
              <a:buNone/>
            </a:pPr>
            <a:r>
              <a:rPr sz="290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Sudoku</a:t>
            </a:r>
          </a:p>
          <a:p>
            <a:pPr algn="l">
              <a:lnSpc>
                <a:spcPts val="4060"/>
              </a:lnSpc>
              <a:spcBef>
                <a:spcPct val="0"/>
              </a:spcBef>
              <a:buNone/>
            </a:pPr>
            <a:r>
              <a:rPr sz="290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Constraint — numbers cannot repeat in rows, columns, or boxes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911D5E6-67A9-4AF7-A465-512F9BE43C75}"/>
              </a:ext>
            </a:extLst>
          </p:cNvPr>
          <p:cNvSpPr>
            <a:spLocks noGrp="1"/>
          </p:cNvSpPr>
          <p:nvPr/>
        </p:nvSpPr>
        <p:spPr>
          <a:xfrm>
            <a:off x="13433486" y="7122660"/>
            <a:ext cx="4059555" cy="206946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60"/>
              </a:lnSpc>
              <a:buNone/>
            </a:pPr>
            <a:r>
              <a:rPr sz="290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School schedule</a:t>
            </a:r>
          </a:p>
          <a:p>
            <a:pPr algn="l">
              <a:lnSpc>
                <a:spcPts val="4060"/>
              </a:lnSpc>
              <a:spcBef>
                <a:spcPct val="0"/>
              </a:spcBef>
              <a:buNone/>
            </a:pPr>
            <a:r>
              <a:rPr sz="290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Constraint — sports cannot be scheduled after lunch</a:t>
            </a:r>
          </a:p>
        </p:txBody>
      </p:sp>
    </p:spTree>
    <p:extLst>
      <p:ext uri="{BB962C8B-B14F-4D97-AF65-F5344CB8AC3E}">
        <p14:creationId xmlns:p14="http://schemas.microsoft.com/office/powerpoint/2010/main" val="822220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EDBE7F11-79AD-4F6A-8E0F-54177D9D70F6}"/>
              </a:ext>
            </a:extLst>
          </p:cNvPr>
          <p:cNvSpPr>
            <a:spLocks noGrp="1"/>
          </p:cNvSpPr>
          <p:nvPr/>
        </p:nvSpPr>
        <p:spPr>
          <a:xfrm>
            <a:off x="1028700" y="2439502"/>
            <a:ext cx="6307964" cy="6348247"/>
          </a:xfrm>
          <a:custGeom>
            <a:avLst/>
            <a:gdLst/>
            <a:ahLst/>
            <a:cxnLst/>
            <a:rect l="l" t="t" r="r" b="b"/>
            <a:pathLst>
              <a:path w="1661357" h="1671966">
                <a:moveTo>
                  <a:pt x="36820" y="0"/>
                </a:moveTo>
                <a:lnTo>
                  <a:pt x="1624537" y="0"/>
                </a:lnTo>
                <a:cubicBezTo>
                  <a:pt x="1644872" y="0"/>
                  <a:pt x="1661357" y="16485"/>
                  <a:pt x="1661357" y="36820"/>
                </a:cubicBezTo>
                <a:lnTo>
                  <a:pt x="1661357" y="1635147"/>
                </a:lnTo>
                <a:cubicBezTo>
                  <a:pt x="1661357" y="1655482"/>
                  <a:pt x="1644872" y="1671966"/>
                  <a:pt x="1624537" y="1671966"/>
                </a:cubicBezTo>
                <a:lnTo>
                  <a:pt x="36820" y="1671966"/>
                </a:lnTo>
                <a:cubicBezTo>
                  <a:pt x="16485" y="1671966"/>
                  <a:pt x="0" y="1655482"/>
                  <a:pt x="0" y="1635147"/>
                </a:cubicBezTo>
                <a:lnTo>
                  <a:pt x="0" y="36820"/>
                </a:lnTo>
                <a:cubicBezTo>
                  <a:pt x="0" y="16485"/>
                  <a:pt x="16485" y="0"/>
                  <a:pt x="3682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3B02472-6E72-4568-A2C4-87E7FCF77099}"/>
              </a:ext>
            </a:extLst>
          </p:cNvPr>
          <p:cNvSpPr>
            <a:spLocks noGrp="1"/>
          </p:cNvSpPr>
          <p:nvPr/>
        </p:nvSpPr>
        <p:spPr>
          <a:xfrm>
            <a:off x="1028700" y="2294842"/>
            <a:ext cx="6307964" cy="649290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A90CF01-7148-4224-AC97-9B7170339B35}"/>
              </a:ext>
            </a:extLst>
          </p:cNvPr>
          <p:cNvSpPr>
            <a:spLocks noGrp="1"/>
          </p:cNvSpPr>
          <p:nvPr/>
        </p:nvSpPr>
        <p:spPr>
          <a:xfrm>
            <a:off x="8871161" y="6430636"/>
            <a:ext cx="8388139" cy="3361064"/>
          </a:xfrm>
          <a:custGeom>
            <a:avLst/>
            <a:gdLst/>
            <a:ahLst/>
            <a:cxnLst/>
            <a:rect l="l" t="t" r="r" b="b"/>
            <a:pathLst>
              <a:path w="2209222" h="885218">
                <a:moveTo>
                  <a:pt x="27689" y="0"/>
                </a:moveTo>
                <a:lnTo>
                  <a:pt x="2181533" y="0"/>
                </a:lnTo>
                <a:cubicBezTo>
                  <a:pt x="2196825" y="0"/>
                  <a:pt x="2209222" y="12397"/>
                  <a:pt x="2209222" y="27689"/>
                </a:cubicBezTo>
                <a:lnTo>
                  <a:pt x="2209222" y="857530"/>
                </a:lnTo>
                <a:cubicBezTo>
                  <a:pt x="2209222" y="864873"/>
                  <a:pt x="2206304" y="871916"/>
                  <a:pt x="2201112" y="877109"/>
                </a:cubicBezTo>
                <a:cubicBezTo>
                  <a:pt x="2195919" y="882301"/>
                  <a:pt x="2188876" y="885218"/>
                  <a:pt x="2181533" y="885218"/>
                </a:cubicBezTo>
                <a:lnTo>
                  <a:pt x="27689" y="885218"/>
                </a:lnTo>
                <a:cubicBezTo>
                  <a:pt x="20345" y="885218"/>
                  <a:pt x="13303" y="882301"/>
                  <a:pt x="8110" y="877109"/>
                </a:cubicBezTo>
                <a:cubicBezTo>
                  <a:pt x="2917" y="871916"/>
                  <a:pt x="0" y="864873"/>
                  <a:pt x="0" y="857530"/>
                </a:cubicBezTo>
                <a:lnTo>
                  <a:pt x="0" y="27689"/>
                </a:lnTo>
                <a:cubicBezTo>
                  <a:pt x="0" y="20345"/>
                  <a:pt x="2917" y="13303"/>
                  <a:pt x="8110" y="8110"/>
                </a:cubicBezTo>
                <a:cubicBezTo>
                  <a:pt x="13303" y="2917"/>
                  <a:pt x="20345" y="0"/>
                  <a:pt x="27689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AB004C5-3260-4527-BF25-890D4B67B87D}"/>
              </a:ext>
            </a:extLst>
          </p:cNvPr>
          <p:cNvSpPr>
            <a:spLocks noGrp="1"/>
          </p:cNvSpPr>
          <p:nvPr/>
        </p:nvSpPr>
        <p:spPr>
          <a:xfrm>
            <a:off x="8871161" y="6285975"/>
            <a:ext cx="8388139" cy="350572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5B9AAED-D2FE-4565-986D-5BF5ABEE4769}"/>
              </a:ext>
            </a:extLst>
          </p:cNvPr>
          <p:cNvSpPr>
            <a:spLocks noGrp="1"/>
          </p:cNvSpPr>
          <p:nvPr/>
        </p:nvSpPr>
        <p:spPr>
          <a:xfrm>
            <a:off x="8548925" y="350972"/>
            <a:ext cx="8903586" cy="5798460"/>
          </a:xfrm>
          <a:custGeom>
            <a:avLst/>
            <a:gdLst/>
            <a:ahLst/>
            <a:cxnLst/>
            <a:rect l="l" t="t" r="r" b="b"/>
            <a:pathLst>
              <a:path w="8903586" h="5798460">
                <a:moveTo>
                  <a:pt x="0" y="0"/>
                </a:moveTo>
                <a:lnTo>
                  <a:pt x="8903586" y="0"/>
                </a:lnTo>
                <a:lnTo>
                  <a:pt x="8903586" y="5798460"/>
                </a:lnTo>
                <a:lnTo>
                  <a:pt x="0" y="5798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0CB3405-9240-48F4-9E2D-F35CE0F1F5FA}"/>
              </a:ext>
            </a:extLst>
          </p:cNvPr>
          <p:cNvSpPr>
            <a:spLocks noGrp="1"/>
          </p:cNvSpPr>
          <p:nvPr/>
        </p:nvSpPr>
        <p:spPr>
          <a:xfrm>
            <a:off x="1028700" y="567883"/>
            <a:ext cx="11972018" cy="10160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000"/>
              </a:lnSpc>
              <a:buNone/>
            </a:pPr>
            <a:r>
              <a:rPr sz="7000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CSP Components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100BDEF-060E-4D68-B613-CB38664057F8}"/>
              </a:ext>
            </a:extLst>
          </p:cNvPr>
          <p:cNvSpPr>
            <a:spLocks noGrp="1"/>
          </p:cNvSpPr>
          <p:nvPr/>
        </p:nvSpPr>
        <p:spPr>
          <a:xfrm>
            <a:off x="1150393" y="2647632"/>
            <a:ext cx="5864316" cy="763936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Variables:</a:t>
            </a: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X = {X₁, X₂, ..., Xₙ} — what must be assigned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Domains:</a:t>
            </a: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D = {D₁, D₂, ..., Dₙ} — possible values for each variable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Constraints:</a:t>
            </a: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C = the set of conditions that assignments must satisfy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consistent assignment violates no constraints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complete assignment gives every variable a value</a:t>
            </a:r>
          </a:p>
          <a:p>
            <a:pPr algn="l">
              <a:lnSpc>
                <a:spcPts val="3919"/>
              </a:lnSpc>
              <a:buNone/>
            </a:pPr>
            <a:endParaRPr sz="27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algn="l">
              <a:lnSpc>
                <a:spcPts val="3919"/>
              </a:lnSpc>
              <a:buNone/>
            </a:pPr>
            <a:endParaRPr sz="27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algn="l">
              <a:lnSpc>
                <a:spcPts val="3919"/>
              </a:lnSpc>
              <a:buNone/>
            </a:pPr>
            <a:endParaRPr sz="27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algn="l">
              <a:lnSpc>
                <a:spcPts val="3919"/>
              </a:lnSpc>
              <a:buNone/>
            </a:pPr>
            <a:endParaRPr sz="27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B82F430-72E8-4DE3-A0B2-ED42C0FE0A70}"/>
              </a:ext>
            </a:extLst>
          </p:cNvPr>
          <p:cNvSpPr>
            <a:spLocks noGrp="1"/>
          </p:cNvSpPr>
          <p:nvPr/>
        </p:nvSpPr>
        <p:spPr>
          <a:xfrm>
            <a:off x="9062456" y="6695757"/>
            <a:ext cx="8005549" cy="350551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919"/>
              </a:lnSpc>
              <a:buNone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Constraint propagation:</a:t>
            </a: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domains can be reduced before assignment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Forward Checking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Arc Consistency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Minimum Remaining Values</a:t>
            </a:r>
          </a:p>
          <a:p>
            <a:pPr algn="l">
              <a:lnSpc>
                <a:spcPts val="3919"/>
              </a:lnSpc>
              <a:buNone/>
            </a:pPr>
            <a:endParaRPr sz="27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algn="l">
              <a:lnSpc>
                <a:spcPts val="3919"/>
              </a:lnSpc>
              <a:buNone/>
            </a:pPr>
            <a:endParaRPr sz="27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1715533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9627DD1-2344-452B-94C5-27FAD38B0D64}"/>
              </a:ext>
            </a:extLst>
          </p:cNvPr>
          <p:cNvSpPr>
            <a:spLocks noGrp="1"/>
          </p:cNvSpPr>
          <p:nvPr/>
        </p:nvSpPr>
        <p:spPr>
          <a:xfrm>
            <a:off x="3085545" y="236152"/>
            <a:ext cx="12116909" cy="9814697"/>
          </a:xfrm>
          <a:custGeom>
            <a:avLst/>
            <a:gdLst/>
            <a:ahLst/>
            <a:cxnLst/>
            <a:rect l="l" t="t" r="r" b="b"/>
            <a:pathLst>
              <a:path w="12116909" h="9814697">
                <a:moveTo>
                  <a:pt x="0" y="0"/>
                </a:moveTo>
                <a:lnTo>
                  <a:pt x="12116910" y="0"/>
                </a:lnTo>
                <a:lnTo>
                  <a:pt x="12116910" y="9814696"/>
                </a:lnTo>
                <a:lnTo>
                  <a:pt x="0" y="98146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1051744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1361</Words>
  <Application>Microsoft Macintosh PowerPoint</Application>
  <DocSecurity>0</DocSecurity>
  <PresentationFormat>Custom</PresentationFormat>
  <Paragraphs>161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Calibri</vt:lpstr>
      <vt:lpstr>Arial</vt:lpstr>
      <vt:lpstr>Helvetica World Bold Italics</vt:lpstr>
      <vt:lpstr>Helvetica World Bold</vt:lpstr>
      <vt:lpstr>Telegraf</vt:lpstr>
      <vt:lpstr>Helvetica World</vt:lpstr>
      <vt:lpstr>Telegraf Bold</vt:lpstr>
      <vt:lpstr>Telegraf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Daniel Riofrío</cp:lastModifiedBy>
  <cp:revision>1</cp:revision>
  <dcterms:created xsi:type="dcterms:W3CDTF">2026-07-18T04:27:17Z</dcterms:created>
  <dcterms:modified xsi:type="dcterms:W3CDTF">2026-07-18T15:40:53Z</dcterms:modified>
</cp:coreProperties>
</file>