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Helvetica World" pitchFamily="2" charset="0"/>
      <p:regular r:id="rId21"/>
    </p:embeddedFont>
    <p:embeddedFont>
      <p:font typeface="Helvetica World Bold" pitchFamily="2" charset="0"/>
      <p:regular r:id="rId22"/>
    </p:embeddedFont>
    <p:embeddedFont>
      <p:font typeface="Telegraf" pitchFamily="2" charset="77"/>
      <p:regular r:id="rId23"/>
    </p:embeddedFont>
    <p:embeddedFont>
      <p:font typeface="Telegraf Bold" pitchFamily="2" charset="77"/>
      <p:regular r:id="rId24"/>
      <p:bold r:id="rId25"/>
    </p:embeddedFont>
    <p:embeddedFont>
      <p:font typeface="Telegraf Medium"/>
      <p:regular r:id="rId2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9419-5A35-4718-A9A5-3C4B4D76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ACC4E-A9B2-4620-A86D-66E8DF4E6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3DC12-73EF-4E75-A354-E40398CAE3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2D79-8A40-4C46-8515-11D3888468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CC04E-EFDE-414D-A39F-0B2DE9401B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56438-48A9-41C6-BB89-B3506145F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3F5F2-CEED-413B-8F53-B293E78CB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39404-06FC-4C3B-99CB-6A4C48A616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E1D5D-60A7-4D5E-8116-D1AFA2D6AC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A469D-E66A-499C-A78E-C9536B7F9E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1F91-64F8-4BD9-B187-2AA3AF28E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1F38C-DCF8-4357-9F45-8DB5686C0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ABC5-1CF8-4616-96E5-04F0F8B61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210E9-8C32-40C2-B9F5-A8E80CF08F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2A088-F95D-4351-9C95-700EE1E48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6878-4440-437A-B7A9-EC620EC1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53498-A33E-427F-9B1D-B54909327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6B51AE-FA27-406E-8640-761AF83A646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79D2-8ED8-4309-9DD5-9CE779AEEB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4FCCB-04D0-4AD8-B9CD-C6692099B1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18946-4198-4B74-8D5A-8024282F7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82535-09C8-4CF3-ACDF-5ACDE4611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3091F-6692-4675-942C-3685BCBCA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C48F6-F85F-44F1-8CB8-8FD18014FF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18CF7F-B91A-4A05-89BC-E0016BE852F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EE774-9141-436B-895C-F21ACB9413A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18E10-3256-4C92-9052-A33F40083BD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857C4-EC4C-4722-9F69-667BF075AA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AA3BA-7015-4DC1-BD3B-E4A3CDF432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828F-9567-4E30-B42D-7754E52B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D6071-F821-4A0D-8C7D-762A08E127C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09820-8CD6-4B3B-91AD-51D632AA982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2EA5E-7A6D-4DAB-953A-C981176740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EC3BB-4C96-460D-B14D-3213CE08EF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781B2-3CA9-42B5-B973-E3F3F24216D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9F1EB-1288-4C93-83AD-758F203168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425B-C97B-47AC-A863-026404AE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BC23-4AC9-4557-8E9D-18776DE5C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D9E98-F50D-447E-9F73-5485566527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AEC01-F815-4CDF-90E3-1691979630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7E077-FF37-41C9-AAF9-588C946DDE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E00C-D74C-469B-873A-7BA4761FBF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9651-AE7D-4F9E-96DA-B248FAE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99231-0D21-49D3-926E-8FEAC2A056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DC469-5493-428F-A162-FAA01DC8A79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0F15A-79CF-459A-9C97-A8CD7C000D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C402F-B2C3-4114-A0C3-A1CC900F3E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2F1EC-90A4-45EE-B057-B5C2B043CE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2A93-39BF-4287-817D-5BB78784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E5C09-B93A-44E8-BB88-5D6A47976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4E35B-4C90-4061-8FE1-E8D180775B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24A5C-79ED-40A5-A75A-1163C251FE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2BC17-5525-4932-8B5E-47E702E7D8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A87AAF-4FA3-4028-BC81-AB3B6658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0DCB6-6C35-48FD-8057-CB04C3A01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A7E89-8AC4-487C-875E-0CE88821B1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82484-21B2-4683-9859-302BC853D3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A9D82E-9B4A-49E3-AB97-2F967DB33B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573BD-E36D-4C35-96B4-0C1954ADD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16C04-E37B-4636-AA42-717F357BC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BA50-9AF7-4CAD-9402-CBE742BC46B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18/7/26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B76B5-3B53-47A2-A878-372C421F555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91120-0B7E-49ED-82AA-E041980BAA9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pW4Tq-PLZ4" TargetMode="External"/><Relationship Id="rId7" Type="http://schemas.openxmlformats.org/officeDocument/2006/relationships/hyperlink" Target="https://www.youtube.com/watch?v=jQOBaGka7O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AA06011-0ED3-44BC-99D1-95B5CC1A633C}"/>
              </a:ext>
            </a:extLst>
          </p:cNvPr>
          <p:cNvSpPr>
            <a:spLocks noGrp="1"/>
          </p:cNvSpPr>
          <p:nvPr/>
        </p:nvSpPr>
        <p:spPr>
          <a:xfrm>
            <a:off x="10050573" y="1618389"/>
            <a:ext cx="7210168" cy="6518130"/>
          </a:xfrm>
          <a:custGeom>
            <a:avLst/>
            <a:gdLst/>
            <a:ahLst/>
            <a:cxnLst/>
            <a:rect l="l" t="t" r="r" b="b"/>
            <a:pathLst>
              <a:path w="6351270" h="57416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>
            <a:blip r:embed="rId3"/>
            <a:stretch>
              <a:fillRect l="-20535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E72303C-E444-4F49-B432-F6E50940C475}"/>
              </a:ext>
            </a:extLst>
          </p:cNvPr>
          <p:cNvSpPr>
            <a:spLocks noGrp="1"/>
          </p:cNvSpPr>
          <p:nvPr/>
        </p:nvSpPr>
        <p:spPr>
          <a:xfrm>
            <a:off x="1139752" y="1372901"/>
            <a:ext cx="9021873" cy="37705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4764"/>
              </a:lnSpc>
              <a:spcBef>
                <a:spcPct val="0"/>
              </a:spcBef>
              <a:buNone/>
            </a:pPr>
            <a:r>
              <a:rPr sz="10546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Intelligent Agents</a:t>
            </a:r>
          </a:p>
        </p:txBody>
      </p:sp>
    </p:spTree>
    <p:extLst>
      <p:ext uri="{BB962C8B-B14F-4D97-AF65-F5344CB8AC3E}">
        <p14:creationId xmlns:p14="http://schemas.microsoft.com/office/powerpoint/2010/main" val="334578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745ED26-2E0C-4E85-A222-D3F7166334A2}"/>
              </a:ext>
            </a:extLst>
          </p:cNvPr>
          <p:cNvSpPr>
            <a:spLocks noGrp="1"/>
          </p:cNvSpPr>
          <p:nvPr/>
        </p:nvSpPr>
        <p:spPr>
          <a:xfrm>
            <a:off x="782328" y="3206077"/>
            <a:ext cx="7610166" cy="3425719"/>
          </a:xfrm>
          <a:custGeom>
            <a:avLst/>
            <a:gdLst/>
            <a:ahLst/>
            <a:cxnLst/>
            <a:rect l="l" t="t" r="r" b="b"/>
            <a:pathLst>
              <a:path w="2004324" h="902247">
                <a:moveTo>
                  <a:pt x="30519" y="0"/>
                </a:moveTo>
                <a:lnTo>
                  <a:pt x="1973804" y="0"/>
                </a:lnTo>
                <a:cubicBezTo>
                  <a:pt x="1990660" y="0"/>
                  <a:pt x="2004324" y="13664"/>
                  <a:pt x="2004324" y="30519"/>
                </a:cubicBezTo>
                <a:lnTo>
                  <a:pt x="2004324" y="871728"/>
                </a:lnTo>
                <a:cubicBezTo>
                  <a:pt x="2004324" y="888583"/>
                  <a:pt x="1990660" y="902247"/>
                  <a:pt x="1973804" y="902247"/>
                </a:cubicBezTo>
                <a:lnTo>
                  <a:pt x="30519" y="902247"/>
                </a:lnTo>
                <a:cubicBezTo>
                  <a:pt x="13664" y="902247"/>
                  <a:pt x="0" y="888583"/>
                  <a:pt x="0" y="871728"/>
                </a:cubicBezTo>
                <a:lnTo>
                  <a:pt x="0" y="30519"/>
                </a:lnTo>
                <a:cubicBezTo>
                  <a:pt x="0" y="13664"/>
                  <a:pt x="13664" y="0"/>
                  <a:pt x="30519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A771B8-C553-472E-B48F-9C9A1C814413}"/>
              </a:ext>
            </a:extLst>
          </p:cNvPr>
          <p:cNvSpPr>
            <a:spLocks noGrp="1"/>
          </p:cNvSpPr>
          <p:nvPr/>
        </p:nvSpPr>
        <p:spPr>
          <a:xfrm>
            <a:off x="782328" y="2435779"/>
            <a:ext cx="7610166" cy="357037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3C7055D-D2DE-4553-929A-AE14C8C7797F}"/>
              </a:ext>
            </a:extLst>
          </p:cNvPr>
          <p:cNvSpPr>
            <a:spLocks noGrp="1"/>
          </p:cNvSpPr>
          <p:nvPr/>
        </p:nvSpPr>
        <p:spPr>
          <a:xfrm>
            <a:off x="9144000" y="1177396"/>
            <a:ext cx="8889098" cy="5589021"/>
          </a:xfrm>
          <a:custGeom>
            <a:avLst/>
            <a:gdLst/>
            <a:ahLst/>
            <a:cxnLst/>
            <a:rect l="l" t="t" r="r" b="b"/>
            <a:pathLst>
              <a:path w="8889098" h="5589021">
                <a:moveTo>
                  <a:pt x="0" y="0"/>
                </a:moveTo>
                <a:lnTo>
                  <a:pt x="8889098" y="0"/>
                </a:lnTo>
                <a:lnTo>
                  <a:pt x="8889098" y="5589021"/>
                </a:lnTo>
                <a:lnTo>
                  <a:pt x="0" y="55890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2A91FE-E53D-480F-A1A9-61487F37EBCA}"/>
              </a:ext>
            </a:extLst>
          </p:cNvPr>
          <p:cNvSpPr>
            <a:spLocks noGrp="1"/>
          </p:cNvSpPr>
          <p:nvPr/>
        </p:nvSpPr>
        <p:spPr>
          <a:xfrm>
            <a:off x="763278" y="804340"/>
            <a:ext cx="9712217" cy="214321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286"/>
              </a:lnSpc>
              <a:buNone/>
            </a:pPr>
            <a:r>
              <a:rPr sz="8286" b="1" dirty="0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What Is an Agent?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C9E5C0-AD1B-4014-9C9B-0987D0371191}"/>
              </a:ext>
            </a:extLst>
          </p:cNvPr>
          <p:cNvSpPr>
            <a:spLocks noGrp="1"/>
          </p:cNvSpPr>
          <p:nvPr/>
        </p:nvSpPr>
        <p:spPr>
          <a:xfrm>
            <a:off x="1047750" y="3299055"/>
            <a:ext cx="6910659" cy="34531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proposition is a statement that can be true or false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Propositional symbols represent facts about the world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Complex sentences are built using logical connectives</a:t>
            </a:r>
          </a:p>
          <a:p>
            <a:pPr algn="l">
              <a:lnSpc>
                <a:spcPts val="3919"/>
              </a:lnSpc>
              <a:buNone/>
            </a:pPr>
            <a:endParaRPr sz="2799" dirty="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02A667A-9563-4F22-A768-826ADD1911FD}"/>
              </a:ext>
            </a:extLst>
          </p:cNvPr>
          <p:cNvSpPr>
            <a:spLocks noGrp="1"/>
          </p:cNvSpPr>
          <p:nvPr/>
        </p:nvSpPr>
        <p:spPr>
          <a:xfrm>
            <a:off x="763278" y="7260740"/>
            <a:ext cx="13493517" cy="2548356"/>
          </a:xfrm>
          <a:custGeom>
            <a:avLst/>
            <a:gdLst/>
            <a:ahLst/>
            <a:cxnLst/>
            <a:rect l="l" t="t" r="r" b="b"/>
            <a:pathLst>
              <a:path w="3553848" h="671172">
                <a:moveTo>
                  <a:pt x="17213" y="0"/>
                </a:moveTo>
                <a:lnTo>
                  <a:pt x="3536636" y="0"/>
                </a:lnTo>
                <a:cubicBezTo>
                  <a:pt x="3541201" y="0"/>
                  <a:pt x="3545579" y="1813"/>
                  <a:pt x="3548807" y="5041"/>
                </a:cubicBezTo>
                <a:cubicBezTo>
                  <a:pt x="3552035" y="8269"/>
                  <a:pt x="3553848" y="12647"/>
                  <a:pt x="3553848" y="17213"/>
                </a:cubicBezTo>
                <a:lnTo>
                  <a:pt x="3553848" y="653959"/>
                </a:lnTo>
                <a:cubicBezTo>
                  <a:pt x="3553848" y="663466"/>
                  <a:pt x="3546142" y="671172"/>
                  <a:pt x="3536636" y="671172"/>
                </a:cubicBezTo>
                <a:lnTo>
                  <a:pt x="17213" y="671172"/>
                </a:lnTo>
                <a:cubicBezTo>
                  <a:pt x="7706" y="671172"/>
                  <a:pt x="0" y="663466"/>
                  <a:pt x="0" y="653959"/>
                </a:cubicBezTo>
                <a:lnTo>
                  <a:pt x="0" y="17213"/>
                </a:lnTo>
                <a:cubicBezTo>
                  <a:pt x="0" y="7706"/>
                  <a:pt x="7706" y="0"/>
                  <a:pt x="1721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AC40732-76EA-4DAF-B5A9-178D10C68F41}"/>
              </a:ext>
            </a:extLst>
          </p:cNvPr>
          <p:cNvSpPr>
            <a:spLocks noGrp="1"/>
          </p:cNvSpPr>
          <p:nvPr/>
        </p:nvSpPr>
        <p:spPr>
          <a:xfrm>
            <a:off x="763278" y="7116080"/>
            <a:ext cx="13493517" cy="269301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6F43CA0-EC6D-4D22-9116-A556089B18DE}"/>
              </a:ext>
            </a:extLst>
          </p:cNvPr>
          <p:cNvSpPr>
            <a:spLocks noGrp="1"/>
          </p:cNvSpPr>
          <p:nvPr/>
        </p:nvSpPr>
        <p:spPr>
          <a:xfrm>
            <a:off x="1028700" y="6990646"/>
            <a:ext cx="13228095" cy="30006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919"/>
              </a:lnSpc>
              <a:buNone/>
            </a:pPr>
            <a:endParaRPr/>
          </a:p>
          <a:p>
            <a:pPr algn="l">
              <a:lnSpc>
                <a:spcPts val="3919"/>
              </a:lnSpc>
              <a:buNone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Examples: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Human: eyes/ears → brain → hands/mouth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Robot: cameras/sensors → processor → motors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Software agent: keyboard/file inputs → program → screen/network outputs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89778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0BAD04-080A-49A6-8573-167D84AED0E3}"/>
              </a:ext>
            </a:extLst>
          </p:cNvPr>
          <p:cNvSpPr>
            <a:spLocks noGrp="1"/>
          </p:cNvSpPr>
          <p:nvPr/>
        </p:nvSpPr>
        <p:spPr>
          <a:xfrm>
            <a:off x="4156850" y="7999163"/>
            <a:ext cx="1670958" cy="1374363"/>
          </a:xfrm>
          <a:custGeom>
            <a:avLst/>
            <a:gdLst/>
            <a:ahLst/>
            <a:cxnLst/>
            <a:rect l="l" t="t" r="r" b="b"/>
            <a:pathLst>
              <a:path w="1670958" h="1374363">
                <a:moveTo>
                  <a:pt x="0" y="0"/>
                </a:moveTo>
                <a:lnTo>
                  <a:pt x="1670958" y="0"/>
                </a:lnTo>
                <a:lnTo>
                  <a:pt x="1670958" y="1374362"/>
                </a:lnTo>
                <a:lnTo>
                  <a:pt x="0" y="13743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EC19E15-408E-401F-AD76-A7E875D3D905}"/>
              </a:ext>
            </a:extLst>
          </p:cNvPr>
          <p:cNvSpPr>
            <a:spLocks noGrp="1"/>
          </p:cNvSpPr>
          <p:nvPr/>
        </p:nvSpPr>
        <p:spPr>
          <a:xfrm>
            <a:off x="11490514" y="7743293"/>
            <a:ext cx="2935568" cy="1886102"/>
          </a:xfrm>
          <a:custGeom>
            <a:avLst/>
            <a:gdLst/>
            <a:ahLst/>
            <a:cxnLst/>
            <a:rect l="l" t="t" r="r" b="b"/>
            <a:pathLst>
              <a:path w="2935568" h="1886102">
                <a:moveTo>
                  <a:pt x="0" y="0"/>
                </a:moveTo>
                <a:lnTo>
                  <a:pt x="2935568" y="0"/>
                </a:lnTo>
                <a:lnTo>
                  <a:pt x="2935568" y="1886102"/>
                </a:lnTo>
                <a:lnTo>
                  <a:pt x="0" y="18861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05D8B81-A650-4655-8C1C-F9BCA95D78D6}"/>
              </a:ext>
            </a:extLst>
          </p:cNvPr>
          <p:cNvSpPr>
            <a:spLocks noGrp="1"/>
          </p:cNvSpPr>
          <p:nvPr/>
        </p:nvSpPr>
        <p:spPr>
          <a:xfrm>
            <a:off x="1536999" y="2133911"/>
            <a:ext cx="6910659" cy="45723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Abstract behavioral specification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Defines what the agent should do in every possible situation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Maps the percept history to an action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u="sng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In theory, it could be represented as a lookup table</a:t>
            </a:r>
          </a:p>
          <a:p>
            <a:pPr algn="l">
              <a:lnSpc>
                <a:spcPts val="3919"/>
              </a:lnSpc>
              <a:buNone/>
            </a:pPr>
            <a:endParaRPr sz="2799" u="sng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408278C-537E-40B3-A851-44685500BD28}"/>
              </a:ext>
            </a:extLst>
          </p:cNvPr>
          <p:cNvSpPr>
            <a:spLocks noGrp="1"/>
          </p:cNvSpPr>
          <p:nvPr/>
        </p:nvSpPr>
        <p:spPr>
          <a:xfrm>
            <a:off x="1851661" y="876300"/>
            <a:ext cx="9369758" cy="8782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  <a:buNone/>
            </a:pPr>
            <a:r>
              <a:rPr sz="47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Agent Function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18BE6CF-729F-4CFA-A080-CD1CF0F526D9}"/>
              </a:ext>
            </a:extLst>
          </p:cNvPr>
          <p:cNvSpPr>
            <a:spLocks noGrp="1"/>
          </p:cNvSpPr>
          <p:nvPr/>
        </p:nvSpPr>
        <p:spPr>
          <a:xfrm>
            <a:off x="9338095" y="2133911"/>
            <a:ext cx="6910659" cy="411988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Concrete implementation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Runs on a real physical architecture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Approximates the agent function compactly and efficiently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All AI design is the search for good programs that approximate the ideal function</a:t>
            </a:r>
          </a:p>
          <a:p>
            <a:pPr algn="l">
              <a:lnSpc>
                <a:spcPts val="3919"/>
              </a:lnSpc>
              <a:buNone/>
            </a:pPr>
            <a:endParaRPr sz="2799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E5A25F6-4B69-42A0-80A7-A141F42A8E63}"/>
              </a:ext>
            </a:extLst>
          </p:cNvPr>
          <p:cNvSpPr>
            <a:spLocks noGrp="1"/>
          </p:cNvSpPr>
          <p:nvPr/>
        </p:nvSpPr>
        <p:spPr>
          <a:xfrm>
            <a:off x="9741203" y="876300"/>
            <a:ext cx="9369758" cy="8782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  <a:buNone/>
            </a:pPr>
            <a:r>
              <a:rPr sz="47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Agent Model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575113D-8615-4A90-B003-7A3C9B8C54D1}"/>
              </a:ext>
            </a:extLst>
          </p:cNvPr>
          <p:cNvSpPr>
            <a:spLocks noGrp="1"/>
          </p:cNvSpPr>
          <p:nvPr/>
        </p:nvSpPr>
        <p:spPr>
          <a:xfrm>
            <a:off x="1565680" y="6582405"/>
            <a:ext cx="6439331" cy="6870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  <a:buNone/>
            </a:pPr>
            <a:r>
              <a:rPr sz="41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What we want to achieve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43D9AB6-872D-41FE-A56E-EF0413AF2152}"/>
              </a:ext>
            </a:extLst>
          </p:cNvPr>
          <p:cNvSpPr>
            <a:spLocks noGrp="1"/>
          </p:cNvSpPr>
          <p:nvPr/>
        </p:nvSpPr>
        <p:spPr>
          <a:xfrm>
            <a:off x="9338095" y="6582405"/>
            <a:ext cx="8692026" cy="7435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  <a:buNone/>
            </a:pPr>
            <a:r>
              <a:rPr sz="410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How we approximate it efficiently</a:t>
            </a:r>
          </a:p>
        </p:txBody>
      </p:sp>
    </p:spTree>
    <p:extLst>
      <p:ext uri="{BB962C8B-B14F-4D97-AF65-F5344CB8AC3E}">
        <p14:creationId xmlns:p14="http://schemas.microsoft.com/office/powerpoint/2010/main" val="655529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FA79F1-EC59-4EF0-ACE0-357BF010FA8F}"/>
              </a:ext>
            </a:extLst>
          </p:cNvPr>
          <p:cNvSpPr>
            <a:spLocks noGrp="1"/>
          </p:cNvSpPr>
          <p:nvPr/>
        </p:nvSpPr>
        <p:spPr>
          <a:xfrm>
            <a:off x="7732112" y="1512721"/>
            <a:ext cx="10387811" cy="6362534"/>
          </a:xfrm>
          <a:custGeom>
            <a:avLst/>
            <a:gdLst/>
            <a:ahLst/>
            <a:cxnLst/>
            <a:rect l="l" t="t" r="r" b="b"/>
            <a:pathLst>
              <a:path w="10387811" h="6362534">
                <a:moveTo>
                  <a:pt x="0" y="0"/>
                </a:moveTo>
                <a:lnTo>
                  <a:pt x="10387811" y="0"/>
                </a:lnTo>
                <a:lnTo>
                  <a:pt x="10387811" y="6362534"/>
                </a:lnTo>
                <a:lnTo>
                  <a:pt x="0" y="6362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421DD58-0FAB-4516-8F91-E6B4D4D0160E}"/>
              </a:ext>
            </a:extLst>
          </p:cNvPr>
          <p:cNvSpPr>
            <a:spLocks noGrp="1"/>
          </p:cNvSpPr>
          <p:nvPr/>
        </p:nvSpPr>
        <p:spPr>
          <a:xfrm>
            <a:off x="400476" y="658040"/>
            <a:ext cx="6971477" cy="3684407"/>
          </a:xfrm>
          <a:custGeom>
            <a:avLst/>
            <a:gdLst/>
            <a:ahLst/>
            <a:cxnLst/>
            <a:rect l="l" t="t" r="r" b="b"/>
            <a:pathLst>
              <a:path w="6971477" h="3684407">
                <a:moveTo>
                  <a:pt x="0" y="0"/>
                </a:moveTo>
                <a:lnTo>
                  <a:pt x="6971476" y="0"/>
                </a:lnTo>
                <a:lnTo>
                  <a:pt x="6971476" y="3684407"/>
                </a:lnTo>
                <a:lnTo>
                  <a:pt x="0" y="36844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AB908E-D2D8-44C2-A4D9-507A23D4A0C9}"/>
              </a:ext>
            </a:extLst>
          </p:cNvPr>
          <p:cNvSpPr>
            <a:spLocks noGrp="1"/>
          </p:cNvSpPr>
          <p:nvPr/>
        </p:nvSpPr>
        <p:spPr>
          <a:xfrm>
            <a:off x="709950" y="4628197"/>
            <a:ext cx="8135317" cy="8782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  <a:buNone/>
            </a:pPr>
            <a:r>
              <a:rPr sz="47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Vacuum World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CAABFBD-D7B2-4D51-AB85-F777A95F1D05}"/>
              </a:ext>
            </a:extLst>
          </p:cNvPr>
          <p:cNvSpPr>
            <a:spLocks noGrp="1"/>
          </p:cNvSpPr>
          <p:nvPr/>
        </p:nvSpPr>
        <p:spPr>
          <a:xfrm>
            <a:off x="400476" y="5944553"/>
            <a:ext cx="6971477" cy="3861404"/>
          </a:xfrm>
          <a:custGeom>
            <a:avLst/>
            <a:gdLst/>
            <a:ahLst/>
            <a:cxnLst/>
            <a:rect l="l" t="t" r="r" b="b"/>
            <a:pathLst>
              <a:path w="1836109" h="1016995">
                <a:moveTo>
                  <a:pt x="33315" y="0"/>
                </a:moveTo>
                <a:lnTo>
                  <a:pt x="1802794" y="0"/>
                </a:lnTo>
                <a:cubicBezTo>
                  <a:pt x="1811630" y="0"/>
                  <a:pt x="1820103" y="3510"/>
                  <a:pt x="1826351" y="9758"/>
                </a:cubicBezTo>
                <a:cubicBezTo>
                  <a:pt x="1832599" y="16006"/>
                  <a:pt x="1836109" y="24480"/>
                  <a:pt x="1836109" y="33315"/>
                </a:cubicBezTo>
                <a:lnTo>
                  <a:pt x="1836109" y="983680"/>
                </a:lnTo>
                <a:cubicBezTo>
                  <a:pt x="1836109" y="1002080"/>
                  <a:pt x="1821193" y="1016995"/>
                  <a:pt x="1802794" y="1016995"/>
                </a:cubicBezTo>
                <a:lnTo>
                  <a:pt x="33315" y="1016995"/>
                </a:lnTo>
                <a:cubicBezTo>
                  <a:pt x="24480" y="1016995"/>
                  <a:pt x="16006" y="1013485"/>
                  <a:pt x="9758" y="1007238"/>
                </a:cubicBezTo>
                <a:cubicBezTo>
                  <a:pt x="3510" y="1000990"/>
                  <a:pt x="0" y="992516"/>
                  <a:pt x="0" y="983680"/>
                </a:cubicBezTo>
                <a:lnTo>
                  <a:pt x="0" y="33315"/>
                </a:lnTo>
                <a:cubicBezTo>
                  <a:pt x="0" y="24480"/>
                  <a:pt x="3510" y="16006"/>
                  <a:pt x="9758" y="9758"/>
                </a:cubicBezTo>
                <a:cubicBezTo>
                  <a:pt x="16006" y="3510"/>
                  <a:pt x="24480" y="0"/>
                  <a:pt x="3331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D1D28F3-4C53-4D47-9E3A-770A65F6A9BB}"/>
              </a:ext>
            </a:extLst>
          </p:cNvPr>
          <p:cNvSpPr>
            <a:spLocks noGrp="1"/>
          </p:cNvSpPr>
          <p:nvPr/>
        </p:nvSpPr>
        <p:spPr>
          <a:xfrm>
            <a:off x="400476" y="5799893"/>
            <a:ext cx="6971477" cy="400606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37797A55-4513-49A1-812D-52A6729AF8AA}"/>
              </a:ext>
            </a:extLst>
          </p:cNvPr>
          <p:cNvSpPr>
            <a:spLocks noGrp="1"/>
          </p:cNvSpPr>
          <p:nvPr/>
        </p:nvSpPr>
        <p:spPr>
          <a:xfrm>
            <a:off x="709950" y="6352826"/>
            <a:ext cx="6330676" cy="35817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Environment: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2 rooms (A and B), each of which may be dirty or clean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Sensors: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current position + room status (dirty/clean)</a:t>
            </a:r>
          </a:p>
          <a:p>
            <a:pPr marL="604513" indent="-302256" algn="l">
              <a:lnSpc>
                <a:spcPts val="3919"/>
              </a:lnSpc>
              <a:buFont typeface="Arial"/>
              <a:buChar char="•"/>
            </a:pPr>
            <a:r>
              <a:rPr sz="2799" b="1" u="none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Actuators:</a:t>
            </a:r>
            <a:r>
              <a:rPr sz="27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move left, move right, vacuum.</a:t>
            </a:r>
          </a:p>
          <a:p>
            <a:pPr algn="l">
              <a:lnSpc>
                <a:spcPts val="3919"/>
              </a:lnSpc>
              <a:buNone/>
            </a:pPr>
            <a:endParaRPr sz="27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4A5DB3C-130B-415C-B942-857A1FC2170E}"/>
              </a:ext>
            </a:extLst>
          </p:cNvPr>
          <p:cNvSpPr>
            <a:spLocks noGrp="1"/>
          </p:cNvSpPr>
          <p:nvPr/>
        </p:nvSpPr>
        <p:spPr>
          <a:xfrm>
            <a:off x="7732112" y="513397"/>
            <a:ext cx="9369758" cy="8782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  <a:buNone/>
            </a:pPr>
            <a:r>
              <a:rPr sz="47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Agent Function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FCD4D69-993F-4879-BD21-BA8100FF1FA9}"/>
              </a:ext>
            </a:extLst>
          </p:cNvPr>
          <p:cNvSpPr>
            <a:spLocks noGrp="1"/>
          </p:cNvSpPr>
          <p:nvPr/>
        </p:nvSpPr>
        <p:spPr>
          <a:xfrm>
            <a:off x="7902587" y="8115111"/>
            <a:ext cx="10046862" cy="19672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04528" indent="-302264" algn="l">
              <a:lnSpc>
                <a:spcPts val="3920"/>
              </a:lnSpc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space of percept histories grows exponentially with the number of variables and time</a:t>
            </a:r>
          </a:p>
          <a:p>
            <a:pPr marL="604528" indent="-302264" algn="l">
              <a:lnSpc>
                <a:spcPts val="3920"/>
              </a:lnSpc>
              <a:buFont typeface="Arial"/>
              <a:buChar char="•"/>
            </a:pPr>
            <a:r>
              <a:rPr sz="280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For a real agent, it is computationally intractable</a:t>
            </a:r>
          </a:p>
          <a:p>
            <a:pPr algn="l">
              <a:lnSpc>
                <a:spcPts val="3920"/>
              </a:lnSpc>
              <a:spcBef>
                <a:spcPct val="0"/>
              </a:spcBef>
              <a:buNone/>
            </a:pPr>
            <a:endParaRPr sz="2800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2065609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9132E90-48D1-44BF-A880-BC880DD031A2}"/>
              </a:ext>
            </a:extLst>
          </p:cNvPr>
          <p:cNvSpPr>
            <a:spLocks noGrp="1"/>
          </p:cNvSpPr>
          <p:nvPr/>
        </p:nvSpPr>
        <p:spPr>
          <a:xfrm>
            <a:off x="1189469" y="2670773"/>
            <a:ext cx="7090188" cy="6587527"/>
          </a:xfrm>
          <a:custGeom>
            <a:avLst/>
            <a:gdLst/>
            <a:ahLst/>
            <a:cxnLst/>
            <a:rect l="l" t="t" r="r" b="b"/>
            <a:pathLst>
              <a:path w="1867375" h="1734987">
                <a:moveTo>
                  <a:pt x="32758" y="0"/>
                </a:moveTo>
                <a:lnTo>
                  <a:pt x="1834617" y="0"/>
                </a:lnTo>
                <a:cubicBezTo>
                  <a:pt x="1852709" y="0"/>
                  <a:pt x="1867375" y="14666"/>
                  <a:pt x="1867375" y="32758"/>
                </a:cubicBezTo>
                <a:lnTo>
                  <a:pt x="1867375" y="1702229"/>
                </a:lnTo>
                <a:cubicBezTo>
                  <a:pt x="1867375" y="1720321"/>
                  <a:pt x="1852709" y="1734987"/>
                  <a:pt x="1834617" y="1734987"/>
                </a:cubicBezTo>
                <a:lnTo>
                  <a:pt x="32758" y="1734987"/>
                </a:lnTo>
                <a:cubicBezTo>
                  <a:pt x="14666" y="1734987"/>
                  <a:pt x="0" y="1720321"/>
                  <a:pt x="0" y="1702229"/>
                </a:cubicBezTo>
                <a:lnTo>
                  <a:pt x="0" y="32758"/>
                </a:lnTo>
                <a:cubicBezTo>
                  <a:pt x="0" y="14666"/>
                  <a:pt x="14666" y="0"/>
                  <a:pt x="32758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1FADC8B-3792-4C16-99EA-918E29AEEDC7}"/>
              </a:ext>
            </a:extLst>
          </p:cNvPr>
          <p:cNvSpPr>
            <a:spLocks noGrp="1"/>
          </p:cNvSpPr>
          <p:nvPr/>
        </p:nvSpPr>
        <p:spPr>
          <a:xfrm>
            <a:off x="1189469" y="2526113"/>
            <a:ext cx="7090188" cy="673218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434ADE1-852F-4A9E-BE82-4430D81293A5}"/>
              </a:ext>
            </a:extLst>
          </p:cNvPr>
          <p:cNvSpPr>
            <a:spLocks noGrp="1"/>
          </p:cNvSpPr>
          <p:nvPr/>
        </p:nvSpPr>
        <p:spPr>
          <a:xfrm>
            <a:off x="1509869" y="2961904"/>
            <a:ext cx="6330676" cy="58699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Rational agent: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at every moment, it selects the action that maximizes the expected value of a performance measure, given its percept history and built-in knowledge</a:t>
            </a:r>
          </a:p>
          <a:p>
            <a:pPr algn="l">
              <a:lnSpc>
                <a:spcPts val="4059"/>
              </a:lnSpc>
              <a:buNone/>
            </a:pPr>
            <a:endParaRPr sz="28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Explore the environment to gather useful information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Learn from its percepts to improve future behavior</a:t>
            </a:r>
          </a:p>
        </p:txBody>
      </p:sp>
      <p:sp>
        <p:nvSpPr>
          <p:cNvPr id="6" name="Freeform 6">
            <a:hlinkClick r:id="rId3"/>
            <a:extLst>
              <a:ext uri="{FF2B5EF4-FFF2-40B4-BE49-F238E27FC236}">
                <a16:creationId xmlns:a16="http://schemas.microsoft.com/office/drawing/2014/main" id="{682BFDA2-2E54-4018-A79F-1EEC10BC3F1D}"/>
              </a:ext>
            </a:extLst>
          </p:cNvPr>
          <p:cNvSpPr>
            <a:spLocks noGrp="1"/>
          </p:cNvSpPr>
          <p:nvPr/>
        </p:nvSpPr>
        <p:spPr>
          <a:xfrm>
            <a:off x="6862730" y="5352570"/>
            <a:ext cx="831325" cy="831325"/>
          </a:xfrm>
          <a:custGeom>
            <a:avLst/>
            <a:gdLst/>
            <a:ahLst/>
            <a:cxnLst/>
            <a:rect l="l" t="t" r="r" b="b"/>
            <a:pathLst>
              <a:path w="831325" h="831325">
                <a:moveTo>
                  <a:pt x="0" y="0"/>
                </a:moveTo>
                <a:lnTo>
                  <a:pt x="831325" y="0"/>
                </a:lnTo>
                <a:lnTo>
                  <a:pt x="831325" y="831325"/>
                </a:lnTo>
                <a:lnTo>
                  <a:pt x="0" y="831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CBAD06F-D71C-48ED-A9A0-85F2F9008EF2}"/>
              </a:ext>
            </a:extLst>
          </p:cNvPr>
          <p:cNvSpPr>
            <a:spLocks noGrp="1"/>
          </p:cNvSpPr>
          <p:nvPr/>
        </p:nvSpPr>
        <p:spPr>
          <a:xfrm>
            <a:off x="9144000" y="2670773"/>
            <a:ext cx="6932203" cy="2263992"/>
          </a:xfrm>
          <a:custGeom>
            <a:avLst/>
            <a:gdLst/>
            <a:ahLst/>
            <a:cxnLst/>
            <a:rect l="l" t="t" r="r" b="b"/>
            <a:pathLst>
              <a:path w="1825765" h="596278">
                <a:moveTo>
                  <a:pt x="33504" y="0"/>
                </a:moveTo>
                <a:lnTo>
                  <a:pt x="1792261" y="0"/>
                </a:lnTo>
                <a:cubicBezTo>
                  <a:pt x="1810765" y="0"/>
                  <a:pt x="1825765" y="15000"/>
                  <a:pt x="1825765" y="33504"/>
                </a:cubicBezTo>
                <a:lnTo>
                  <a:pt x="1825765" y="562774"/>
                </a:lnTo>
                <a:cubicBezTo>
                  <a:pt x="1825765" y="581277"/>
                  <a:pt x="1810765" y="596278"/>
                  <a:pt x="1792261" y="596278"/>
                </a:cubicBezTo>
                <a:lnTo>
                  <a:pt x="33504" y="596278"/>
                </a:lnTo>
                <a:cubicBezTo>
                  <a:pt x="15000" y="596278"/>
                  <a:pt x="0" y="581277"/>
                  <a:pt x="0" y="562774"/>
                </a:cubicBezTo>
                <a:lnTo>
                  <a:pt x="0" y="33504"/>
                </a:lnTo>
                <a:cubicBezTo>
                  <a:pt x="0" y="15000"/>
                  <a:pt x="15000" y="0"/>
                  <a:pt x="3350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85E01C3-86FF-40A2-A403-63C3EA1D7E4F}"/>
              </a:ext>
            </a:extLst>
          </p:cNvPr>
          <p:cNvSpPr>
            <a:spLocks noGrp="1"/>
          </p:cNvSpPr>
          <p:nvPr/>
        </p:nvSpPr>
        <p:spPr>
          <a:xfrm>
            <a:off x="9144000" y="2526113"/>
            <a:ext cx="6932203" cy="240865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F43E89D-0AB5-4631-AC51-E11C01B70378}"/>
              </a:ext>
            </a:extLst>
          </p:cNvPr>
          <p:cNvSpPr>
            <a:spLocks noGrp="1"/>
          </p:cNvSpPr>
          <p:nvPr/>
        </p:nvSpPr>
        <p:spPr>
          <a:xfrm>
            <a:off x="14752932" y="1192435"/>
            <a:ext cx="2045015" cy="1122899"/>
          </a:xfrm>
          <a:custGeom>
            <a:avLst/>
            <a:gdLst/>
            <a:ahLst/>
            <a:cxnLst/>
            <a:rect l="l" t="t" r="r" b="b"/>
            <a:pathLst>
              <a:path w="2045015" h="1122899">
                <a:moveTo>
                  <a:pt x="0" y="0"/>
                </a:moveTo>
                <a:lnTo>
                  <a:pt x="2045015" y="0"/>
                </a:lnTo>
                <a:lnTo>
                  <a:pt x="2045015" y="1122899"/>
                </a:lnTo>
                <a:lnTo>
                  <a:pt x="0" y="1122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3AFAECA-06FF-4746-B669-009EC6465359}"/>
              </a:ext>
            </a:extLst>
          </p:cNvPr>
          <p:cNvSpPr>
            <a:spLocks noGrp="1"/>
          </p:cNvSpPr>
          <p:nvPr/>
        </p:nvSpPr>
        <p:spPr>
          <a:xfrm>
            <a:off x="9144000" y="5210989"/>
            <a:ext cx="6932203" cy="2263992"/>
          </a:xfrm>
          <a:custGeom>
            <a:avLst/>
            <a:gdLst/>
            <a:ahLst/>
            <a:cxnLst/>
            <a:rect l="l" t="t" r="r" b="b"/>
            <a:pathLst>
              <a:path w="1825765" h="596278">
                <a:moveTo>
                  <a:pt x="33504" y="0"/>
                </a:moveTo>
                <a:lnTo>
                  <a:pt x="1792261" y="0"/>
                </a:lnTo>
                <a:cubicBezTo>
                  <a:pt x="1810765" y="0"/>
                  <a:pt x="1825765" y="15000"/>
                  <a:pt x="1825765" y="33504"/>
                </a:cubicBezTo>
                <a:lnTo>
                  <a:pt x="1825765" y="562774"/>
                </a:lnTo>
                <a:cubicBezTo>
                  <a:pt x="1825765" y="581277"/>
                  <a:pt x="1810765" y="596278"/>
                  <a:pt x="1792261" y="596278"/>
                </a:cubicBezTo>
                <a:lnTo>
                  <a:pt x="33504" y="596278"/>
                </a:lnTo>
                <a:cubicBezTo>
                  <a:pt x="15000" y="596278"/>
                  <a:pt x="0" y="581277"/>
                  <a:pt x="0" y="562774"/>
                </a:cubicBezTo>
                <a:lnTo>
                  <a:pt x="0" y="33504"/>
                </a:lnTo>
                <a:cubicBezTo>
                  <a:pt x="0" y="15000"/>
                  <a:pt x="15000" y="0"/>
                  <a:pt x="3350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49C44CC-F7E5-4699-B6B6-1EA1D5882FB9}"/>
              </a:ext>
            </a:extLst>
          </p:cNvPr>
          <p:cNvSpPr>
            <a:spLocks noGrp="1"/>
          </p:cNvSpPr>
          <p:nvPr/>
        </p:nvSpPr>
        <p:spPr>
          <a:xfrm>
            <a:off x="9144000" y="5066329"/>
            <a:ext cx="6932203" cy="240865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70AB2C96-CD46-4010-A41B-CB3496F5FDF6}"/>
              </a:ext>
            </a:extLst>
          </p:cNvPr>
          <p:cNvSpPr>
            <a:spLocks noGrp="1"/>
          </p:cNvSpPr>
          <p:nvPr/>
        </p:nvSpPr>
        <p:spPr>
          <a:xfrm>
            <a:off x="9144000" y="8127389"/>
            <a:ext cx="955608" cy="931283"/>
          </a:xfrm>
          <a:custGeom>
            <a:avLst/>
            <a:gdLst/>
            <a:ahLst/>
            <a:cxnLst/>
            <a:rect l="l" t="t" r="r" b="b"/>
            <a:pathLst>
              <a:path w="955608" h="931283">
                <a:moveTo>
                  <a:pt x="0" y="0"/>
                </a:moveTo>
                <a:lnTo>
                  <a:pt x="955608" y="0"/>
                </a:lnTo>
                <a:lnTo>
                  <a:pt x="955608" y="931283"/>
                </a:lnTo>
                <a:lnTo>
                  <a:pt x="0" y="931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867136-53F8-438D-81A9-D0771DD36816}"/>
              </a:ext>
            </a:extLst>
          </p:cNvPr>
          <p:cNvSpPr>
            <a:spLocks noGrp="1"/>
          </p:cNvSpPr>
          <p:nvPr/>
        </p:nvSpPr>
        <p:spPr>
          <a:xfrm>
            <a:off x="1189469" y="1104900"/>
            <a:ext cx="8182775" cy="1285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976"/>
              </a:lnSpc>
              <a:buNone/>
            </a:pPr>
            <a:r>
              <a:rPr sz="8976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Rationality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268F1C5-BBD2-4081-88DA-885E900E3E82}"/>
              </a:ext>
            </a:extLst>
          </p:cNvPr>
          <p:cNvSpPr>
            <a:spLocks noGrp="1"/>
          </p:cNvSpPr>
          <p:nvPr/>
        </p:nvSpPr>
        <p:spPr>
          <a:xfrm>
            <a:off x="9083489" y="1620535"/>
            <a:ext cx="5723376" cy="70968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None/>
            </a:pPr>
            <a:r>
              <a:rPr sz="4200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Performance Measure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47ACE48-BFBF-4182-A617-B248C1350782}"/>
              </a:ext>
            </a:extLst>
          </p:cNvPr>
          <p:cNvSpPr>
            <a:spLocks noGrp="1"/>
          </p:cNvSpPr>
          <p:nvPr/>
        </p:nvSpPr>
        <p:spPr>
          <a:xfrm>
            <a:off x="9444763" y="2894240"/>
            <a:ext cx="6330676" cy="16027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External criterion used to evaluate the success of the agent’s behavior.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is defined by the designer, not by the agent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8FEF5E7-DA74-45E3-AE23-65FBC4B14438}"/>
              </a:ext>
            </a:extLst>
          </p:cNvPr>
          <p:cNvSpPr>
            <a:spLocks noGrp="1"/>
          </p:cNvSpPr>
          <p:nvPr/>
        </p:nvSpPr>
        <p:spPr>
          <a:xfrm>
            <a:off x="9444763" y="5434457"/>
            <a:ext cx="6330676" cy="15646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⚠️ Important: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you get what you ask for... a poor measure produces unintended behavior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AA5B823-50D6-4286-9723-AA29073B7FB6}"/>
              </a:ext>
            </a:extLst>
          </p:cNvPr>
          <p:cNvSpPr>
            <a:spLocks noGrp="1"/>
          </p:cNvSpPr>
          <p:nvPr/>
        </p:nvSpPr>
        <p:spPr>
          <a:xfrm>
            <a:off x="10307018" y="7970281"/>
            <a:ext cx="6330676" cy="10883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What happens if we specify it incorrectly...?</a:t>
            </a:r>
          </a:p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What if we do not specify everything?</a:t>
            </a:r>
          </a:p>
        </p:txBody>
      </p:sp>
      <p:sp>
        <p:nvSpPr>
          <p:cNvPr id="20" name="Freeform 20">
            <a:hlinkClick r:id="rId7"/>
            <a:extLst>
              <a:ext uri="{FF2B5EF4-FFF2-40B4-BE49-F238E27FC236}">
                <a16:creationId xmlns:a16="http://schemas.microsoft.com/office/drawing/2014/main" id="{3DCC6E8B-FDFA-4142-92D6-59E4F9684B03}"/>
              </a:ext>
            </a:extLst>
          </p:cNvPr>
          <p:cNvSpPr>
            <a:spLocks noGrp="1"/>
          </p:cNvSpPr>
          <p:nvPr/>
        </p:nvSpPr>
        <p:spPr>
          <a:xfrm>
            <a:off x="16222032" y="8127389"/>
            <a:ext cx="831325" cy="831325"/>
          </a:xfrm>
          <a:custGeom>
            <a:avLst/>
            <a:gdLst/>
            <a:ahLst/>
            <a:cxnLst/>
            <a:rect l="l" t="t" r="r" b="b"/>
            <a:pathLst>
              <a:path w="831325" h="831325">
                <a:moveTo>
                  <a:pt x="0" y="0"/>
                </a:moveTo>
                <a:lnTo>
                  <a:pt x="831325" y="0"/>
                </a:lnTo>
                <a:lnTo>
                  <a:pt x="831325" y="831325"/>
                </a:lnTo>
                <a:lnTo>
                  <a:pt x="0" y="831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2098979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6BAF75E-EEF2-4D3A-BE36-1261985F4461}"/>
              </a:ext>
            </a:extLst>
          </p:cNvPr>
          <p:cNvSpPr>
            <a:spLocks noGrp="1"/>
          </p:cNvSpPr>
          <p:nvPr/>
        </p:nvSpPr>
        <p:spPr>
          <a:xfrm>
            <a:off x="4493749" y="1028700"/>
            <a:ext cx="1879148" cy="1482178"/>
          </a:xfrm>
          <a:custGeom>
            <a:avLst/>
            <a:gdLst/>
            <a:ahLst/>
            <a:cxnLst/>
            <a:rect l="l" t="t" r="r" b="b"/>
            <a:pathLst>
              <a:path w="1879148" h="1482178">
                <a:moveTo>
                  <a:pt x="0" y="0"/>
                </a:moveTo>
                <a:lnTo>
                  <a:pt x="1879148" y="0"/>
                </a:lnTo>
                <a:lnTo>
                  <a:pt x="1879148" y="1482178"/>
                </a:lnTo>
                <a:lnTo>
                  <a:pt x="0" y="14821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A64356B-4B8E-46F7-B527-5397D0BF928C}"/>
              </a:ext>
            </a:extLst>
          </p:cNvPr>
          <p:cNvSpPr>
            <a:spLocks noGrp="1"/>
          </p:cNvSpPr>
          <p:nvPr/>
        </p:nvSpPr>
        <p:spPr>
          <a:xfrm>
            <a:off x="1028700" y="3473776"/>
            <a:ext cx="914173" cy="824418"/>
          </a:xfrm>
          <a:custGeom>
            <a:avLst/>
            <a:gdLst/>
            <a:ahLst/>
            <a:cxnLst/>
            <a:rect l="l" t="t" r="r" b="b"/>
            <a:pathLst>
              <a:path w="914173" h="824418">
                <a:moveTo>
                  <a:pt x="0" y="0"/>
                </a:moveTo>
                <a:lnTo>
                  <a:pt x="914173" y="0"/>
                </a:lnTo>
                <a:lnTo>
                  <a:pt x="914173" y="824417"/>
                </a:lnTo>
                <a:lnTo>
                  <a:pt x="0" y="824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F799867-2A26-4978-9A0C-A2997E7AB5EB}"/>
              </a:ext>
            </a:extLst>
          </p:cNvPr>
          <p:cNvSpPr>
            <a:spLocks noGrp="1"/>
          </p:cNvSpPr>
          <p:nvPr/>
        </p:nvSpPr>
        <p:spPr>
          <a:xfrm>
            <a:off x="6808583" y="1123950"/>
            <a:ext cx="8429132" cy="151130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0592"/>
              </a:lnSpc>
              <a:buNone/>
            </a:pPr>
            <a:r>
              <a:rPr sz="10592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PEAS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07AC9EE-5C84-40F2-9486-87C187C9B8CB}"/>
              </a:ext>
            </a:extLst>
          </p:cNvPr>
          <p:cNvSpPr>
            <a:spLocks noGrp="1"/>
          </p:cNvSpPr>
          <p:nvPr/>
        </p:nvSpPr>
        <p:spPr>
          <a:xfrm>
            <a:off x="1028700" y="4696551"/>
            <a:ext cx="914173" cy="824418"/>
          </a:xfrm>
          <a:custGeom>
            <a:avLst/>
            <a:gdLst/>
            <a:ahLst/>
            <a:cxnLst/>
            <a:rect l="l" t="t" r="r" b="b"/>
            <a:pathLst>
              <a:path w="914173" h="824418">
                <a:moveTo>
                  <a:pt x="0" y="0"/>
                </a:moveTo>
                <a:lnTo>
                  <a:pt x="914173" y="0"/>
                </a:lnTo>
                <a:lnTo>
                  <a:pt x="914173" y="824418"/>
                </a:lnTo>
                <a:lnTo>
                  <a:pt x="0" y="824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BAE644D-3749-4B47-80A4-B1FBB41D3E29}"/>
              </a:ext>
            </a:extLst>
          </p:cNvPr>
          <p:cNvSpPr>
            <a:spLocks noGrp="1"/>
          </p:cNvSpPr>
          <p:nvPr/>
        </p:nvSpPr>
        <p:spPr>
          <a:xfrm>
            <a:off x="1028700" y="5919327"/>
            <a:ext cx="914173" cy="824418"/>
          </a:xfrm>
          <a:custGeom>
            <a:avLst/>
            <a:gdLst/>
            <a:ahLst/>
            <a:cxnLst/>
            <a:rect l="l" t="t" r="r" b="b"/>
            <a:pathLst>
              <a:path w="914173" h="824418">
                <a:moveTo>
                  <a:pt x="0" y="0"/>
                </a:moveTo>
                <a:lnTo>
                  <a:pt x="914173" y="0"/>
                </a:lnTo>
                <a:lnTo>
                  <a:pt x="914173" y="824417"/>
                </a:lnTo>
                <a:lnTo>
                  <a:pt x="0" y="8244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9929C42-9A17-4BA8-9637-4CC8C3EBA5A0}"/>
              </a:ext>
            </a:extLst>
          </p:cNvPr>
          <p:cNvSpPr>
            <a:spLocks noGrp="1"/>
          </p:cNvSpPr>
          <p:nvPr/>
        </p:nvSpPr>
        <p:spPr>
          <a:xfrm>
            <a:off x="1028700" y="7142102"/>
            <a:ext cx="866272" cy="781220"/>
          </a:xfrm>
          <a:custGeom>
            <a:avLst/>
            <a:gdLst/>
            <a:ahLst/>
            <a:cxnLst/>
            <a:rect l="l" t="t" r="r" b="b"/>
            <a:pathLst>
              <a:path w="866272" h="781220">
                <a:moveTo>
                  <a:pt x="0" y="0"/>
                </a:moveTo>
                <a:lnTo>
                  <a:pt x="866272" y="0"/>
                </a:lnTo>
                <a:lnTo>
                  <a:pt x="866272" y="781220"/>
                </a:lnTo>
                <a:lnTo>
                  <a:pt x="0" y="7812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F2BA1E8-5D15-466A-9AAA-3041C9BC79D6}"/>
              </a:ext>
            </a:extLst>
          </p:cNvPr>
          <p:cNvSpPr>
            <a:spLocks noGrp="1"/>
          </p:cNvSpPr>
          <p:nvPr/>
        </p:nvSpPr>
        <p:spPr>
          <a:xfrm>
            <a:off x="2279695" y="3480144"/>
            <a:ext cx="13668638" cy="818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360"/>
              </a:lnSpc>
              <a:spcBef>
                <a:spcPct val="0"/>
              </a:spcBef>
              <a:buNone/>
            </a:pPr>
            <a:r>
              <a:rPr sz="4543" b="1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Performance — </a:t>
            </a:r>
            <a:r>
              <a:rPr sz="4543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Success criterion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97137F-97C3-4F59-92B6-F5B5895721FC}"/>
              </a:ext>
            </a:extLst>
          </p:cNvPr>
          <p:cNvSpPr>
            <a:spLocks noGrp="1"/>
          </p:cNvSpPr>
          <p:nvPr/>
        </p:nvSpPr>
        <p:spPr>
          <a:xfrm>
            <a:off x="2279695" y="4660545"/>
            <a:ext cx="15387174" cy="818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360"/>
              </a:lnSpc>
              <a:spcBef>
                <a:spcPct val="0"/>
              </a:spcBef>
              <a:buNone/>
            </a:pPr>
            <a:r>
              <a:rPr sz="4543" b="1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Environment — </a:t>
            </a:r>
            <a:r>
              <a:rPr sz="4543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The world in which the agent operates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43E0813-5BAE-4898-9B61-293BC77D9773}"/>
              </a:ext>
            </a:extLst>
          </p:cNvPr>
          <p:cNvSpPr>
            <a:spLocks noGrp="1"/>
          </p:cNvSpPr>
          <p:nvPr/>
        </p:nvSpPr>
        <p:spPr>
          <a:xfrm>
            <a:off x="2279695" y="5980665"/>
            <a:ext cx="15527042" cy="7693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360"/>
              </a:lnSpc>
              <a:spcBef>
                <a:spcPct val="0"/>
              </a:spcBef>
              <a:buNone/>
            </a:pPr>
            <a:r>
              <a:rPr sz="4543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Actuators — </a:t>
            </a:r>
            <a:r>
              <a:rPr sz="4543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Mechanisms for acting on the environment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8103760-C50D-4511-A2BA-BE293EACF137}"/>
              </a:ext>
            </a:extLst>
          </p:cNvPr>
          <p:cNvSpPr>
            <a:spLocks noGrp="1"/>
          </p:cNvSpPr>
          <p:nvPr/>
        </p:nvSpPr>
        <p:spPr>
          <a:xfrm>
            <a:off x="2279695" y="7105272"/>
            <a:ext cx="15238284" cy="76937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360"/>
              </a:lnSpc>
              <a:spcBef>
                <a:spcPct val="0"/>
              </a:spcBef>
              <a:buNone/>
            </a:pPr>
            <a:r>
              <a:rPr sz="4543" b="1" dirty="0">
                <a:solidFill>
                  <a:srgbClr val="1B1B1B"/>
                </a:solidFill>
                <a:latin typeface="Telegraf Bold"/>
                <a:ea typeface="Telegraf Bold"/>
                <a:cs typeface="Telegraf Bold"/>
              </a:rPr>
              <a:t>Sensors — </a:t>
            </a:r>
            <a:r>
              <a:rPr sz="4543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Mechanisms for perceiving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1805385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6CD0B71-D351-496D-B82F-2DE144A3A01B}"/>
              </a:ext>
            </a:extLst>
          </p:cNvPr>
          <p:cNvSpPr>
            <a:spLocks noGrp="1"/>
          </p:cNvSpPr>
          <p:nvPr/>
        </p:nvSpPr>
        <p:spPr>
          <a:xfrm>
            <a:off x="3550973" y="256592"/>
            <a:ext cx="11186055" cy="9773815"/>
          </a:xfrm>
          <a:custGeom>
            <a:avLst/>
            <a:gdLst/>
            <a:ahLst/>
            <a:cxnLst/>
            <a:rect l="l" t="t" r="r" b="b"/>
            <a:pathLst>
              <a:path w="11186055" h="9773815">
                <a:moveTo>
                  <a:pt x="0" y="0"/>
                </a:moveTo>
                <a:lnTo>
                  <a:pt x="11186054" y="0"/>
                </a:lnTo>
                <a:lnTo>
                  <a:pt x="11186054" y="9773816"/>
                </a:lnTo>
                <a:lnTo>
                  <a:pt x="0" y="9773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990263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87C7A42-587A-412F-9909-D428711C7EA8}"/>
              </a:ext>
            </a:extLst>
          </p:cNvPr>
          <p:cNvSpPr>
            <a:spLocks noGrp="1"/>
          </p:cNvSpPr>
          <p:nvPr/>
        </p:nvSpPr>
        <p:spPr>
          <a:xfrm>
            <a:off x="6681831" y="3246436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37" b="-5537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BEEB704-E6D2-4BCC-8E95-CD34388B8C4C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Environment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6F4345B-D464-4187-BA10-BC4AD5E06ACF}"/>
              </a:ext>
            </a:extLst>
          </p:cNvPr>
          <p:cNvSpPr>
            <a:spLocks noGrp="1"/>
          </p:cNvSpPr>
          <p:nvPr/>
        </p:nvSpPr>
        <p:spPr>
          <a:xfrm>
            <a:off x="1523697" y="3852862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Fully Observable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84FF5E-F5A6-455F-8587-0F9D0BFA717C}"/>
              </a:ext>
            </a:extLst>
          </p:cNvPr>
          <p:cNvSpPr>
            <a:spLocks noGrp="1"/>
          </p:cNvSpPr>
          <p:nvPr/>
        </p:nvSpPr>
        <p:spPr>
          <a:xfrm>
            <a:off x="12101165" y="3852862"/>
            <a:ext cx="6042456" cy="8425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Partially Observable 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C6E0DB1-5A9F-421C-B2B5-BC500EB41056}"/>
              </a:ext>
            </a:extLst>
          </p:cNvPr>
          <p:cNvSpPr>
            <a:spLocks noGrp="1"/>
          </p:cNvSpPr>
          <p:nvPr/>
        </p:nvSpPr>
        <p:spPr>
          <a:xfrm>
            <a:off x="1926722" y="6305824"/>
            <a:ext cx="13808178" cy="2717789"/>
          </a:xfrm>
          <a:custGeom>
            <a:avLst/>
            <a:gdLst/>
            <a:ahLst/>
            <a:cxnLst/>
            <a:rect l="l" t="t" r="r" b="b"/>
            <a:pathLst>
              <a:path w="3636722" h="715796">
                <a:moveTo>
                  <a:pt x="16820" y="0"/>
                </a:moveTo>
                <a:lnTo>
                  <a:pt x="3619902" y="0"/>
                </a:lnTo>
                <a:cubicBezTo>
                  <a:pt x="3629191" y="0"/>
                  <a:pt x="3636722" y="7531"/>
                  <a:pt x="3636722" y="16820"/>
                </a:cubicBezTo>
                <a:lnTo>
                  <a:pt x="3636722" y="698976"/>
                </a:lnTo>
                <a:cubicBezTo>
                  <a:pt x="3636722" y="708266"/>
                  <a:pt x="3629191" y="715796"/>
                  <a:pt x="3619902" y="715796"/>
                </a:cubicBezTo>
                <a:lnTo>
                  <a:pt x="16820" y="715796"/>
                </a:lnTo>
                <a:cubicBezTo>
                  <a:pt x="7531" y="715796"/>
                  <a:pt x="0" y="708266"/>
                  <a:pt x="0" y="698976"/>
                </a:cubicBezTo>
                <a:lnTo>
                  <a:pt x="0" y="16820"/>
                </a:lnTo>
                <a:cubicBezTo>
                  <a:pt x="0" y="7531"/>
                  <a:pt x="7531" y="0"/>
                  <a:pt x="1682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0105DDD-F13E-45A3-8A71-B8C367161DD6}"/>
              </a:ext>
            </a:extLst>
          </p:cNvPr>
          <p:cNvSpPr>
            <a:spLocks noGrp="1"/>
          </p:cNvSpPr>
          <p:nvPr/>
        </p:nvSpPr>
        <p:spPr>
          <a:xfrm>
            <a:off x="1926722" y="6161164"/>
            <a:ext cx="13808178" cy="286244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D26E590-B29E-4C64-8510-2740A1E0315A}"/>
              </a:ext>
            </a:extLst>
          </p:cNvPr>
          <p:cNvSpPr>
            <a:spLocks noGrp="1"/>
          </p:cNvSpPr>
          <p:nvPr/>
        </p:nvSpPr>
        <p:spPr>
          <a:xfrm>
            <a:off x="2107842" y="6567811"/>
            <a:ext cx="13445937" cy="215011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Can the agent access the complete state of the environment at all times?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Can the sensors detect the aspects relevant to choosing an action?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Does it need memory and state estimation?</a:t>
            </a:r>
          </a:p>
        </p:txBody>
      </p:sp>
    </p:spTree>
    <p:extLst>
      <p:ext uri="{BB962C8B-B14F-4D97-AF65-F5344CB8AC3E}">
        <p14:creationId xmlns:p14="http://schemas.microsoft.com/office/powerpoint/2010/main" val="191756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138B675C-C341-4883-9989-06B6337303B5}"/>
              </a:ext>
            </a:extLst>
          </p:cNvPr>
          <p:cNvSpPr>
            <a:spLocks noGrp="1"/>
          </p:cNvSpPr>
          <p:nvPr/>
        </p:nvSpPr>
        <p:spPr>
          <a:xfrm>
            <a:off x="6837690" y="3379840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515626-3F17-4A33-BF37-B15AFDCC3227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Environment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525417C-CA47-416A-BE38-00A07E86EB0E}"/>
              </a:ext>
            </a:extLst>
          </p:cNvPr>
          <p:cNvSpPr>
            <a:spLocks noGrp="1"/>
          </p:cNvSpPr>
          <p:nvPr/>
        </p:nvSpPr>
        <p:spPr>
          <a:xfrm>
            <a:off x="1523697" y="3094036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Deterministic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768A9A-12AA-426F-B951-27305A025028}"/>
              </a:ext>
            </a:extLst>
          </p:cNvPr>
          <p:cNvSpPr>
            <a:spLocks noGrp="1"/>
          </p:cNvSpPr>
          <p:nvPr/>
        </p:nvSpPr>
        <p:spPr>
          <a:xfrm>
            <a:off x="12101165" y="3094036"/>
            <a:ext cx="5775089" cy="8425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Non-Deterministic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37F32F8-6191-4EEF-B979-4A1305568900}"/>
              </a:ext>
            </a:extLst>
          </p:cNvPr>
          <p:cNvSpPr>
            <a:spLocks noGrp="1"/>
          </p:cNvSpPr>
          <p:nvPr/>
        </p:nvSpPr>
        <p:spPr>
          <a:xfrm>
            <a:off x="1926722" y="6929331"/>
            <a:ext cx="13808178" cy="2328969"/>
          </a:xfrm>
          <a:custGeom>
            <a:avLst/>
            <a:gdLst/>
            <a:ahLst/>
            <a:cxnLst/>
            <a:rect l="l" t="t" r="r" b="b"/>
            <a:pathLst>
              <a:path w="3636722" h="613391">
                <a:moveTo>
                  <a:pt x="16820" y="0"/>
                </a:moveTo>
                <a:lnTo>
                  <a:pt x="3619902" y="0"/>
                </a:lnTo>
                <a:cubicBezTo>
                  <a:pt x="3629191" y="0"/>
                  <a:pt x="3636722" y="7531"/>
                  <a:pt x="3636722" y="16820"/>
                </a:cubicBezTo>
                <a:lnTo>
                  <a:pt x="3636722" y="596571"/>
                </a:lnTo>
                <a:cubicBezTo>
                  <a:pt x="3636722" y="605860"/>
                  <a:pt x="3629191" y="613391"/>
                  <a:pt x="3619902" y="613391"/>
                </a:cubicBezTo>
                <a:lnTo>
                  <a:pt x="16820" y="613391"/>
                </a:lnTo>
                <a:cubicBezTo>
                  <a:pt x="7531" y="613391"/>
                  <a:pt x="0" y="605860"/>
                  <a:pt x="0" y="596571"/>
                </a:cubicBezTo>
                <a:lnTo>
                  <a:pt x="0" y="16820"/>
                </a:lnTo>
                <a:cubicBezTo>
                  <a:pt x="0" y="7531"/>
                  <a:pt x="7531" y="0"/>
                  <a:pt x="1682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0BA5EE1-FA0C-4742-B6ED-485631284F5A}"/>
              </a:ext>
            </a:extLst>
          </p:cNvPr>
          <p:cNvSpPr>
            <a:spLocks noGrp="1"/>
          </p:cNvSpPr>
          <p:nvPr/>
        </p:nvSpPr>
        <p:spPr>
          <a:xfrm>
            <a:off x="1926722" y="6784671"/>
            <a:ext cx="13808178" cy="247362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CD11332-B8E6-40E2-9E42-7E14DFA23B44}"/>
              </a:ext>
            </a:extLst>
          </p:cNvPr>
          <p:cNvSpPr>
            <a:spLocks noGrp="1"/>
          </p:cNvSpPr>
          <p:nvPr/>
        </p:nvSpPr>
        <p:spPr>
          <a:xfrm>
            <a:off x="2107842" y="7191319"/>
            <a:ext cx="13445937" cy="16071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Is the next state completely determined by the current state and the agent’s action?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Must uncertainty be handled?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C4F4B00A-AF70-4C5C-90BA-36AE869E169B}"/>
              </a:ext>
            </a:extLst>
          </p:cNvPr>
          <p:cNvSpPr>
            <a:spLocks noGrp="1"/>
          </p:cNvSpPr>
          <p:nvPr/>
        </p:nvSpPr>
        <p:spPr>
          <a:xfrm>
            <a:off x="1204847" y="4138665"/>
            <a:ext cx="5192035" cy="2009670"/>
          </a:xfrm>
          <a:custGeom>
            <a:avLst/>
            <a:gdLst/>
            <a:ahLst/>
            <a:cxnLst/>
            <a:rect l="l" t="t" r="r" b="b"/>
            <a:pathLst>
              <a:path w="1367449" h="52929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484562"/>
                </a:lnTo>
                <a:cubicBezTo>
                  <a:pt x="1367449" y="509268"/>
                  <a:pt x="1347422" y="529296"/>
                  <a:pt x="1322716" y="529296"/>
                </a:cubicBezTo>
                <a:lnTo>
                  <a:pt x="44733" y="529296"/>
                </a:lnTo>
                <a:cubicBezTo>
                  <a:pt x="20028" y="529296"/>
                  <a:pt x="0" y="509268"/>
                  <a:pt x="0" y="48456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BA09092-6EBA-47FA-9475-103F8158FB73}"/>
              </a:ext>
            </a:extLst>
          </p:cNvPr>
          <p:cNvSpPr>
            <a:spLocks noGrp="1"/>
          </p:cNvSpPr>
          <p:nvPr/>
        </p:nvSpPr>
        <p:spPr>
          <a:xfrm>
            <a:off x="1204847" y="3994005"/>
            <a:ext cx="5192035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CC4E6F7-B32E-4856-B4EC-7070DEA9A566}"/>
              </a:ext>
            </a:extLst>
          </p:cNvPr>
          <p:cNvSpPr>
            <a:spLocks noGrp="1"/>
          </p:cNvSpPr>
          <p:nvPr/>
        </p:nvSpPr>
        <p:spPr>
          <a:xfrm>
            <a:off x="1433150" y="4362133"/>
            <a:ext cx="4805471" cy="15646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Given the same input, you always get the same output.</a:t>
            </a:r>
          </a:p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</a:t>
            </a: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No randomness.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67E1E818-F088-4E7F-90FD-D451C4DC838C}"/>
              </a:ext>
            </a:extLst>
          </p:cNvPr>
          <p:cNvSpPr>
            <a:spLocks noGrp="1"/>
          </p:cNvSpPr>
          <p:nvPr/>
        </p:nvSpPr>
        <p:spPr>
          <a:xfrm>
            <a:off x="12067265" y="4138665"/>
            <a:ext cx="5192035" cy="2009670"/>
          </a:xfrm>
          <a:custGeom>
            <a:avLst/>
            <a:gdLst/>
            <a:ahLst/>
            <a:cxnLst/>
            <a:rect l="l" t="t" r="r" b="b"/>
            <a:pathLst>
              <a:path w="1367449" h="52929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484562"/>
                </a:lnTo>
                <a:cubicBezTo>
                  <a:pt x="1367449" y="509268"/>
                  <a:pt x="1347422" y="529296"/>
                  <a:pt x="1322716" y="529296"/>
                </a:cubicBezTo>
                <a:lnTo>
                  <a:pt x="44733" y="529296"/>
                </a:lnTo>
                <a:cubicBezTo>
                  <a:pt x="20028" y="529296"/>
                  <a:pt x="0" y="509268"/>
                  <a:pt x="0" y="48456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1DCA004-0618-467E-AE43-524DEB2A0B4C}"/>
              </a:ext>
            </a:extLst>
          </p:cNvPr>
          <p:cNvSpPr>
            <a:spLocks noGrp="1"/>
          </p:cNvSpPr>
          <p:nvPr/>
        </p:nvSpPr>
        <p:spPr>
          <a:xfrm>
            <a:off x="12067265" y="3994005"/>
            <a:ext cx="5192035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5062AED-A420-4DEA-8F75-3A1552763240}"/>
              </a:ext>
            </a:extLst>
          </p:cNvPr>
          <p:cNvSpPr>
            <a:spLocks noGrp="1"/>
          </p:cNvSpPr>
          <p:nvPr/>
        </p:nvSpPr>
        <p:spPr>
          <a:xfrm>
            <a:off x="12295568" y="4362133"/>
            <a:ext cx="4805471" cy="16027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Stochastic Systems: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Same input can give different outputs due to </a:t>
            </a: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randomness.</a:t>
            </a:r>
          </a:p>
        </p:txBody>
      </p:sp>
    </p:spTree>
    <p:extLst>
      <p:ext uri="{BB962C8B-B14F-4D97-AF65-F5344CB8AC3E}">
        <p14:creationId xmlns:p14="http://schemas.microsoft.com/office/powerpoint/2010/main" val="1037223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A71AE23-5A3E-4900-B465-4C579567AF86}"/>
              </a:ext>
            </a:extLst>
          </p:cNvPr>
          <p:cNvSpPr>
            <a:spLocks noGrp="1"/>
          </p:cNvSpPr>
          <p:nvPr/>
        </p:nvSpPr>
        <p:spPr>
          <a:xfrm>
            <a:off x="6837690" y="3379840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B8028D-365F-4AA0-8355-FD31877C1104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Environment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01DDB6C-CB86-4D4D-96E1-C8E7DE02E7D6}"/>
              </a:ext>
            </a:extLst>
          </p:cNvPr>
          <p:cNvSpPr>
            <a:spLocks noGrp="1"/>
          </p:cNvSpPr>
          <p:nvPr/>
        </p:nvSpPr>
        <p:spPr>
          <a:xfrm>
            <a:off x="2107842" y="3852862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Episodic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0D801C8-0D51-4C36-B30A-CE7460542DF9}"/>
              </a:ext>
            </a:extLst>
          </p:cNvPr>
          <p:cNvSpPr>
            <a:spLocks noGrp="1"/>
          </p:cNvSpPr>
          <p:nvPr/>
        </p:nvSpPr>
        <p:spPr>
          <a:xfrm>
            <a:off x="12778898" y="3473449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Sequential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54499CE-C785-4511-86EA-A8798AACF468}"/>
              </a:ext>
            </a:extLst>
          </p:cNvPr>
          <p:cNvSpPr>
            <a:spLocks noGrp="1"/>
          </p:cNvSpPr>
          <p:nvPr/>
        </p:nvSpPr>
        <p:spPr>
          <a:xfrm>
            <a:off x="1926722" y="6929331"/>
            <a:ext cx="13808178" cy="2328969"/>
          </a:xfrm>
          <a:custGeom>
            <a:avLst/>
            <a:gdLst/>
            <a:ahLst/>
            <a:cxnLst/>
            <a:rect l="l" t="t" r="r" b="b"/>
            <a:pathLst>
              <a:path w="3636722" h="613391">
                <a:moveTo>
                  <a:pt x="16820" y="0"/>
                </a:moveTo>
                <a:lnTo>
                  <a:pt x="3619902" y="0"/>
                </a:lnTo>
                <a:cubicBezTo>
                  <a:pt x="3629191" y="0"/>
                  <a:pt x="3636722" y="7531"/>
                  <a:pt x="3636722" y="16820"/>
                </a:cubicBezTo>
                <a:lnTo>
                  <a:pt x="3636722" y="596571"/>
                </a:lnTo>
                <a:cubicBezTo>
                  <a:pt x="3636722" y="605860"/>
                  <a:pt x="3629191" y="613391"/>
                  <a:pt x="3619902" y="613391"/>
                </a:cubicBezTo>
                <a:lnTo>
                  <a:pt x="16820" y="613391"/>
                </a:lnTo>
                <a:cubicBezTo>
                  <a:pt x="7531" y="613391"/>
                  <a:pt x="0" y="605860"/>
                  <a:pt x="0" y="596571"/>
                </a:cubicBezTo>
                <a:lnTo>
                  <a:pt x="0" y="16820"/>
                </a:lnTo>
                <a:cubicBezTo>
                  <a:pt x="0" y="7531"/>
                  <a:pt x="7531" y="0"/>
                  <a:pt x="1682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FE0065-7C50-4EE8-A850-599C78ACBCE5}"/>
              </a:ext>
            </a:extLst>
          </p:cNvPr>
          <p:cNvSpPr>
            <a:spLocks noGrp="1"/>
          </p:cNvSpPr>
          <p:nvPr/>
        </p:nvSpPr>
        <p:spPr>
          <a:xfrm>
            <a:off x="1926722" y="6784671"/>
            <a:ext cx="13808178" cy="247362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9923C7E-FA96-4191-9756-A15607897B2F}"/>
              </a:ext>
            </a:extLst>
          </p:cNvPr>
          <p:cNvSpPr>
            <a:spLocks noGrp="1"/>
          </p:cNvSpPr>
          <p:nvPr/>
        </p:nvSpPr>
        <p:spPr>
          <a:xfrm>
            <a:off x="2107842" y="7360752"/>
            <a:ext cx="13445937" cy="10642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Is each percept–action episode independent of the previous one?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Can current decisions affect future decisions?</a:t>
            </a:r>
          </a:p>
        </p:txBody>
      </p:sp>
    </p:spTree>
    <p:extLst>
      <p:ext uri="{BB962C8B-B14F-4D97-AF65-F5344CB8AC3E}">
        <p14:creationId xmlns:p14="http://schemas.microsoft.com/office/powerpoint/2010/main" val="200838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92BF7D9-8612-45F8-9955-CFE0B3603688}"/>
              </a:ext>
            </a:extLst>
          </p:cNvPr>
          <p:cNvSpPr>
            <a:spLocks noGrp="1"/>
          </p:cNvSpPr>
          <p:nvPr/>
        </p:nvSpPr>
        <p:spPr>
          <a:xfrm>
            <a:off x="6837690" y="3379840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3604C02-A031-4111-8E39-09FDBE2EDC63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Environment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CBCA54E-6983-45BC-B24A-1CAEDC609562}"/>
              </a:ext>
            </a:extLst>
          </p:cNvPr>
          <p:cNvSpPr>
            <a:spLocks noGrp="1"/>
          </p:cNvSpPr>
          <p:nvPr/>
        </p:nvSpPr>
        <p:spPr>
          <a:xfrm>
            <a:off x="2107842" y="3852862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Static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0E31D56-6089-4BE0-BBC2-9FDA15ACAA89}"/>
              </a:ext>
            </a:extLst>
          </p:cNvPr>
          <p:cNvSpPr>
            <a:spLocks noGrp="1"/>
          </p:cNvSpPr>
          <p:nvPr/>
        </p:nvSpPr>
        <p:spPr>
          <a:xfrm>
            <a:off x="12778898" y="3473449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Dynamic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DF487A6-CE18-4DE2-80DC-8C4FCA94F30D}"/>
              </a:ext>
            </a:extLst>
          </p:cNvPr>
          <p:cNvSpPr>
            <a:spLocks noGrp="1"/>
          </p:cNvSpPr>
          <p:nvPr/>
        </p:nvSpPr>
        <p:spPr>
          <a:xfrm>
            <a:off x="1926721" y="6929331"/>
            <a:ext cx="14253435" cy="2328969"/>
          </a:xfrm>
          <a:custGeom>
            <a:avLst/>
            <a:gdLst/>
            <a:ahLst/>
            <a:cxnLst/>
            <a:rect l="l" t="t" r="r" b="b"/>
            <a:pathLst>
              <a:path w="3636722" h="613391">
                <a:moveTo>
                  <a:pt x="16820" y="0"/>
                </a:moveTo>
                <a:lnTo>
                  <a:pt x="3619902" y="0"/>
                </a:lnTo>
                <a:cubicBezTo>
                  <a:pt x="3629191" y="0"/>
                  <a:pt x="3636722" y="7531"/>
                  <a:pt x="3636722" y="16820"/>
                </a:cubicBezTo>
                <a:lnTo>
                  <a:pt x="3636722" y="596571"/>
                </a:lnTo>
                <a:cubicBezTo>
                  <a:pt x="3636722" y="605860"/>
                  <a:pt x="3629191" y="613391"/>
                  <a:pt x="3619902" y="613391"/>
                </a:cubicBezTo>
                <a:lnTo>
                  <a:pt x="16820" y="613391"/>
                </a:lnTo>
                <a:cubicBezTo>
                  <a:pt x="7531" y="613391"/>
                  <a:pt x="0" y="605860"/>
                  <a:pt x="0" y="596571"/>
                </a:cubicBezTo>
                <a:lnTo>
                  <a:pt x="0" y="16820"/>
                </a:lnTo>
                <a:cubicBezTo>
                  <a:pt x="0" y="7531"/>
                  <a:pt x="7531" y="0"/>
                  <a:pt x="1682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54205E6-DDB0-4563-9308-000FC612DDC7}"/>
              </a:ext>
            </a:extLst>
          </p:cNvPr>
          <p:cNvSpPr>
            <a:spLocks noGrp="1"/>
          </p:cNvSpPr>
          <p:nvPr/>
        </p:nvSpPr>
        <p:spPr>
          <a:xfrm>
            <a:off x="1926722" y="6784671"/>
            <a:ext cx="14253436" cy="2473629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226D74-5A9F-483A-AA04-A7051DCCA46A}"/>
              </a:ext>
            </a:extLst>
          </p:cNvPr>
          <p:cNvSpPr>
            <a:spLocks noGrp="1"/>
          </p:cNvSpPr>
          <p:nvPr/>
        </p:nvSpPr>
        <p:spPr>
          <a:xfrm>
            <a:off x="2107842" y="7010313"/>
            <a:ext cx="13902179" cy="216700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Does the environment change while the agent deliberates?</a:t>
            </a:r>
          </a:p>
          <a:p>
            <a:pPr marL="1338563" indent="-446188" algn="l">
              <a:lnSpc>
                <a:spcPts val="4339"/>
              </a:lnSpc>
              <a:buFont typeface="Arial"/>
              <a:buChar char="⚬"/>
            </a:pP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If it changes, the agent must act quickly.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2800" b="1" dirty="0" err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Semidynamic</a:t>
            </a:r>
            <a:r>
              <a:rPr sz="2800" b="1" dirty="0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:</a:t>
            </a:r>
            <a:r>
              <a:rPr sz="2800" dirty="0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the environment does not change, but performance does (chess with a clock)</a:t>
            </a:r>
          </a:p>
        </p:txBody>
      </p:sp>
    </p:spTree>
    <p:extLst>
      <p:ext uri="{BB962C8B-B14F-4D97-AF65-F5344CB8AC3E}">
        <p14:creationId xmlns:p14="http://schemas.microsoft.com/office/powerpoint/2010/main" val="197701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DA90A52-F46B-4CA7-83CD-694C825DD9EE}"/>
              </a:ext>
            </a:extLst>
          </p:cNvPr>
          <p:cNvSpPr>
            <a:spLocks noGrp="1"/>
          </p:cNvSpPr>
          <p:nvPr/>
        </p:nvSpPr>
        <p:spPr>
          <a:xfrm>
            <a:off x="6837690" y="2375005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3"/>
            <a:stretch>
              <a:fillRect t="-2962" b="-296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B80C13-6AB4-40F1-A8BB-107199956E16}"/>
              </a:ext>
            </a:extLst>
          </p:cNvPr>
          <p:cNvSpPr>
            <a:spLocks noGrp="1"/>
          </p:cNvSpPr>
          <p:nvPr/>
        </p:nvSpPr>
        <p:spPr>
          <a:xfrm>
            <a:off x="1204847" y="4138665"/>
            <a:ext cx="5192035" cy="2009670"/>
          </a:xfrm>
          <a:custGeom>
            <a:avLst/>
            <a:gdLst/>
            <a:ahLst/>
            <a:cxnLst/>
            <a:rect l="l" t="t" r="r" b="b"/>
            <a:pathLst>
              <a:path w="1367449" h="52929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484562"/>
                </a:lnTo>
                <a:cubicBezTo>
                  <a:pt x="1367449" y="509268"/>
                  <a:pt x="1347422" y="529296"/>
                  <a:pt x="1322716" y="529296"/>
                </a:cubicBezTo>
                <a:lnTo>
                  <a:pt x="44733" y="529296"/>
                </a:lnTo>
                <a:cubicBezTo>
                  <a:pt x="20028" y="529296"/>
                  <a:pt x="0" y="509268"/>
                  <a:pt x="0" y="48456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50CC36A-638B-4B23-8C13-5DA130ADB9E0}"/>
              </a:ext>
            </a:extLst>
          </p:cNvPr>
          <p:cNvSpPr>
            <a:spLocks noGrp="1"/>
          </p:cNvSpPr>
          <p:nvPr/>
        </p:nvSpPr>
        <p:spPr>
          <a:xfrm>
            <a:off x="1204847" y="3994005"/>
            <a:ext cx="5192035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5E0994D-41E5-4024-A930-10931CF31101}"/>
              </a:ext>
            </a:extLst>
          </p:cNvPr>
          <p:cNvSpPr>
            <a:spLocks noGrp="1"/>
          </p:cNvSpPr>
          <p:nvPr/>
        </p:nvSpPr>
        <p:spPr>
          <a:xfrm>
            <a:off x="6602814" y="6489805"/>
            <a:ext cx="4612621" cy="2768495"/>
          </a:xfrm>
          <a:custGeom>
            <a:avLst/>
            <a:gdLst/>
            <a:ahLst/>
            <a:cxnLst/>
            <a:rect l="l" t="t" r="r" b="b"/>
            <a:pathLst>
              <a:path w="6350000" h="3811270">
                <a:moveTo>
                  <a:pt x="1648460" y="0"/>
                </a:moveTo>
                <a:lnTo>
                  <a:pt x="5812790" y="0"/>
                </a:lnTo>
                <a:cubicBezTo>
                  <a:pt x="6109970" y="0"/>
                  <a:pt x="6350000" y="240030"/>
                  <a:pt x="6350000" y="537210"/>
                </a:cubicBezTo>
                <a:lnTo>
                  <a:pt x="6350000" y="2466340"/>
                </a:lnTo>
                <a:cubicBezTo>
                  <a:pt x="6350000" y="2763520"/>
                  <a:pt x="6109970" y="3003550"/>
                  <a:pt x="5812790" y="3003550"/>
                </a:cubicBezTo>
                <a:lnTo>
                  <a:pt x="4751070" y="3003550"/>
                </a:lnTo>
                <a:cubicBezTo>
                  <a:pt x="4587240" y="3003550"/>
                  <a:pt x="4431030" y="3078480"/>
                  <a:pt x="4329430" y="3208020"/>
                </a:cubicBezTo>
                <a:lnTo>
                  <a:pt x="4013200" y="3606800"/>
                </a:lnTo>
                <a:cubicBezTo>
                  <a:pt x="3911600" y="3735070"/>
                  <a:pt x="3756660" y="3811270"/>
                  <a:pt x="3591560" y="3811270"/>
                </a:cubicBezTo>
                <a:lnTo>
                  <a:pt x="537210" y="3811270"/>
                </a:lnTo>
                <a:cubicBezTo>
                  <a:pt x="240030" y="3811270"/>
                  <a:pt x="0" y="3571240"/>
                  <a:pt x="0" y="3274060"/>
                </a:cubicBezTo>
                <a:lnTo>
                  <a:pt x="0" y="1375410"/>
                </a:lnTo>
                <a:cubicBezTo>
                  <a:pt x="0" y="1206500"/>
                  <a:pt x="78740" y="1047750"/>
                  <a:pt x="213360" y="946150"/>
                </a:cubicBezTo>
                <a:lnTo>
                  <a:pt x="1324610" y="107950"/>
                </a:lnTo>
                <a:cubicBezTo>
                  <a:pt x="1417320" y="38100"/>
                  <a:pt x="1531620" y="0"/>
                  <a:pt x="1648460" y="0"/>
                </a:cubicBezTo>
                <a:close/>
              </a:path>
            </a:pathLst>
          </a:custGeom>
          <a:blipFill>
            <a:blip r:embed="rId4"/>
            <a:stretch>
              <a:fillRect t="-5502" b="-5502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297B16C-1FAB-4487-8B82-0249902E1387}"/>
              </a:ext>
            </a:extLst>
          </p:cNvPr>
          <p:cNvSpPr>
            <a:spLocks noGrp="1"/>
          </p:cNvSpPr>
          <p:nvPr/>
        </p:nvSpPr>
        <p:spPr>
          <a:xfrm>
            <a:off x="12067265" y="7704190"/>
            <a:ext cx="5192035" cy="2009670"/>
          </a:xfrm>
          <a:custGeom>
            <a:avLst/>
            <a:gdLst/>
            <a:ahLst/>
            <a:cxnLst/>
            <a:rect l="l" t="t" r="r" b="b"/>
            <a:pathLst>
              <a:path w="1367449" h="52929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484562"/>
                </a:lnTo>
                <a:cubicBezTo>
                  <a:pt x="1367449" y="509268"/>
                  <a:pt x="1347422" y="529296"/>
                  <a:pt x="1322716" y="529296"/>
                </a:cubicBezTo>
                <a:lnTo>
                  <a:pt x="44733" y="529296"/>
                </a:lnTo>
                <a:cubicBezTo>
                  <a:pt x="20028" y="529296"/>
                  <a:pt x="0" y="509268"/>
                  <a:pt x="0" y="48456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FCFF225-775F-4D71-BA1D-F5AC22B6BF69}"/>
              </a:ext>
            </a:extLst>
          </p:cNvPr>
          <p:cNvSpPr>
            <a:spLocks noGrp="1"/>
          </p:cNvSpPr>
          <p:nvPr/>
        </p:nvSpPr>
        <p:spPr>
          <a:xfrm>
            <a:off x="12067265" y="7559530"/>
            <a:ext cx="5192035" cy="215433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64BCFD-5825-438B-851E-0F78CCAEF0F0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Environment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C9B10D9-BEB0-431C-8734-539F07D7FF3E}"/>
              </a:ext>
            </a:extLst>
          </p:cNvPr>
          <p:cNvSpPr>
            <a:spLocks noGrp="1"/>
          </p:cNvSpPr>
          <p:nvPr/>
        </p:nvSpPr>
        <p:spPr>
          <a:xfrm>
            <a:off x="2107842" y="2848027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Discrete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3BDF918-8408-4344-8004-59CC9D19CC45}"/>
              </a:ext>
            </a:extLst>
          </p:cNvPr>
          <p:cNvSpPr>
            <a:spLocks noGrp="1"/>
          </p:cNvSpPr>
          <p:nvPr/>
        </p:nvSpPr>
        <p:spPr>
          <a:xfrm>
            <a:off x="12778898" y="2468614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Continuous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717E3B0-7278-4DB6-8AED-C33C4E2EAA95}"/>
              </a:ext>
            </a:extLst>
          </p:cNvPr>
          <p:cNvSpPr>
            <a:spLocks noGrp="1"/>
          </p:cNvSpPr>
          <p:nvPr/>
        </p:nvSpPr>
        <p:spPr>
          <a:xfrm>
            <a:off x="1433150" y="4362133"/>
            <a:ext cx="4805471" cy="15265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A finite number of well-defined states, percepts, and actions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5D2ED0C-8E2E-4B94-9336-33382C12DD2D}"/>
              </a:ext>
            </a:extLst>
          </p:cNvPr>
          <p:cNvSpPr>
            <a:spLocks noGrp="1"/>
          </p:cNvSpPr>
          <p:nvPr/>
        </p:nvSpPr>
        <p:spPr>
          <a:xfrm>
            <a:off x="1872967" y="6962827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Single Agent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8FAE79E6-6595-4FCF-B6C9-5756DA1D457A}"/>
              </a:ext>
            </a:extLst>
          </p:cNvPr>
          <p:cNvSpPr>
            <a:spLocks noGrp="1"/>
          </p:cNvSpPr>
          <p:nvPr/>
        </p:nvSpPr>
        <p:spPr>
          <a:xfrm>
            <a:off x="12295568" y="6583414"/>
            <a:ext cx="5158135" cy="9112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  <a:buNone/>
            </a:pPr>
            <a:r>
              <a:rPr sz="49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Multi- Agent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3346DC7-AFE2-4245-9ABB-1711507056CA}"/>
              </a:ext>
            </a:extLst>
          </p:cNvPr>
          <p:cNvSpPr>
            <a:spLocks noGrp="1"/>
          </p:cNvSpPr>
          <p:nvPr/>
        </p:nvSpPr>
        <p:spPr>
          <a:xfrm>
            <a:off x="12295568" y="7927657"/>
            <a:ext cx="4805471" cy="10883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059"/>
              </a:lnSpc>
              <a:buNone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They may be competitive or cooperative teammates</a:t>
            </a:r>
          </a:p>
        </p:txBody>
      </p:sp>
    </p:spTree>
    <p:extLst>
      <p:ext uri="{BB962C8B-B14F-4D97-AF65-F5344CB8AC3E}">
        <p14:creationId xmlns:p14="http://schemas.microsoft.com/office/powerpoint/2010/main" val="1101016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533702-29B4-4722-AF5C-9134F96E2617}"/>
              </a:ext>
            </a:extLst>
          </p:cNvPr>
          <p:cNvSpPr>
            <a:spLocks noGrp="1"/>
          </p:cNvSpPr>
          <p:nvPr/>
        </p:nvSpPr>
        <p:spPr>
          <a:xfrm>
            <a:off x="1028700" y="781526"/>
            <a:ext cx="16230600" cy="8723948"/>
          </a:xfrm>
          <a:custGeom>
            <a:avLst/>
            <a:gdLst/>
            <a:ahLst/>
            <a:cxnLst/>
            <a:rect l="l" t="t" r="r" b="b"/>
            <a:pathLst>
              <a:path w="16230600" h="8723948">
                <a:moveTo>
                  <a:pt x="0" y="0"/>
                </a:moveTo>
                <a:lnTo>
                  <a:pt x="16230600" y="0"/>
                </a:lnTo>
                <a:lnTo>
                  <a:pt x="16230600" y="8723948"/>
                </a:lnTo>
                <a:lnTo>
                  <a:pt x="0" y="8723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</p:spTree>
    <p:extLst>
      <p:ext uri="{BB962C8B-B14F-4D97-AF65-F5344CB8AC3E}">
        <p14:creationId xmlns:p14="http://schemas.microsoft.com/office/powerpoint/2010/main" val="30392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F00C4B5-6902-4834-9EA1-2F5D5A16ABCB}"/>
              </a:ext>
            </a:extLst>
          </p:cNvPr>
          <p:cNvSpPr>
            <a:spLocks noGrp="1"/>
          </p:cNvSpPr>
          <p:nvPr/>
        </p:nvSpPr>
        <p:spPr>
          <a:xfrm>
            <a:off x="1080487" y="5000719"/>
            <a:ext cx="5192035" cy="3292520"/>
          </a:xfrm>
          <a:custGeom>
            <a:avLst/>
            <a:gdLst/>
            <a:ahLst/>
            <a:cxnLst/>
            <a:rect l="l" t="t" r="r" b="b"/>
            <a:pathLst>
              <a:path w="1367449" h="867166">
                <a:moveTo>
                  <a:pt x="44733" y="0"/>
                </a:moveTo>
                <a:lnTo>
                  <a:pt x="1322716" y="0"/>
                </a:lnTo>
                <a:cubicBezTo>
                  <a:pt x="1334580" y="0"/>
                  <a:pt x="1345958" y="4713"/>
                  <a:pt x="1354347" y="13102"/>
                </a:cubicBezTo>
                <a:cubicBezTo>
                  <a:pt x="1362736" y="21491"/>
                  <a:pt x="1367449" y="32869"/>
                  <a:pt x="1367449" y="44733"/>
                </a:cubicBezTo>
                <a:lnTo>
                  <a:pt x="1367449" y="822432"/>
                </a:lnTo>
                <a:cubicBezTo>
                  <a:pt x="1367449" y="847138"/>
                  <a:pt x="1347422" y="867166"/>
                  <a:pt x="1322716" y="867166"/>
                </a:cubicBezTo>
                <a:lnTo>
                  <a:pt x="44733" y="867166"/>
                </a:lnTo>
                <a:cubicBezTo>
                  <a:pt x="20028" y="867166"/>
                  <a:pt x="0" y="847138"/>
                  <a:pt x="0" y="822432"/>
                </a:cubicBezTo>
                <a:lnTo>
                  <a:pt x="0" y="44733"/>
                </a:lnTo>
                <a:cubicBezTo>
                  <a:pt x="0" y="20028"/>
                  <a:pt x="20028" y="0"/>
                  <a:pt x="44733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EC9311-CD43-47F6-956A-D762288857AE}"/>
              </a:ext>
            </a:extLst>
          </p:cNvPr>
          <p:cNvSpPr>
            <a:spLocks noGrp="1"/>
          </p:cNvSpPr>
          <p:nvPr/>
        </p:nvSpPr>
        <p:spPr>
          <a:xfrm>
            <a:off x="1080487" y="4856059"/>
            <a:ext cx="5192035" cy="343718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1211E72-CB92-45D5-862E-E49304A84F50}"/>
              </a:ext>
            </a:extLst>
          </p:cNvPr>
          <p:cNvSpPr>
            <a:spLocks noGrp="1"/>
          </p:cNvSpPr>
          <p:nvPr/>
        </p:nvSpPr>
        <p:spPr>
          <a:xfrm>
            <a:off x="7837526" y="767955"/>
            <a:ext cx="8801003" cy="5544632"/>
          </a:xfrm>
          <a:custGeom>
            <a:avLst/>
            <a:gdLst/>
            <a:ahLst/>
            <a:cxnLst/>
            <a:rect l="l" t="t" r="r" b="b"/>
            <a:pathLst>
              <a:path w="8801003" h="5544632">
                <a:moveTo>
                  <a:pt x="0" y="0"/>
                </a:moveTo>
                <a:lnTo>
                  <a:pt x="8801003" y="0"/>
                </a:lnTo>
                <a:lnTo>
                  <a:pt x="8801003" y="5544632"/>
                </a:lnTo>
                <a:lnTo>
                  <a:pt x="0" y="55446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1142A9-47F3-46FB-80B0-326342B15455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Agents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2EEEC0-0C2F-4FBC-AC77-417EEF4B52BA}"/>
              </a:ext>
            </a:extLst>
          </p:cNvPr>
          <p:cNvSpPr>
            <a:spLocks noGrp="1"/>
          </p:cNvSpPr>
          <p:nvPr/>
        </p:nvSpPr>
        <p:spPr>
          <a:xfrm>
            <a:off x="1273768" y="5213709"/>
            <a:ext cx="4805471" cy="27076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Considers only the current percept, with no memory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Operates through condition–action rules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6EC2CC0-DD10-4F59-80BA-98D60371A48C}"/>
              </a:ext>
            </a:extLst>
          </p:cNvPr>
          <p:cNvSpPr>
            <a:spLocks noGrp="1"/>
          </p:cNvSpPr>
          <p:nvPr/>
        </p:nvSpPr>
        <p:spPr>
          <a:xfrm>
            <a:off x="1080486" y="3106514"/>
            <a:ext cx="6757039" cy="89114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  <a:buNone/>
            </a:pPr>
            <a:r>
              <a:rPr sz="5299" dirty="0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Simple Reflex Agent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0DBA42F-DB9D-4659-B16A-E653923754DB}"/>
              </a:ext>
            </a:extLst>
          </p:cNvPr>
          <p:cNvSpPr>
            <a:spLocks noGrp="1"/>
          </p:cNvSpPr>
          <p:nvPr/>
        </p:nvSpPr>
        <p:spPr>
          <a:xfrm>
            <a:off x="6816078" y="6646980"/>
            <a:ext cx="11081097" cy="3313280"/>
          </a:xfrm>
          <a:custGeom>
            <a:avLst/>
            <a:gdLst/>
            <a:ahLst/>
            <a:cxnLst/>
            <a:rect l="l" t="t" r="r" b="b"/>
            <a:pathLst>
              <a:path w="2918478" h="872633">
                <a:moveTo>
                  <a:pt x="20960" y="0"/>
                </a:moveTo>
                <a:lnTo>
                  <a:pt x="2897518" y="0"/>
                </a:lnTo>
                <a:cubicBezTo>
                  <a:pt x="2903077" y="0"/>
                  <a:pt x="2908409" y="2208"/>
                  <a:pt x="2912339" y="6139"/>
                </a:cubicBezTo>
                <a:cubicBezTo>
                  <a:pt x="2916270" y="10070"/>
                  <a:pt x="2918478" y="15401"/>
                  <a:pt x="2918478" y="20960"/>
                </a:cubicBezTo>
                <a:lnTo>
                  <a:pt x="2918478" y="851673"/>
                </a:lnTo>
                <a:cubicBezTo>
                  <a:pt x="2918478" y="863249"/>
                  <a:pt x="2909094" y="872633"/>
                  <a:pt x="2897518" y="872633"/>
                </a:cubicBezTo>
                <a:lnTo>
                  <a:pt x="20960" y="872633"/>
                </a:lnTo>
                <a:cubicBezTo>
                  <a:pt x="15401" y="872633"/>
                  <a:pt x="10070" y="870425"/>
                  <a:pt x="6139" y="866494"/>
                </a:cubicBezTo>
                <a:cubicBezTo>
                  <a:pt x="2208" y="862564"/>
                  <a:pt x="0" y="857232"/>
                  <a:pt x="0" y="851673"/>
                </a:cubicBezTo>
                <a:lnTo>
                  <a:pt x="0" y="20960"/>
                </a:lnTo>
                <a:cubicBezTo>
                  <a:pt x="0" y="9384"/>
                  <a:pt x="9384" y="0"/>
                  <a:pt x="2096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CB2EF1E-72DE-47F6-82E2-64FCEAC8D047}"/>
              </a:ext>
            </a:extLst>
          </p:cNvPr>
          <p:cNvSpPr>
            <a:spLocks noGrp="1"/>
          </p:cNvSpPr>
          <p:nvPr/>
        </p:nvSpPr>
        <p:spPr>
          <a:xfrm>
            <a:off x="6816078" y="6502319"/>
            <a:ext cx="11081097" cy="345794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5227854-BFFD-491A-82A2-B1B2F48B1286}"/>
              </a:ext>
            </a:extLst>
          </p:cNvPr>
          <p:cNvSpPr>
            <a:spLocks noGrp="1"/>
          </p:cNvSpPr>
          <p:nvPr/>
        </p:nvSpPr>
        <p:spPr>
          <a:xfrm>
            <a:off x="6947353" y="6880901"/>
            <a:ext cx="10949823" cy="27882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Advantage: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simple and efficient to implement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Limitation: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fails in partially observable environments; if it cannot see the complete state, it cannot act correctly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Works well only when the current percept contains all relevant information</a:t>
            </a:r>
          </a:p>
        </p:txBody>
      </p:sp>
    </p:spTree>
    <p:extLst>
      <p:ext uri="{BB962C8B-B14F-4D97-AF65-F5344CB8AC3E}">
        <p14:creationId xmlns:p14="http://schemas.microsoft.com/office/powerpoint/2010/main" val="149346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3529D3FB-8B12-470C-9DC8-D51033EC2251}"/>
              </a:ext>
            </a:extLst>
          </p:cNvPr>
          <p:cNvSpPr>
            <a:spLocks noGrp="1"/>
          </p:cNvSpPr>
          <p:nvPr/>
        </p:nvSpPr>
        <p:spPr>
          <a:xfrm>
            <a:off x="1080487" y="4686058"/>
            <a:ext cx="5143625" cy="5253100"/>
          </a:xfrm>
          <a:custGeom>
            <a:avLst/>
            <a:gdLst/>
            <a:ahLst/>
            <a:cxnLst/>
            <a:rect l="l" t="t" r="r" b="b"/>
            <a:pathLst>
              <a:path w="1354700" h="1383533">
                <a:moveTo>
                  <a:pt x="45154" y="0"/>
                </a:moveTo>
                <a:lnTo>
                  <a:pt x="1309545" y="0"/>
                </a:lnTo>
                <a:cubicBezTo>
                  <a:pt x="1321521" y="0"/>
                  <a:pt x="1333006" y="4757"/>
                  <a:pt x="1341474" y="13225"/>
                </a:cubicBezTo>
                <a:cubicBezTo>
                  <a:pt x="1349942" y="21694"/>
                  <a:pt x="1354700" y="33179"/>
                  <a:pt x="1354700" y="45154"/>
                </a:cubicBezTo>
                <a:lnTo>
                  <a:pt x="1354700" y="1338379"/>
                </a:lnTo>
                <a:cubicBezTo>
                  <a:pt x="1354700" y="1350355"/>
                  <a:pt x="1349942" y="1361840"/>
                  <a:pt x="1341474" y="1370308"/>
                </a:cubicBezTo>
                <a:cubicBezTo>
                  <a:pt x="1333006" y="1378776"/>
                  <a:pt x="1321521" y="1383533"/>
                  <a:pt x="1309545" y="1383533"/>
                </a:cubicBezTo>
                <a:lnTo>
                  <a:pt x="45154" y="1383533"/>
                </a:lnTo>
                <a:cubicBezTo>
                  <a:pt x="33179" y="1383533"/>
                  <a:pt x="21694" y="1378776"/>
                  <a:pt x="13225" y="1370308"/>
                </a:cubicBezTo>
                <a:cubicBezTo>
                  <a:pt x="4757" y="1361840"/>
                  <a:pt x="0" y="1350355"/>
                  <a:pt x="0" y="1338379"/>
                </a:cubicBezTo>
                <a:lnTo>
                  <a:pt x="0" y="45154"/>
                </a:lnTo>
                <a:cubicBezTo>
                  <a:pt x="0" y="33179"/>
                  <a:pt x="4757" y="21694"/>
                  <a:pt x="13225" y="13225"/>
                </a:cubicBezTo>
                <a:cubicBezTo>
                  <a:pt x="21694" y="4757"/>
                  <a:pt x="33179" y="0"/>
                  <a:pt x="4515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AA91AD5-5515-470C-99E3-BBE34613B73C}"/>
              </a:ext>
            </a:extLst>
          </p:cNvPr>
          <p:cNvSpPr>
            <a:spLocks noGrp="1"/>
          </p:cNvSpPr>
          <p:nvPr/>
        </p:nvSpPr>
        <p:spPr>
          <a:xfrm>
            <a:off x="1080487" y="4541398"/>
            <a:ext cx="5143625" cy="539776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D4B78C0-D2E2-43F3-BB09-31F8C5311D58}"/>
              </a:ext>
            </a:extLst>
          </p:cNvPr>
          <p:cNvSpPr>
            <a:spLocks noGrp="1"/>
          </p:cNvSpPr>
          <p:nvPr/>
        </p:nvSpPr>
        <p:spPr>
          <a:xfrm>
            <a:off x="6881715" y="6802647"/>
            <a:ext cx="11081097" cy="2611320"/>
          </a:xfrm>
          <a:custGeom>
            <a:avLst/>
            <a:gdLst/>
            <a:ahLst/>
            <a:cxnLst/>
            <a:rect l="l" t="t" r="r" b="b"/>
            <a:pathLst>
              <a:path w="2918478" h="687755">
                <a:moveTo>
                  <a:pt x="20960" y="0"/>
                </a:moveTo>
                <a:lnTo>
                  <a:pt x="2897518" y="0"/>
                </a:lnTo>
                <a:cubicBezTo>
                  <a:pt x="2903077" y="0"/>
                  <a:pt x="2908409" y="2208"/>
                  <a:pt x="2912339" y="6139"/>
                </a:cubicBezTo>
                <a:cubicBezTo>
                  <a:pt x="2916270" y="10070"/>
                  <a:pt x="2918478" y="15401"/>
                  <a:pt x="2918478" y="20960"/>
                </a:cubicBezTo>
                <a:lnTo>
                  <a:pt x="2918478" y="666795"/>
                </a:lnTo>
                <a:cubicBezTo>
                  <a:pt x="2918478" y="678371"/>
                  <a:pt x="2909094" y="687755"/>
                  <a:pt x="2897518" y="687755"/>
                </a:cubicBezTo>
                <a:lnTo>
                  <a:pt x="20960" y="687755"/>
                </a:lnTo>
                <a:cubicBezTo>
                  <a:pt x="15401" y="687755"/>
                  <a:pt x="10070" y="685547"/>
                  <a:pt x="6139" y="681616"/>
                </a:cubicBezTo>
                <a:cubicBezTo>
                  <a:pt x="2208" y="677686"/>
                  <a:pt x="0" y="672354"/>
                  <a:pt x="0" y="666795"/>
                </a:cubicBezTo>
                <a:lnTo>
                  <a:pt x="0" y="20960"/>
                </a:lnTo>
                <a:cubicBezTo>
                  <a:pt x="0" y="9384"/>
                  <a:pt x="9384" y="0"/>
                  <a:pt x="2096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7EF5B1-135D-462F-B750-68DEA1ED6EBD}"/>
              </a:ext>
            </a:extLst>
          </p:cNvPr>
          <p:cNvSpPr>
            <a:spLocks noGrp="1"/>
          </p:cNvSpPr>
          <p:nvPr/>
        </p:nvSpPr>
        <p:spPr>
          <a:xfrm>
            <a:off x="6881715" y="6657987"/>
            <a:ext cx="11081097" cy="275598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C0E8B92-EF64-45BA-B74E-2B2CC7B3D551}"/>
              </a:ext>
            </a:extLst>
          </p:cNvPr>
          <p:cNvSpPr>
            <a:spLocks noGrp="1"/>
          </p:cNvSpPr>
          <p:nvPr/>
        </p:nvSpPr>
        <p:spPr>
          <a:xfrm>
            <a:off x="7894023" y="562415"/>
            <a:ext cx="9056482" cy="5773507"/>
          </a:xfrm>
          <a:custGeom>
            <a:avLst/>
            <a:gdLst/>
            <a:ahLst/>
            <a:cxnLst/>
            <a:rect l="l" t="t" r="r" b="b"/>
            <a:pathLst>
              <a:path w="9056482" h="5773507">
                <a:moveTo>
                  <a:pt x="0" y="0"/>
                </a:moveTo>
                <a:lnTo>
                  <a:pt x="9056482" y="0"/>
                </a:lnTo>
                <a:lnTo>
                  <a:pt x="9056482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E9BEDBE-ACBC-4880-946D-E1B0CBDDAD1F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Agents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63C11B0-F31F-41BD-AD6D-D5023207CE39}"/>
              </a:ext>
            </a:extLst>
          </p:cNvPr>
          <p:cNvSpPr>
            <a:spLocks noGrp="1"/>
          </p:cNvSpPr>
          <p:nvPr/>
        </p:nvSpPr>
        <p:spPr>
          <a:xfrm>
            <a:off x="1080487" y="4942566"/>
            <a:ext cx="4805471" cy="46888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Maintains an internal state using two models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World model: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how the environment evolves independently of the agent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Transition model:</a:t>
            </a: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how the agent’s own actions affect the environment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9D67FD8-11CE-4800-A257-81E6A132C85F}"/>
              </a:ext>
            </a:extLst>
          </p:cNvPr>
          <p:cNvSpPr>
            <a:spLocks noGrp="1"/>
          </p:cNvSpPr>
          <p:nvPr/>
        </p:nvSpPr>
        <p:spPr>
          <a:xfrm>
            <a:off x="1080487" y="2638785"/>
            <a:ext cx="6005300" cy="18942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419"/>
              </a:lnSpc>
              <a:buNone/>
            </a:pPr>
            <a:r>
              <a:rPr sz="52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Model Based </a:t>
            </a:r>
          </a:p>
          <a:p>
            <a:pPr algn="l">
              <a:lnSpc>
                <a:spcPts val="7419"/>
              </a:lnSpc>
              <a:spcBef>
                <a:spcPct val="0"/>
              </a:spcBef>
              <a:buNone/>
            </a:pPr>
            <a:r>
              <a:rPr sz="52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Reflex Agent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F069213-F189-44E2-BC45-256CAC840347}"/>
              </a:ext>
            </a:extLst>
          </p:cNvPr>
          <p:cNvSpPr>
            <a:spLocks noGrp="1"/>
          </p:cNvSpPr>
          <p:nvPr/>
        </p:nvSpPr>
        <p:spPr>
          <a:xfrm>
            <a:off x="7012990" y="7036569"/>
            <a:ext cx="10949823" cy="21977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agent updates its internal state at each step and then applies condition–action rules to that state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can act coherently even when it cannot observe the complete environment</a:t>
            </a:r>
          </a:p>
        </p:txBody>
      </p:sp>
    </p:spTree>
    <p:extLst>
      <p:ext uri="{BB962C8B-B14F-4D97-AF65-F5344CB8AC3E}">
        <p14:creationId xmlns:p14="http://schemas.microsoft.com/office/powerpoint/2010/main" val="25403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56C9D3F-C44D-4994-AF0D-ED2EA6D04773}"/>
              </a:ext>
            </a:extLst>
          </p:cNvPr>
          <p:cNvSpPr>
            <a:spLocks noGrp="1"/>
          </p:cNvSpPr>
          <p:nvPr/>
        </p:nvSpPr>
        <p:spPr>
          <a:xfrm>
            <a:off x="1080487" y="4160864"/>
            <a:ext cx="5143625" cy="5253100"/>
          </a:xfrm>
          <a:custGeom>
            <a:avLst/>
            <a:gdLst/>
            <a:ahLst/>
            <a:cxnLst/>
            <a:rect l="l" t="t" r="r" b="b"/>
            <a:pathLst>
              <a:path w="1354700" h="1383533">
                <a:moveTo>
                  <a:pt x="45154" y="0"/>
                </a:moveTo>
                <a:lnTo>
                  <a:pt x="1309545" y="0"/>
                </a:lnTo>
                <a:cubicBezTo>
                  <a:pt x="1321521" y="0"/>
                  <a:pt x="1333006" y="4757"/>
                  <a:pt x="1341474" y="13225"/>
                </a:cubicBezTo>
                <a:cubicBezTo>
                  <a:pt x="1349942" y="21694"/>
                  <a:pt x="1354700" y="33179"/>
                  <a:pt x="1354700" y="45154"/>
                </a:cubicBezTo>
                <a:lnTo>
                  <a:pt x="1354700" y="1338379"/>
                </a:lnTo>
                <a:cubicBezTo>
                  <a:pt x="1354700" y="1350355"/>
                  <a:pt x="1349942" y="1361840"/>
                  <a:pt x="1341474" y="1370308"/>
                </a:cubicBezTo>
                <a:cubicBezTo>
                  <a:pt x="1333006" y="1378776"/>
                  <a:pt x="1321521" y="1383533"/>
                  <a:pt x="1309545" y="1383533"/>
                </a:cubicBezTo>
                <a:lnTo>
                  <a:pt x="45154" y="1383533"/>
                </a:lnTo>
                <a:cubicBezTo>
                  <a:pt x="33179" y="1383533"/>
                  <a:pt x="21694" y="1378776"/>
                  <a:pt x="13225" y="1370308"/>
                </a:cubicBezTo>
                <a:cubicBezTo>
                  <a:pt x="4757" y="1361840"/>
                  <a:pt x="0" y="1350355"/>
                  <a:pt x="0" y="1338379"/>
                </a:cubicBezTo>
                <a:lnTo>
                  <a:pt x="0" y="45154"/>
                </a:lnTo>
                <a:cubicBezTo>
                  <a:pt x="0" y="33179"/>
                  <a:pt x="4757" y="21694"/>
                  <a:pt x="13225" y="13225"/>
                </a:cubicBezTo>
                <a:cubicBezTo>
                  <a:pt x="21694" y="4757"/>
                  <a:pt x="33179" y="0"/>
                  <a:pt x="45154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63E0369-85AC-4081-A9B0-02D68C95F801}"/>
              </a:ext>
            </a:extLst>
          </p:cNvPr>
          <p:cNvSpPr>
            <a:spLocks noGrp="1"/>
          </p:cNvSpPr>
          <p:nvPr/>
        </p:nvSpPr>
        <p:spPr>
          <a:xfrm>
            <a:off x="1080487" y="4016204"/>
            <a:ext cx="5143625" cy="539776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B3BBB42-50E6-47B3-A735-208DBFADBB5E}"/>
              </a:ext>
            </a:extLst>
          </p:cNvPr>
          <p:cNvSpPr>
            <a:spLocks noGrp="1"/>
          </p:cNvSpPr>
          <p:nvPr/>
        </p:nvSpPr>
        <p:spPr>
          <a:xfrm>
            <a:off x="6881715" y="6802647"/>
            <a:ext cx="11081097" cy="2611320"/>
          </a:xfrm>
          <a:custGeom>
            <a:avLst/>
            <a:gdLst/>
            <a:ahLst/>
            <a:cxnLst/>
            <a:rect l="l" t="t" r="r" b="b"/>
            <a:pathLst>
              <a:path w="2918478" h="687755">
                <a:moveTo>
                  <a:pt x="20960" y="0"/>
                </a:moveTo>
                <a:lnTo>
                  <a:pt x="2897518" y="0"/>
                </a:lnTo>
                <a:cubicBezTo>
                  <a:pt x="2903077" y="0"/>
                  <a:pt x="2908409" y="2208"/>
                  <a:pt x="2912339" y="6139"/>
                </a:cubicBezTo>
                <a:cubicBezTo>
                  <a:pt x="2916270" y="10070"/>
                  <a:pt x="2918478" y="15401"/>
                  <a:pt x="2918478" y="20960"/>
                </a:cubicBezTo>
                <a:lnTo>
                  <a:pt x="2918478" y="666795"/>
                </a:lnTo>
                <a:cubicBezTo>
                  <a:pt x="2918478" y="678371"/>
                  <a:pt x="2909094" y="687755"/>
                  <a:pt x="2897518" y="687755"/>
                </a:cubicBezTo>
                <a:lnTo>
                  <a:pt x="20960" y="687755"/>
                </a:lnTo>
                <a:cubicBezTo>
                  <a:pt x="15401" y="687755"/>
                  <a:pt x="10070" y="685547"/>
                  <a:pt x="6139" y="681616"/>
                </a:cubicBezTo>
                <a:cubicBezTo>
                  <a:pt x="2208" y="677686"/>
                  <a:pt x="0" y="672354"/>
                  <a:pt x="0" y="666795"/>
                </a:cubicBezTo>
                <a:lnTo>
                  <a:pt x="0" y="20960"/>
                </a:lnTo>
                <a:cubicBezTo>
                  <a:pt x="0" y="9384"/>
                  <a:pt x="9384" y="0"/>
                  <a:pt x="2096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CCDBF7-9D3E-4C6B-B1FC-4719FF6A3499}"/>
              </a:ext>
            </a:extLst>
          </p:cNvPr>
          <p:cNvSpPr>
            <a:spLocks noGrp="1"/>
          </p:cNvSpPr>
          <p:nvPr/>
        </p:nvSpPr>
        <p:spPr>
          <a:xfrm>
            <a:off x="6881715" y="6657987"/>
            <a:ext cx="11081097" cy="275598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593EB7D-C88D-4E1E-A25B-90C1425A7DD1}"/>
              </a:ext>
            </a:extLst>
          </p:cNvPr>
          <p:cNvSpPr>
            <a:spLocks noGrp="1"/>
          </p:cNvSpPr>
          <p:nvPr/>
        </p:nvSpPr>
        <p:spPr>
          <a:xfrm>
            <a:off x="8183768" y="712787"/>
            <a:ext cx="9056482" cy="5773507"/>
          </a:xfrm>
          <a:custGeom>
            <a:avLst/>
            <a:gdLst/>
            <a:ahLst/>
            <a:cxnLst/>
            <a:rect l="l" t="t" r="r" b="b"/>
            <a:pathLst>
              <a:path w="9056482" h="5773507">
                <a:moveTo>
                  <a:pt x="0" y="0"/>
                </a:moveTo>
                <a:lnTo>
                  <a:pt x="9056482" y="0"/>
                </a:lnTo>
                <a:lnTo>
                  <a:pt x="9056482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EBD939-5017-4388-BE02-77B9B392C061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Agents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E568ADF-C344-4A74-8D3F-F5D51F2AF069}"/>
              </a:ext>
            </a:extLst>
          </p:cNvPr>
          <p:cNvSpPr>
            <a:spLocks noGrp="1"/>
          </p:cNvSpPr>
          <p:nvPr/>
        </p:nvSpPr>
        <p:spPr>
          <a:xfrm>
            <a:off x="1080487" y="4417372"/>
            <a:ext cx="4805471" cy="476504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also needs to know where it wants to go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Goals describe desired states of the world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The agent chooses actions that move it toward the goal, which requires planning and search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EF3D958-8DFE-4C95-8F01-94A8E78DCD84}"/>
              </a:ext>
            </a:extLst>
          </p:cNvPr>
          <p:cNvSpPr>
            <a:spLocks noGrp="1"/>
          </p:cNvSpPr>
          <p:nvPr/>
        </p:nvSpPr>
        <p:spPr>
          <a:xfrm>
            <a:off x="1080487" y="2638785"/>
            <a:ext cx="6005300" cy="9607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  <a:buNone/>
            </a:pPr>
            <a:r>
              <a:rPr sz="52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Goal Based Agent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C33FB76-61E5-432E-8F82-129E6E904A20}"/>
              </a:ext>
            </a:extLst>
          </p:cNvPr>
          <p:cNvSpPr>
            <a:spLocks noGrp="1"/>
          </p:cNvSpPr>
          <p:nvPr/>
        </p:nvSpPr>
        <p:spPr>
          <a:xfrm>
            <a:off x="7003465" y="7036569"/>
            <a:ext cx="10949823" cy="224536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It can adapt its behavior when the goal changes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Limitation: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goals provide a binary distinction and cannot distinguish better from worse paths to the goal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1175158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1AA46F7-AA27-4C36-A6D4-DA411E7BD6DC}"/>
              </a:ext>
            </a:extLst>
          </p:cNvPr>
          <p:cNvSpPr>
            <a:spLocks noGrp="1"/>
          </p:cNvSpPr>
          <p:nvPr/>
        </p:nvSpPr>
        <p:spPr>
          <a:xfrm>
            <a:off x="1080487" y="4176095"/>
            <a:ext cx="4805471" cy="4891190"/>
          </a:xfrm>
          <a:custGeom>
            <a:avLst/>
            <a:gdLst/>
            <a:ahLst/>
            <a:cxnLst/>
            <a:rect l="l" t="t" r="r" b="b"/>
            <a:pathLst>
              <a:path w="1265639" h="1288215">
                <a:moveTo>
                  <a:pt x="48332" y="0"/>
                </a:moveTo>
                <a:lnTo>
                  <a:pt x="1217307" y="0"/>
                </a:lnTo>
                <a:cubicBezTo>
                  <a:pt x="1230125" y="0"/>
                  <a:pt x="1242418" y="5092"/>
                  <a:pt x="1251482" y="14156"/>
                </a:cubicBezTo>
                <a:cubicBezTo>
                  <a:pt x="1260546" y="23220"/>
                  <a:pt x="1265639" y="35513"/>
                  <a:pt x="1265639" y="48332"/>
                </a:cubicBezTo>
                <a:lnTo>
                  <a:pt x="1265639" y="1239883"/>
                </a:lnTo>
                <a:cubicBezTo>
                  <a:pt x="1265639" y="1252701"/>
                  <a:pt x="1260546" y="1264994"/>
                  <a:pt x="1251482" y="1274058"/>
                </a:cubicBezTo>
                <a:cubicBezTo>
                  <a:pt x="1242418" y="1283122"/>
                  <a:pt x="1230125" y="1288215"/>
                  <a:pt x="1217307" y="1288215"/>
                </a:cubicBezTo>
                <a:lnTo>
                  <a:pt x="48332" y="1288215"/>
                </a:lnTo>
                <a:cubicBezTo>
                  <a:pt x="35513" y="1288215"/>
                  <a:pt x="23220" y="1283122"/>
                  <a:pt x="14156" y="1274058"/>
                </a:cubicBezTo>
                <a:cubicBezTo>
                  <a:pt x="5092" y="1264994"/>
                  <a:pt x="0" y="1252701"/>
                  <a:pt x="0" y="1239883"/>
                </a:cubicBezTo>
                <a:lnTo>
                  <a:pt x="0" y="48332"/>
                </a:lnTo>
                <a:cubicBezTo>
                  <a:pt x="0" y="35513"/>
                  <a:pt x="5092" y="23220"/>
                  <a:pt x="14156" y="14156"/>
                </a:cubicBezTo>
                <a:cubicBezTo>
                  <a:pt x="23220" y="5092"/>
                  <a:pt x="35513" y="0"/>
                  <a:pt x="48332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E47D114-1548-4A4C-8050-FD78E8825C38}"/>
              </a:ext>
            </a:extLst>
          </p:cNvPr>
          <p:cNvSpPr>
            <a:spLocks noGrp="1"/>
          </p:cNvSpPr>
          <p:nvPr/>
        </p:nvSpPr>
        <p:spPr>
          <a:xfrm>
            <a:off x="1080487" y="4031435"/>
            <a:ext cx="4805471" cy="503585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CBA21E8-191D-4622-BD1D-2BF2C5EE2C3A}"/>
              </a:ext>
            </a:extLst>
          </p:cNvPr>
          <p:cNvSpPr>
            <a:spLocks noGrp="1"/>
          </p:cNvSpPr>
          <p:nvPr/>
        </p:nvSpPr>
        <p:spPr>
          <a:xfrm>
            <a:off x="6881715" y="6802647"/>
            <a:ext cx="11081097" cy="2611320"/>
          </a:xfrm>
          <a:custGeom>
            <a:avLst/>
            <a:gdLst/>
            <a:ahLst/>
            <a:cxnLst/>
            <a:rect l="l" t="t" r="r" b="b"/>
            <a:pathLst>
              <a:path w="2918478" h="687755">
                <a:moveTo>
                  <a:pt x="20960" y="0"/>
                </a:moveTo>
                <a:lnTo>
                  <a:pt x="2897518" y="0"/>
                </a:lnTo>
                <a:cubicBezTo>
                  <a:pt x="2903077" y="0"/>
                  <a:pt x="2908409" y="2208"/>
                  <a:pt x="2912339" y="6139"/>
                </a:cubicBezTo>
                <a:cubicBezTo>
                  <a:pt x="2916270" y="10070"/>
                  <a:pt x="2918478" y="15401"/>
                  <a:pt x="2918478" y="20960"/>
                </a:cubicBezTo>
                <a:lnTo>
                  <a:pt x="2918478" y="666795"/>
                </a:lnTo>
                <a:cubicBezTo>
                  <a:pt x="2918478" y="678371"/>
                  <a:pt x="2909094" y="687755"/>
                  <a:pt x="2897518" y="687755"/>
                </a:cubicBezTo>
                <a:lnTo>
                  <a:pt x="20960" y="687755"/>
                </a:lnTo>
                <a:cubicBezTo>
                  <a:pt x="15401" y="687755"/>
                  <a:pt x="10070" y="685547"/>
                  <a:pt x="6139" y="681616"/>
                </a:cubicBezTo>
                <a:cubicBezTo>
                  <a:pt x="2208" y="677686"/>
                  <a:pt x="0" y="672354"/>
                  <a:pt x="0" y="666795"/>
                </a:cubicBezTo>
                <a:lnTo>
                  <a:pt x="0" y="20960"/>
                </a:lnTo>
                <a:cubicBezTo>
                  <a:pt x="0" y="9384"/>
                  <a:pt x="9384" y="0"/>
                  <a:pt x="2096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287817-5D85-43AA-8188-088078CECE2E}"/>
              </a:ext>
            </a:extLst>
          </p:cNvPr>
          <p:cNvSpPr>
            <a:spLocks noGrp="1"/>
          </p:cNvSpPr>
          <p:nvPr/>
        </p:nvSpPr>
        <p:spPr>
          <a:xfrm>
            <a:off x="6881715" y="6657987"/>
            <a:ext cx="11081097" cy="275598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E1B08EC-8D68-45AB-AF87-7D46607B31F4}"/>
              </a:ext>
            </a:extLst>
          </p:cNvPr>
          <p:cNvSpPr>
            <a:spLocks noGrp="1"/>
          </p:cNvSpPr>
          <p:nvPr/>
        </p:nvSpPr>
        <p:spPr>
          <a:xfrm>
            <a:off x="8202818" y="712787"/>
            <a:ext cx="9056482" cy="5773507"/>
          </a:xfrm>
          <a:custGeom>
            <a:avLst/>
            <a:gdLst/>
            <a:ahLst/>
            <a:cxnLst/>
            <a:rect l="l" t="t" r="r" b="b"/>
            <a:pathLst>
              <a:path w="9056482" h="5773507">
                <a:moveTo>
                  <a:pt x="0" y="0"/>
                </a:moveTo>
                <a:lnTo>
                  <a:pt x="9056482" y="0"/>
                </a:lnTo>
                <a:lnTo>
                  <a:pt x="9056482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8C0D941-1BE9-4BF0-A71F-D248095294CE}"/>
              </a:ext>
            </a:extLst>
          </p:cNvPr>
          <p:cNvSpPr>
            <a:spLocks noGrp="1"/>
          </p:cNvSpPr>
          <p:nvPr/>
        </p:nvSpPr>
        <p:spPr>
          <a:xfrm>
            <a:off x="1028700" y="1114425"/>
            <a:ext cx="9935570" cy="12185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599"/>
              </a:lnSpc>
              <a:buNone/>
            </a:pPr>
            <a:r>
              <a:rPr sz="8599" b="1">
                <a:solidFill>
                  <a:srgbClr val="1B1B1B"/>
                </a:solidFill>
                <a:latin typeface="Telegraf Medium"/>
                <a:ea typeface="Telegraf Medium"/>
                <a:cs typeface="Telegraf Medium"/>
              </a:rPr>
              <a:t>Agents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083B1AF-9913-4FE4-8552-DF08B4AE3223}"/>
              </a:ext>
            </a:extLst>
          </p:cNvPr>
          <p:cNvSpPr>
            <a:spLocks noGrp="1"/>
          </p:cNvSpPr>
          <p:nvPr/>
        </p:nvSpPr>
        <p:spPr>
          <a:xfrm>
            <a:off x="1191014" y="4486820"/>
            <a:ext cx="4805471" cy="42125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Distinguishes among solutions of different quality.</a:t>
            </a:r>
          </a:p>
          <a:p>
            <a:pPr marL="626102" indent="-313051" algn="l">
              <a:lnSpc>
                <a:spcPts val="4059"/>
              </a:lnSpc>
              <a:buFont typeface="Arial"/>
              <a:buChar char="•"/>
            </a:pPr>
            <a:r>
              <a:rPr sz="28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Chooses the action that maximizes expected utility while considering outcome probabilities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D07F409-C4C2-470D-AD60-367AD864A910}"/>
              </a:ext>
            </a:extLst>
          </p:cNvPr>
          <p:cNvSpPr>
            <a:spLocks noGrp="1"/>
          </p:cNvSpPr>
          <p:nvPr/>
        </p:nvSpPr>
        <p:spPr>
          <a:xfrm>
            <a:off x="1080487" y="2638785"/>
            <a:ext cx="6005300" cy="9607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  <a:buNone/>
            </a:pPr>
            <a:r>
              <a:rPr sz="52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Utility Based Agent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E86E8A7-DF41-42EC-9542-874F6BA25A97}"/>
              </a:ext>
            </a:extLst>
          </p:cNvPr>
          <p:cNvSpPr>
            <a:spLocks noGrp="1"/>
          </p:cNvSpPr>
          <p:nvPr/>
        </p:nvSpPr>
        <p:spPr>
          <a:xfrm>
            <a:off x="7003465" y="7036569"/>
            <a:ext cx="10949823" cy="27882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339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Can handle: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Conflicting objectives: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speed vs. safety in a taxi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Uncertainty: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acting when the outcome of an action is not guaranteed</a:t>
            </a:r>
          </a:p>
          <a:p>
            <a:pPr algn="l">
              <a:lnSpc>
                <a:spcPts val="4339"/>
              </a:lnSpc>
              <a:buNone/>
            </a:pPr>
            <a:endParaRPr sz="3099">
              <a:solidFill>
                <a:srgbClr val="1B1B1B"/>
              </a:solidFill>
              <a:latin typeface="Helvetica World"/>
              <a:ea typeface="Helvetica World"/>
              <a:cs typeface="Helvetica World"/>
            </a:endParaRPr>
          </a:p>
        </p:txBody>
      </p:sp>
    </p:spTree>
    <p:extLst>
      <p:ext uri="{BB962C8B-B14F-4D97-AF65-F5344CB8AC3E}">
        <p14:creationId xmlns:p14="http://schemas.microsoft.com/office/powerpoint/2010/main" val="731027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563572-8D16-4FCD-8706-4BEC8B0EA753}"/>
              </a:ext>
            </a:extLst>
          </p:cNvPr>
          <p:cNvSpPr>
            <a:spLocks noGrp="1"/>
          </p:cNvSpPr>
          <p:nvPr/>
        </p:nvSpPr>
        <p:spPr>
          <a:xfrm>
            <a:off x="551015" y="2088230"/>
            <a:ext cx="11454602" cy="4023455"/>
          </a:xfrm>
          <a:custGeom>
            <a:avLst/>
            <a:gdLst/>
            <a:ahLst/>
            <a:cxnLst/>
            <a:rect l="l" t="t" r="r" b="b"/>
            <a:pathLst>
              <a:path w="11454602" h="4023455">
                <a:moveTo>
                  <a:pt x="0" y="0"/>
                </a:moveTo>
                <a:lnTo>
                  <a:pt x="11454602" y="0"/>
                </a:lnTo>
                <a:lnTo>
                  <a:pt x="11454602" y="4023455"/>
                </a:lnTo>
                <a:lnTo>
                  <a:pt x="0" y="40234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79" t="-8485" b="-56859"/>
            </a:stretch>
          </a:blipFill>
        </p:spPr>
        <p:txBody>
          <a:bodyPr/>
          <a:lstStyle/>
          <a:p>
            <a:endParaRPr lang="en-EC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B3FF01-C03F-44D3-BD9F-AA148DD6FB9A}"/>
              </a:ext>
            </a:extLst>
          </p:cNvPr>
          <p:cNvSpPr>
            <a:spLocks noGrp="1"/>
          </p:cNvSpPr>
          <p:nvPr/>
        </p:nvSpPr>
        <p:spPr>
          <a:xfrm>
            <a:off x="1028700" y="866775"/>
            <a:ext cx="8474183" cy="96075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7419"/>
              </a:lnSpc>
              <a:spcBef>
                <a:spcPct val="0"/>
              </a:spcBef>
              <a:buNone/>
            </a:pPr>
            <a:r>
              <a:rPr sz="5299">
                <a:solidFill>
                  <a:srgbClr val="1B1B1B"/>
                </a:solidFill>
                <a:latin typeface="Telegraf"/>
                <a:ea typeface="Telegraf"/>
                <a:cs typeface="Telegraf"/>
              </a:rPr>
              <a:t>State Representation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FF7713-9078-4E37-929F-DBBC84BFACF0}"/>
              </a:ext>
            </a:extLst>
          </p:cNvPr>
          <p:cNvSpPr>
            <a:spLocks noGrp="1"/>
          </p:cNvSpPr>
          <p:nvPr/>
        </p:nvSpPr>
        <p:spPr>
          <a:xfrm>
            <a:off x="551015" y="6913847"/>
            <a:ext cx="12993271" cy="2611320"/>
          </a:xfrm>
          <a:custGeom>
            <a:avLst/>
            <a:gdLst/>
            <a:ahLst/>
            <a:cxnLst/>
            <a:rect l="l" t="t" r="r" b="b"/>
            <a:pathLst>
              <a:path w="3422096" h="687755">
                <a:moveTo>
                  <a:pt x="17875" y="0"/>
                </a:moveTo>
                <a:lnTo>
                  <a:pt x="3404221" y="0"/>
                </a:lnTo>
                <a:cubicBezTo>
                  <a:pt x="3408962" y="0"/>
                  <a:pt x="3413508" y="1883"/>
                  <a:pt x="3416861" y="5236"/>
                </a:cubicBezTo>
                <a:cubicBezTo>
                  <a:pt x="3420213" y="8588"/>
                  <a:pt x="3422096" y="13134"/>
                  <a:pt x="3422096" y="17875"/>
                </a:cubicBezTo>
                <a:lnTo>
                  <a:pt x="3422096" y="669880"/>
                </a:lnTo>
                <a:cubicBezTo>
                  <a:pt x="3422096" y="674621"/>
                  <a:pt x="3420213" y="679167"/>
                  <a:pt x="3416861" y="682520"/>
                </a:cubicBezTo>
                <a:cubicBezTo>
                  <a:pt x="3413508" y="685872"/>
                  <a:pt x="3408962" y="687755"/>
                  <a:pt x="3404221" y="687755"/>
                </a:cubicBezTo>
                <a:lnTo>
                  <a:pt x="17875" y="687755"/>
                </a:lnTo>
                <a:cubicBezTo>
                  <a:pt x="13134" y="687755"/>
                  <a:pt x="8588" y="685872"/>
                  <a:pt x="5236" y="682520"/>
                </a:cubicBezTo>
                <a:cubicBezTo>
                  <a:pt x="1883" y="679167"/>
                  <a:pt x="0" y="674621"/>
                  <a:pt x="0" y="669880"/>
                </a:cubicBezTo>
                <a:lnTo>
                  <a:pt x="0" y="17875"/>
                </a:lnTo>
                <a:cubicBezTo>
                  <a:pt x="0" y="13134"/>
                  <a:pt x="1883" y="8588"/>
                  <a:pt x="5236" y="5236"/>
                </a:cubicBezTo>
                <a:cubicBezTo>
                  <a:pt x="8588" y="1883"/>
                  <a:pt x="13134" y="0"/>
                  <a:pt x="17875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D8D6C6-8B03-4E09-96FB-50E773E2C9DE}"/>
              </a:ext>
            </a:extLst>
          </p:cNvPr>
          <p:cNvSpPr>
            <a:spLocks noGrp="1"/>
          </p:cNvSpPr>
          <p:nvPr/>
        </p:nvSpPr>
        <p:spPr>
          <a:xfrm>
            <a:off x="551015" y="6769187"/>
            <a:ext cx="12993271" cy="275598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BA058B7-C6A7-4031-9F31-F16491C5DA21}"/>
              </a:ext>
            </a:extLst>
          </p:cNvPr>
          <p:cNvSpPr>
            <a:spLocks noGrp="1"/>
          </p:cNvSpPr>
          <p:nvPr/>
        </p:nvSpPr>
        <p:spPr>
          <a:xfrm>
            <a:off x="730699" y="7044439"/>
            <a:ext cx="12813587" cy="22929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Atomic: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each state is an indivisible black box with no internal structure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Factored: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described by a set of variables/attributes with values</a:t>
            </a:r>
          </a:p>
          <a:p>
            <a:pPr marL="669281" indent="-334641" algn="l">
              <a:lnSpc>
                <a:spcPts val="4339"/>
              </a:lnSpc>
              <a:buFont typeface="Arial"/>
              <a:buChar char="•"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Structured:</a:t>
            </a: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 describes objects and the relationships among them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24C5A24-EEDD-4D8D-B9CC-B97F8BB6F255}"/>
              </a:ext>
            </a:extLst>
          </p:cNvPr>
          <p:cNvSpPr>
            <a:spLocks noGrp="1"/>
          </p:cNvSpPr>
          <p:nvPr/>
        </p:nvSpPr>
        <p:spPr>
          <a:xfrm>
            <a:off x="12005617" y="1207886"/>
            <a:ext cx="5546310" cy="4903798"/>
          </a:xfrm>
          <a:custGeom>
            <a:avLst/>
            <a:gdLst/>
            <a:ahLst/>
            <a:cxnLst/>
            <a:rect l="l" t="t" r="r" b="b"/>
            <a:pathLst>
              <a:path w="1460756" h="1291535">
                <a:moveTo>
                  <a:pt x="41876" y="0"/>
                </a:moveTo>
                <a:lnTo>
                  <a:pt x="1418880" y="0"/>
                </a:lnTo>
                <a:cubicBezTo>
                  <a:pt x="1429987" y="0"/>
                  <a:pt x="1440638" y="4412"/>
                  <a:pt x="1448491" y="12265"/>
                </a:cubicBezTo>
                <a:cubicBezTo>
                  <a:pt x="1456345" y="20118"/>
                  <a:pt x="1460756" y="30770"/>
                  <a:pt x="1460756" y="41876"/>
                </a:cubicBezTo>
                <a:lnTo>
                  <a:pt x="1460756" y="1249659"/>
                </a:lnTo>
                <a:cubicBezTo>
                  <a:pt x="1460756" y="1260765"/>
                  <a:pt x="1456345" y="1271417"/>
                  <a:pt x="1448491" y="1279270"/>
                </a:cubicBezTo>
                <a:cubicBezTo>
                  <a:pt x="1440638" y="1287123"/>
                  <a:pt x="1429987" y="1291535"/>
                  <a:pt x="1418880" y="1291535"/>
                </a:cubicBezTo>
                <a:lnTo>
                  <a:pt x="41876" y="1291535"/>
                </a:lnTo>
                <a:cubicBezTo>
                  <a:pt x="30770" y="1291535"/>
                  <a:pt x="20118" y="1287123"/>
                  <a:pt x="12265" y="1279270"/>
                </a:cubicBezTo>
                <a:cubicBezTo>
                  <a:pt x="4412" y="1271417"/>
                  <a:pt x="0" y="1260765"/>
                  <a:pt x="0" y="1249659"/>
                </a:cubicBezTo>
                <a:lnTo>
                  <a:pt x="0" y="41876"/>
                </a:lnTo>
                <a:cubicBezTo>
                  <a:pt x="0" y="30770"/>
                  <a:pt x="4412" y="20118"/>
                  <a:pt x="12265" y="12265"/>
                </a:cubicBezTo>
                <a:cubicBezTo>
                  <a:pt x="20118" y="4412"/>
                  <a:pt x="30770" y="0"/>
                  <a:pt x="41876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EC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500A4C-DD7C-44A9-817E-DABC83F86F22}"/>
              </a:ext>
            </a:extLst>
          </p:cNvPr>
          <p:cNvSpPr>
            <a:spLocks noGrp="1"/>
          </p:cNvSpPr>
          <p:nvPr/>
        </p:nvSpPr>
        <p:spPr>
          <a:xfrm>
            <a:off x="12005617" y="1063226"/>
            <a:ext cx="5546310" cy="504845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B2C4D23-868D-4BB9-A794-D16B4FDCFA5D}"/>
              </a:ext>
            </a:extLst>
          </p:cNvPr>
          <p:cNvSpPr>
            <a:spLocks noGrp="1"/>
          </p:cNvSpPr>
          <p:nvPr/>
        </p:nvSpPr>
        <p:spPr>
          <a:xfrm>
            <a:off x="12408302" y="1464394"/>
            <a:ext cx="4805471" cy="38741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339"/>
              </a:lnSpc>
              <a:buNone/>
            </a:pPr>
            <a:r>
              <a:rPr sz="3099" b="1">
                <a:solidFill>
                  <a:srgbClr val="1B1B1B"/>
                </a:solidFill>
                <a:latin typeface="Helvetica World Bold"/>
                <a:ea typeface="Helvetica World Bold"/>
                <a:cs typeface="Helvetica World Bold"/>
              </a:rPr>
              <a:t>Why is the level of representation important?</a:t>
            </a:r>
          </a:p>
          <a:p>
            <a:pPr algn="l">
              <a:lnSpc>
                <a:spcPts val="4339"/>
              </a:lnSpc>
              <a:buNone/>
            </a:pPr>
            <a:endParaRPr sz="3099" b="1">
              <a:solidFill>
                <a:srgbClr val="1B1B1B"/>
              </a:solidFill>
              <a:latin typeface="Helvetica World Bold"/>
              <a:ea typeface="Helvetica World Bold"/>
              <a:cs typeface="Helvetica World Bold"/>
            </a:endParaRPr>
          </a:p>
          <a:p>
            <a:pPr algn="l">
              <a:lnSpc>
                <a:spcPts val="4339"/>
              </a:lnSpc>
              <a:buNone/>
            </a:pPr>
            <a:r>
              <a:rPr sz="3099">
                <a:solidFill>
                  <a:srgbClr val="1B1B1B"/>
                </a:solidFill>
                <a:latin typeface="Helvetica World"/>
                <a:ea typeface="Helvetica World"/>
                <a:cs typeface="Helvetica World"/>
              </a:rPr>
              <a:t>Greater expressiveness enables more reasoning, but also increases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3313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Macintosh PowerPoint</Application>
  <DocSecurity>0</DocSecurity>
  <PresentationFormat>Custom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Calibri</vt:lpstr>
      <vt:lpstr>Arial</vt:lpstr>
      <vt:lpstr>Helvetica World Bold</vt:lpstr>
      <vt:lpstr>Telegraf</vt:lpstr>
      <vt:lpstr>Helvetica World</vt:lpstr>
      <vt:lpstr>Telegraf Bold</vt:lpstr>
      <vt:lpstr>Telegraf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 Riofrío</cp:lastModifiedBy>
  <cp:revision>1</cp:revision>
  <dcterms:created xsi:type="dcterms:W3CDTF">2026-07-18T04:26:47Z</dcterms:created>
  <dcterms:modified xsi:type="dcterms:W3CDTF">2026-07-18T15:37:02Z</dcterms:modified>
</cp:coreProperties>
</file>