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Helvetica World" pitchFamily="2" charset="0"/>
      <p:regular r:id="rId35"/>
    </p:embeddedFont>
    <p:embeddedFont>
      <p:font typeface="Helvetica World Bold" pitchFamily="2" charset="0"/>
      <p:regular r:id="rId36"/>
    </p:embeddedFont>
    <p:embeddedFont>
      <p:font typeface="Telegraf" pitchFamily="2" charset="77"/>
      <p:regular r:id="rId37"/>
    </p:embeddedFont>
    <p:embeddedFont>
      <p:font typeface="Telegraf Medium" pitchFamily="2" charset="77"/>
      <p:regular r:id="rId38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EEE7-D279-49EB-A9D7-8CFC9322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A2548-86EC-46DA-9EAE-2B6405B2D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EB769-A5FC-4A7E-B1B1-3E88947031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8CEC-9C65-4C5B-A6B3-B3723FD9A4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9153-FC86-4D61-BDDA-CC86E95BA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18EF-2DEA-4D77-ADC1-59461A3B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6579E-335D-4DE4-BC98-E8794DCE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EDB28-2E31-4A68-BE6E-F2D2F12B1A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60AF-53C3-4956-9EF5-329DFD90E8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AB8D8-FEE2-42B4-8827-62065E56E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C5F7-78DF-4355-9478-8860EE5D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FF3F-8698-4834-BBC5-3E9A8F394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0050-7152-4DEC-94F6-9A4ABAC6B4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2A450-DD1F-4702-A610-E8BC34E89D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14A8-D616-414C-9050-AA94BA0F7A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8CF6-903F-4637-AA7B-D705963E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2E1-9972-4B4E-A038-D865BDAFF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E190C-0115-42CB-A2D4-923FC8D14AD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96A14-4C2F-48DC-AF2D-05043C9256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A5983-17A9-4A42-AC85-578B0CFD4D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C5335-68C8-41FA-9944-FAE5A42988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774C-A064-4B12-B699-EC76FFC0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8F91D-53C4-49D8-9838-7D17C008A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F7E3F-D100-47D6-894C-1191205E6D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6B1FB-179F-47A4-9580-D91FC8EE289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01981-BA11-4EAA-91FF-5814B0E7D81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A7FA6-D6C7-4038-A740-15E499AADD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3AFDA-608B-4B77-9A7D-590D195F6F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31C41-DF56-4177-9315-80EC0A66B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CF11-534E-4395-86DC-C6463E6A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7CAB7-67D0-4E1B-93A2-FD70065BED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E7808-8186-486A-9F88-E592208C86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05675-9973-4A0B-BCD6-E9009E3DD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72941-B3A8-4DCF-B53F-18536BA73B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0480B-64C1-45DE-9C02-5E0FCFA563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3CEC7-04C1-4148-99A2-8DC38A045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C3A5-398C-452E-9B5D-C9D6042B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28225-6F04-4EB7-B6A8-17C7DC98D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38A82-97E5-4F2E-AF2D-CE0A1FDD1F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4D071-366C-49E9-9683-FFB0AB3DE7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59BB8-5FA2-42CB-972E-CB75FCF4B9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E489C-B200-4995-B5BE-A99F74DCC1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377-044D-4FB2-B80B-5C88417F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B65D1-31D6-4484-B023-721643F2E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F76E4-FC0E-47A8-A63A-A3212FCCF4E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88855-83F8-486E-B7CD-3D37E4FB5A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75CD1-24D4-4E09-B660-8CBD5C5440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0D362-D353-4F04-93A4-8C66E2C1E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327A-F0D7-481F-9876-B0358D16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54F51-81CD-44EE-9DDB-76BB47C53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3EEC-DB25-4DBB-96A3-D4BA8C11D5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449E5-AB23-4EAD-B97C-62C520F3A0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15083-994D-4B05-8CAA-0E8520F3CC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37BE-0A10-4648-9D7C-031F13FE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FDBC0-2437-4A92-8A87-9918D4548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DFC5-3A9D-46E1-A79F-3FEB3B0E6E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20F6-3FCE-4616-A1D3-610A5C616A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9842D-B7C1-492F-A0E8-6F59010E9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2F5D6-E6B0-4FA5-A9EA-CF478681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1FCA8-E4EB-4020-BFEE-EA2B5E2CD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61544-57C4-440C-B9EA-A0BF3C52B8C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8/9/26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81004-BC19-4E57-866D-2FE3E296988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EEC83-2546-49BC-A391-F573B581353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>
            <a:spLocks noGrp="1"/>
          </p:cNvSpPr>
          <p:nvPr/>
        </p:nvSpPr>
        <p:spPr>
          <a:xfrm>
            <a:off x="10336701" y="1799364"/>
            <a:ext cx="7210168" cy="6518130"/>
          </a:xfrm>
          <a:custGeom>
            <a:avLst/>
            <a:gdLst/>
            <a:ahLst/>
            <a:cxnLst/>
            <a:rect l="l" t="t" r="r" b="b"/>
            <a:pathLst>
              <a:path w="6351270" h="57416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>
            <a:blip r:embed="rId2"/>
            <a:stretch>
              <a:fillRect l="-10341" r="-10341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1372901"/>
            <a:ext cx="9021873" cy="4820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12600"/>
              </a:lnSpc>
              <a:buNone/>
            </a:pPr>
            <a:r>
              <a:rPr lang="en-US" sz="9000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Logic Programming with Prolog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Where We Are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7930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73590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Until now our logic could only be checked. Today we can run it.</a:t>
            </a:r>
          </a:p>
          <a:p>
            <a:pPr marL="604513" indent="-302256" algn="l">
              <a:lnSpc>
                <a:spcPts val="3359"/>
              </a:lnSpc>
              <a:spcBef>
                <a:spcPts val="14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Propositional calculus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connectives and truth tables, but no objects.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First-order calculus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constants, variables, predicates, quantifiers.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Horn clauses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the fragment where inference stays cheap.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Prolog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that fragment, plus an execution strategy.</a:t>
            </a:r>
          </a:p>
          <a:p>
            <a:pPr marL="0" indent="0" algn="ctr">
              <a:lnSpc>
                <a:spcPts val="5040"/>
              </a:lnSpc>
              <a:spcBef>
                <a:spcPts val="4000"/>
              </a:spcBef>
              <a:buNone/>
            </a:pPr>
            <a:r>
              <a:rPr lang="en-US" sz="3600" b="1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Algorithm  =  Logic  +  Control</a:t>
            </a:r>
          </a:p>
          <a:p>
            <a:pPr marL="0" indent="0" algn="ctr">
              <a:lnSpc>
                <a:spcPts val="3079"/>
              </a:lnSpc>
              <a:spcBef>
                <a:spcPts val="1200"/>
              </a:spcBef>
              <a:buNone/>
            </a:pPr>
            <a:r>
              <a:rPr lang="en-US" sz="2199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Robert Kowalski, 1979</a:t>
            </a:r>
          </a:p>
          <a:p>
            <a:pPr marL="0" indent="0" algn="ctr">
              <a:lnSpc>
                <a:spcPts val="3359"/>
              </a:lnSpc>
              <a:spcBef>
                <a:spcPts val="2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Your clauses are the logic; Prolog supplies the control.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9304000" y="2020000"/>
            <a:ext cx="8220722" cy="18325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9569422" y="2320000"/>
            <a:ext cx="7689878" cy="522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1.  Propositional calculus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9569422" y="3040000"/>
            <a:ext cx="7689878" cy="4465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Decidable, but it cannot say “every”.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9304000" y="4052500"/>
            <a:ext cx="8220722" cy="18325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569422" y="4352500"/>
            <a:ext cx="7689878" cy="522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2.  First-order calculus</a:t>
            </a: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9569422" y="5072500"/>
            <a:ext cx="7689878" cy="4465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Objects and quantifiers. Undecidable.</a:t>
            </a:r>
          </a:p>
        </p:txBody>
      </p:sp>
      <p:sp>
        <p:nvSpPr>
          <p:cNvPr id="11" name="Card 11"/>
          <p:cNvSpPr>
            <a:spLocks noGrp="1"/>
          </p:cNvSpPr>
          <p:nvPr/>
        </p:nvSpPr>
        <p:spPr>
          <a:xfrm>
            <a:off x="9304000" y="6085000"/>
            <a:ext cx="8220722" cy="18325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9569422" y="6385000"/>
            <a:ext cx="7689878" cy="522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3.  Horn clauses</a:t>
            </a: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569422" y="7105000"/>
            <a:ext cx="7689878" cy="4465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At most one positive literal. Cheap entailment.</a:t>
            </a:r>
          </a:p>
        </p:txBody>
      </p:sp>
      <p:sp>
        <p:nvSpPr>
          <p:cNvPr id="14" name="Card 14"/>
          <p:cNvSpPr>
            <a:spLocks noGrp="1"/>
          </p:cNvSpPr>
          <p:nvPr/>
        </p:nvSpPr>
        <p:spPr>
          <a:xfrm>
            <a:off x="9304000" y="8117500"/>
            <a:ext cx="8220722" cy="18325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9569422" y="8417500"/>
            <a:ext cx="7689878" cy="522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4.  Prolog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9569422" y="9137500"/>
            <a:ext cx="7689878" cy="4465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Horn clauses + backward chaining + unification.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0739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299"/>
              </a:lnSpc>
              <a:buNone/>
            </a:pPr>
            <a:r>
              <a:rPr lang="en-US" sz="82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From Sentences to Clauses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7700000" cy="7930000"/>
          </a:xfrm>
          <a:prstGeom prst="roundRect">
            <a:avLst>
              <a:gd name="adj" fmla="val 1472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169156" cy="67799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Every propositional sentence can be rewritten in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conjunctive normal form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  <a:p>
            <a:pPr marL="604513" indent="-302256" algn="l">
              <a:lnSpc>
                <a:spcPts val="3639"/>
              </a:lnSpc>
              <a:spcBef>
                <a:spcPts val="18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Literal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— a symbol, or a negated symbol.</a:t>
            </a:r>
          </a:p>
          <a:p>
            <a:pPr marL="604513" indent="-302256" algn="l">
              <a:lnSpc>
                <a:spcPts val="3639"/>
              </a:lnSpc>
              <a:spcBef>
                <a:spcPts val="8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Clause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— a disjunction of literals.</a:t>
            </a:r>
          </a:p>
          <a:p>
            <a:pPr marL="604513" indent="-302256" algn="l">
              <a:lnSpc>
                <a:spcPts val="3639"/>
              </a:lnSpc>
              <a:spcBef>
                <a:spcPts val="8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CNF sentence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— a conjunction of clauses.</a:t>
            </a:r>
          </a:p>
          <a:p>
            <a:pPr marL="0" indent="0" algn="l">
              <a:lnSpc>
                <a:spcPts val="3639"/>
              </a:lnSpc>
              <a:spcBef>
                <a:spcPts val="24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rewriting is an equivalence: nothing is lost.</a:t>
            </a:r>
          </a:p>
          <a:p>
            <a:pPr marL="0" indent="0" algn="l">
              <a:lnSpc>
                <a:spcPts val="3639"/>
              </a:lnSpc>
              <a:spcBef>
                <a:spcPts val="16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Why bother? Resolution — a single inference rule that is refutation-complete for propositional logic — needs clause form as input.</a:t>
            </a:r>
          </a:p>
          <a:p>
            <a:pPr marL="0" indent="0" algn="l">
              <a:lnSpc>
                <a:spcPts val="3639"/>
              </a:lnSpc>
              <a:spcBef>
                <a:spcPts val="16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grammar also names the two shapes of clause we care about today.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8783278" y="2020000"/>
            <a:ext cx="8741444" cy="4448513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fig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1" y="2285422"/>
            <a:ext cx="8210598" cy="3167669"/>
          </a:xfrm>
          <a:prstGeom prst="rect">
            <a:avLst/>
          </a:prstGeom>
        </p:spPr>
      </p:pic>
      <p:sp>
        <p:nvSpPr>
          <p:cNvPr id="7" name="TextBox 7"/>
          <p:cNvSpPr>
            <a:spLocks noGrp="1"/>
          </p:cNvSpPr>
          <p:nvPr/>
        </p:nvSpPr>
        <p:spPr>
          <a:xfrm>
            <a:off x="9048700" y="5673091"/>
            <a:ext cx="8210600" cy="623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Russell &amp; Norvig, Artificial Intelligence: A Modern Approach, 4th ed. (Global Edition), Figure 7.12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Horn Clauses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410000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30926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Horn clause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is a clause with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at most one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positive literal.</a:t>
            </a:r>
          </a:p>
          <a:p>
            <a:pPr marL="0" indent="0" algn="l">
              <a:lnSpc>
                <a:spcPts val="3639"/>
              </a:lnSpc>
              <a:spcBef>
                <a:spcPts val="18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That single restriction buys three things: clauses read as implications, chaining becomes natural, and propositional entailment becomes linear in the size of the knowledge base.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6420000"/>
            <a:ext cx="8220722" cy="3530000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6685422"/>
            <a:ext cx="7689878" cy="26457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Not everything is a Horn clause</a:t>
            </a:r>
          </a:p>
          <a:p>
            <a:pPr marL="604513" indent="-302256" algn="l">
              <a:lnSpc>
                <a:spcPts val="3639"/>
              </a:lnSpc>
              <a:spcBef>
                <a:spcPts val="1400"/>
              </a:spcBef>
              <a:buFont typeface="Arial"/>
              <a:buChar char="•"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 ∨ Q  has two positive literals — no Horn form exists.</a:t>
            </a:r>
          </a:p>
          <a:p>
            <a:pPr marL="604513" indent="-302256" algn="l">
              <a:lnSpc>
                <a:spcPts val="3639"/>
              </a:lnSpc>
              <a:spcBef>
                <a:spcPts val="800"/>
              </a:spcBef>
              <a:buFont typeface="Arial"/>
              <a:buChar char="•"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That is the price of tractability: Prolog cannot say “one of these, I do not know which”.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9304000" y="2020000"/>
            <a:ext cx="8220722" cy="2483333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9569422" y="2250000"/>
            <a:ext cx="7689878" cy="4949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Definite clause</a:t>
            </a: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569422" y="2850000"/>
            <a:ext cx="3300000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¬A ∨ ¬B ∨ C</a:t>
            </a: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2869422" y="2850000"/>
            <a:ext cx="700000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≡</a:t>
            </a: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13669422" y="2850000"/>
            <a:ext cx="3589878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A ∧ B ⇒ C</a:t>
            </a: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9569422" y="3440000"/>
            <a:ext cx="7689878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Exactly one positive literal. A rule.</a:t>
            </a:r>
          </a:p>
        </p:txBody>
      </p:sp>
      <p:sp>
        <p:nvSpPr>
          <p:cNvPr id="13" name="Card 13"/>
          <p:cNvSpPr>
            <a:spLocks noGrp="1"/>
          </p:cNvSpPr>
          <p:nvPr/>
        </p:nvSpPr>
        <p:spPr>
          <a:xfrm>
            <a:off x="9304000" y="4743333"/>
            <a:ext cx="8220722" cy="2483333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9569422" y="4973333"/>
            <a:ext cx="7689878" cy="4949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Fact</a:t>
            </a: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9569422" y="5573333"/>
            <a:ext cx="3300000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12869422" y="5573333"/>
            <a:ext cx="700000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≡</a:t>
            </a: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13669422" y="5573333"/>
            <a:ext cx="3589878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True ⇒ C</a:t>
            </a: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9569422" y="6163333"/>
            <a:ext cx="7689878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A definite clause with an empty body.</a:t>
            </a:r>
          </a:p>
        </p:txBody>
      </p:sp>
      <p:sp>
        <p:nvSpPr>
          <p:cNvPr id="19" name="Card 19"/>
          <p:cNvSpPr>
            <a:spLocks noGrp="1"/>
          </p:cNvSpPr>
          <p:nvPr/>
        </p:nvSpPr>
        <p:spPr>
          <a:xfrm>
            <a:off x="9304000" y="7466666"/>
            <a:ext cx="8220722" cy="2483333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9569422" y="7696666"/>
            <a:ext cx="7689878" cy="4949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Goal clause</a:t>
            </a: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9569422" y="8296666"/>
            <a:ext cx="3300000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¬A ∨ ¬B</a:t>
            </a: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12869422" y="8296666"/>
            <a:ext cx="700000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≡</a:t>
            </a: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13669422" y="8296666"/>
            <a:ext cx="3589878" cy="55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A ∧ B ⇒ False</a:t>
            </a:r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9569422" y="8886666"/>
            <a:ext cx="7689878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No positive literal. A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Why Horn Clauses Matter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900000" cy="7930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8369156" cy="73663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Definite-clause knowledge bases are special for three reasons.</a:t>
            </a:r>
          </a:p>
          <a:p>
            <a:pPr marL="604513" indent="-302256" algn="l">
              <a:lnSpc>
                <a:spcPts val="3359"/>
              </a:lnSpc>
              <a:spcBef>
                <a:spcPts val="1800"/>
              </a:spcBef>
              <a:buAutoNum type="arabicPeriod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They read as implications.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¬L ∨ ¬B ∨ M is hard to parse; L ∧ B ⇒ M is not.</a:t>
            </a:r>
          </a:p>
          <a:p>
            <a:pPr marL="604513" indent="-302256" algn="l">
              <a:lnSpc>
                <a:spcPts val="3359"/>
              </a:lnSpc>
              <a:spcBef>
                <a:spcPts val="1200"/>
              </a:spcBef>
              <a:buAutoNum type="arabicPeriod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Inference is by chaining.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Forward, from facts to query; backward, from query to facts.</a:t>
            </a:r>
          </a:p>
          <a:p>
            <a:pPr marL="604513" indent="-302256" algn="l">
              <a:lnSpc>
                <a:spcPts val="3359"/>
              </a:lnSpc>
              <a:spcBef>
                <a:spcPts val="1200"/>
              </a:spcBef>
              <a:buAutoNum type="arabicPeriod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Entailment is cheap.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Linear in a propositional definite-clause KB. First-order entailment stays semi-decidable, but the search is far cheaper than full resolution.</a:t>
            </a:r>
          </a:p>
          <a:p>
            <a:pPr marL="0" indent="0" algn="l">
              <a:lnSpc>
                <a:spcPts val="3219"/>
              </a:lnSpc>
              <a:spcBef>
                <a:spcPts val="20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On the right: seven Horn clauses and their AND–OR graph. Links joined by an arc are a conjunction; separate links are alternatives.</a:t>
            </a:r>
          </a:p>
          <a:p>
            <a:pPr marL="0" indent="0" algn="l">
              <a:lnSpc>
                <a:spcPts val="3219"/>
              </a:lnSpc>
              <a:spcBef>
                <a:spcPts val="1400"/>
              </a:spcBef>
              <a:buNone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Prolog explores exactly this graph — depth first, left to right.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9983278" y="3492611"/>
            <a:ext cx="7541444" cy="4984777"/>
          </a:xfrm>
          <a:prstGeom prst="roundRect">
            <a:avLst>
              <a:gd name="adj" fmla="val 227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fig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701" y="3758033"/>
            <a:ext cx="7010598" cy="3703933"/>
          </a:xfrm>
          <a:prstGeom prst="rect">
            <a:avLst/>
          </a:prstGeom>
        </p:spPr>
      </p:pic>
      <p:sp>
        <p:nvSpPr>
          <p:cNvPr id="7" name="TextBox 7"/>
          <p:cNvSpPr>
            <a:spLocks noGrp="1"/>
          </p:cNvSpPr>
          <p:nvPr/>
        </p:nvSpPr>
        <p:spPr>
          <a:xfrm>
            <a:off x="10248700" y="7681966"/>
            <a:ext cx="7010600" cy="623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Russell &amp; Norvig, Artificial Intelligence: A Modern Approach, 4th ed. (Global Edition), Figure 7.16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Backward Chaining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16761444" cy="5671298"/>
          </a:xfrm>
          <a:prstGeom prst="roundRect">
            <a:avLst>
              <a:gd name="adj" fmla="val 199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fig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01" y="2285422"/>
            <a:ext cx="10199998" cy="4520454"/>
          </a:xfrm>
          <a:prstGeom prst="rect">
            <a:avLst/>
          </a:prstGeom>
        </p:spPr>
      </p:pic>
      <p:sp>
        <p:nvSpPr>
          <p:cNvPr id="5" name="TextBox 5"/>
          <p:cNvSpPr>
            <a:spLocks noGrp="1"/>
          </p:cNvSpPr>
          <p:nvPr/>
        </p:nvSpPr>
        <p:spPr>
          <a:xfrm>
            <a:off x="1028700" y="6995876"/>
            <a:ext cx="16230600" cy="321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Proof tree built by backward chaining for Criminal(West). Russell &amp; Norvig, 4th ed. (Global Edition), Figure 9.7</a:t>
            </a:r>
          </a:p>
        </p:txBody>
      </p:sp>
      <p:sp>
        <p:nvSpPr>
          <p:cNvPr id="6" name="Card 6"/>
          <p:cNvSpPr>
            <a:spLocks noGrp="1"/>
          </p:cNvSpPr>
          <p:nvPr/>
        </p:nvSpPr>
        <p:spPr>
          <a:xfrm>
            <a:off x="763278" y="7991298"/>
            <a:ext cx="16761444" cy="1958702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28700" y="8256720"/>
            <a:ext cx="16230600" cy="100018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04513" indent="-302256" algn="l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From the query, prove the body of any matching clause; recurse to the facts, depth first, left to right.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Only facts relevant to the query are touched, and space is linear in the size of the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8961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6899"/>
              </a:lnSpc>
              <a:buNone/>
            </a:pPr>
            <a:r>
              <a:rPr lang="en-US" sz="68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From First-Order Logic to Prolog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7200000" cy="7930000"/>
          </a:xfrm>
          <a:prstGeom prst="roundRect">
            <a:avLst>
              <a:gd name="adj" fmla="val 157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6669156" cy="684586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Prolog is first-order definite clauses in a different surface syntax. Four conventions are all you need.</a:t>
            </a:r>
          </a:p>
          <a:p>
            <a:pPr marL="604513" indent="-302256" algn="l">
              <a:lnSpc>
                <a:spcPts val="3639"/>
              </a:lnSpc>
              <a:spcBef>
                <a:spcPts val="20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 implication is written backwards.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A ∧ B ⇒ C  becomes  C :- A, B.</a:t>
            </a:r>
          </a:p>
          <a:p>
            <a:pPr marL="604513" indent="-302256" algn="l">
              <a:lnSpc>
                <a:spcPts val="3639"/>
              </a:lnSpc>
              <a:spcBef>
                <a:spcPts val="12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Case is inverted.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Uppercase is a variable, lowercase a constant — the opposite of the textbook.</a:t>
            </a:r>
          </a:p>
          <a:p>
            <a:pPr marL="604513" indent="-302256" algn="l">
              <a:lnSpc>
                <a:spcPts val="3639"/>
              </a:lnSpc>
              <a:spcBef>
                <a:spcPts val="12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Quantifiers are implicit.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Every variable is universally quantified.</a:t>
            </a:r>
          </a:p>
          <a:p>
            <a:pPr marL="604513" indent="-302256" algn="l">
              <a:lnSpc>
                <a:spcPts val="3639"/>
              </a:lnSpc>
              <a:spcBef>
                <a:spcPts val="1200"/>
              </a:spcBef>
              <a:buFont typeface="Arial"/>
              <a:buChar char="•"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Punctuation matters.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Comma is “and”, semicolon is “or”, and every clause ends with a period.</a:t>
            </a:r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8283278" y="1990000"/>
            <a:ext cx="9241444" cy="4949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The same rule, twice</a:t>
            </a:r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8283278" y="2770000"/>
            <a:ext cx="9241444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First-order logic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8283278" y="3190000"/>
            <a:ext cx="9241444" cy="8086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105"/>
              </a:lnSpc>
              <a:buNone/>
            </a:pPr>
            <a:r>
              <a:rPr lang="en-US" sz="2300" dirty="0">
                <a:solidFill>
                  <a:srgbClr val="1B1B1B"/>
                </a:solidFill>
                <a:latin typeface="Cambria Math"/>
                <a:ea typeface="Cambria Math"/>
                <a:cs typeface="Cambria Math"/>
              </a:rPr>
              <a:t>∀x,y,z   American(x) ∧ Weapon(y) ∧ Sells(x,y,z) ∧ Hostile(z) ⇒ Criminal(x)</a:t>
            </a: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8283278" y="4070000"/>
            <a:ext cx="9241444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Prolog</a:t>
            </a:r>
          </a:p>
        </p:txBody>
      </p:sp>
      <p:sp>
        <p:nvSpPr>
          <p:cNvPr id="9" name="Card 9"/>
          <p:cNvSpPr>
            <a:spLocks noGrp="1"/>
          </p:cNvSpPr>
          <p:nvPr/>
        </p:nvSpPr>
        <p:spPr>
          <a:xfrm>
            <a:off x="8283278" y="4490000"/>
            <a:ext cx="9241444" cy="4511040"/>
          </a:xfrm>
          <a:prstGeom prst="roundRect">
            <a:avLst>
              <a:gd name="adj" fmla="val 251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8557598" y="4764320"/>
            <a:ext cx="8692804" cy="3982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criminal(X) :- american(X),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weapon(Y),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sells(X, Y, Z),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hostile(Z).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weapon(X)  :- missile(X).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hostile(X) :- enemy(X, america).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sells(west, X, nono)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missile(X), owns(nono,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american(west).   missile(m1).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owns(nono, m1).   enemy(nono, america).</a:t>
            </a: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8283278" y="9301040"/>
            <a:ext cx="9241444" cy="4467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criminal(west).      true.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What Is Prolog?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9200000" cy="7930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8669156" cy="61958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Prolog —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pro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grammation en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log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ique — is the most widely used logic programming language.</a:t>
            </a:r>
          </a:p>
          <a:p>
            <a:pPr marL="0" indent="0" algn="l">
              <a:lnSpc>
                <a:spcPts val="3639"/>
              </a:lnSpc>
              <a:spcBef>
                <a:spcPts val="20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Born in Marseille in 1972 (Alain Colmerauer and Philippe Roussel), on theory from Robert Kowalski in Edinburgh.</a:t>
            </a:r>
          </a:p>
          <a:p>
            <a:pPr marL="0" indent="0" algn="l">
              <a:lnSpc>
                <a:spcPts val="3639"/>
              </a:lnSpc>
              <a:spcBef>
                <a:spcPts val="14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You state </a:t>
            </a:r>
            <a:r>
              <a:rPr lang="en-US" sz="2599" b="1" i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what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holds, not </a:t>
            </a:r>
            <a:r>
              <a:rPr lang="en-US" sz="2599" b="1" i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how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to compute it. The interpreter searches for a proof; the answer is the substitution that made it work.</a:t>
            </a:r>
          </a:p>
          <a:p>
            <a:pPr marL="0" indent="0" algn="l">
              <a:lnSpc>
                <a:spcPts val="3919"/>
              </a:lnSpc>
              <a:spcBef>
                <a:spcPts val="2600"/>
              </a:spcBef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Still used for</a:t>
            </a:r>
          </a:p>
          <a:p>
            <a:pPr marL="604513" indent="-302256" algn="l">
              <a:lnSpc>
                <a:spcPts val="3359"/>
              </a:lnSpc>
              <a:spcBef>
                <a:spcPts val="14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Expert systems, rule engines, legal and medical reasoning.</a:t>
            </a:r>
          </a:p>
          <a:p>
            <a:pPr marL="604513" indent="-302256" algn="l">
              <a:lnSpc>
                <a:spcPts val="3359"/>
              </a:lnSpc>
              <a:spcBef>
                <a:spcPts val="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Natural-language parsing, via definite clause grammars.</a:t>
            </a:r>
          </a:p>
          <a:p>
            <a:pPr marL="604513" indent="-302256" algn="l">
              <a:lnSpc>
                <a:spcPts val="3359"/>
              </a:lnSpc>
              <a:spcBef>
                <a:spcPts val="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Compilers, program analysis and constraint problems.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10283278" y="2020000"/>
            <a:ext cx="7241444" cy="3850000"/>
          </a:xfrm>
          <a:prstGeom prst="roundRect">
            <a:avLst>
              <a:gd name="adj" fmla="val 294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image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413" y="2285422"/>
            <a:ext cx="5807173" cy="3319156"/>
          </a:xfrm>
          <a:prstGeom prst="rect">
            <a:avLst/>
          </a:prstGeom>
        </p:spPr>
      </p:pic>
      <p:sp>
        <p:nvSpPr>
          <p:cNvPr id="7" name="Card 7"/>
          <p:cNvSpPr>
            <a:spLocks noGrp="1"/>
          </p:cNvSpPr>
          <p:nvPr/>
        </p:nvSpPr>
        <p:spPr>
          <a:xfrm>
            <a:off x="10283278" y="6170000"/>
            <a:ext cx="7241444" cy="3780000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0548700" y="6435422"/>
            <a:ext cx="6710600" cy="517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Declarative reading</a:t>
            </a:r>
          </a:p>
        </p:txBody>
      </p:sp>
      <p:sp>
        <p:nvSpPr>
          <p:cNvPr id="9" name="Card 9"/>
          <p:cNvSpPr>
            <a:spLocks noGrp="1"/>
          </p:cNvSpPr>
          <p:nvPr/>
        </p:nvSpPr>
        <p:spPr>
          <a:xfrm>
            <a:off x="10548700" y="7193135"/>
            <a:ext cx="6710600" cy="1390600"/>
          </a:xfrm>
          <a:prstGeom prst="roundRect">
            <a:avLst>
              <a:gd name="adj" fmla="val 8151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0748700" y="7393135"/>
            <a:ext cx="6310600" cy="1010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ancestor(X, Y) :- parent(X, Y).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ancestor(X, Y) :- parent(X, Z),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   ancestor(Z, Y).</a:t>
            </a: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10548700" y="8823735"/>
            <a:ext cx="6710600" cy="8020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X is an ancestor of Y if X is a parent of Y, or a parent of some Z who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SWI-Prolog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7930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73181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Prolog is the language; SWI-Prolog is the implementation. Free, open source, macOS / Windows / Linux.</a:t>
            </a:r>
          </a:p>
          <a:p>
            <a:pPr marL="0" indent="0" algn="l">
              <a:lnSpc>
                <a:spcPts val="3359"/>
              </a:lnSpc>
              <a:spcBef>
                <a:spcPts val="18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Developed since 1987 at the University of Amsterdam. The current stable series is 10.x; this course is written against 9.2, and the two are close.</a:t>
            </a:r>
          </a:p>
          <a:p>
            <a:pPr marL="0" indent="0" algn="l">
              <a:lnSpc>
                <a:spcPts val="3919"/>
              </a:lnSpc>
              <a:spcBef>
                <a:spcPts val="2600"/>
              </a:spcBef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Why this one</a:t>
            </a:r>
          </a:p>
          <a:p>
            <a:pPr marL="604513" indent="-302256" algn="l">
              <a:lnSpc>
                <a:spcPts val="3359"/>
              </a:lnSpc>
              <a:spcBef>
                <a:spcPts val="14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Readable error messages and warnings.</a:t>
            </a:r>
          </a:p>
          <a:p>
            <a:pPr marL="604513" indent="-302256" algn="l">
              <a:lnSpc>
                <a:spcPts val="3359"/>
              </a:lnSpc>
              <a:spcBef>
                <a:spcPts val="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real debugger: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trace/0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and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gtrace/0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  <a:p>
            <a:pPr marL="604513" indent="-302256" algn="l">
              <a:lnSpc>
                <a:spcPts val="3359"/>
              </a:lnSpc>
              <a:spcBef>
                <a:spcPts val="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large library, including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library(clpfd)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for finite-domain constraints.</a:t>
            </a:r>
          </a:p>
          <a:p>
            <a:pPr marL="604513" indent="-302256" algn="l">
              <a:lnSpc>
                <a:spcPts val="3359"/>
              </a:lnSpc>
              <a:spcBef>
                <a:spcPts val="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Tabling, which fixes the infinite-loop problem we will see shortly.</a:t>
            </a:r>
          </a:p>
          <a:p>
            <a:pPr marL="604513" indent="-302256" algn="l">
              <a:lnSpc>
                <a:spcPts val="3359"/>
              </a:lnSpc>
              <a:spcBef>
                <a:spcPts val="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SWISH: Prolog in the browser, no install at all.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9304000" y="2020000"/>
            <a:ext cx="8220722" cy="37000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9569422" y="2285422"/>
            <a:ext cx="7689878" cy="24272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Portability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ISO covers the core: terms, control, arithmetic,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is/2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findall/3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 Most list, aggregation and I/O predicates are library, not ISO — that is where implementations diverge.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9304000" y="6020000"/>
            <a:ext cx="8220722" cy="3930000"/>
          </a:xfrm>
          <a:prstGeom prst="roundRect">
            <a:avLst>
              <a:gd name="adj" fmla="val 288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9569422" y="6285422"/>
            <a:ext cx="7689878" cy="22038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What you get</a:t>
            </a:r>
          </a:p>
          <a:p>
            <a:pPr marL="604513" indent="-302256" algn="l">
              <a:lnSpc>
                <a:spcPts val="3359"/>
              </a:lnSpc>
              <a:spcBef>
                <a:spcPts val="16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swipl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—  the interactive toplevel.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swipl file.pl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—  load a program, then the toplevel.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swipl-win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—  bundled editor and console.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Installing SWI-Prolog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5373814" cy="45000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300000"/>
            <a:ext cx="4842970" cy="6067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macOS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1028700" y="3270000"/>
            <a:ext cx="4842970" cy="2050000"/>
          </a:xfrm>
          <a:prstGeom prst="roundRect">
            <a:avLst>
              <a:gd name="adj" fmla="val 552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228700" y="3470000"/>
            <a:ext cx="4442970" cy="1076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brew install swi-prolog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# or the .dmg from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# swi-prolog.org/download/stable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28700" y="5580000"/>
            <a:ext cx="4842970" cy="837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Homebrew is quickest. The .dmg also installs swipl-win.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6457092" y="2020000"/>
            <a:ext cx="5373814" cy="45000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6722514" y="2300000"/>
            <a:ext cx="4842970" cy="6067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Windows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6722514" y="3270000"/>
            <a:ext cx="4842970" cy="2050000"/>
          </a:xfrm>
          <a:prstGeom prst="roundRect">
            <a:avLst>
              <a:gd name="adj" fmla="val 552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6922514" y="3470000"/>
            <a:ext cx="4442970" cy="1076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winget install SWI-Prolog.SWI-Prolog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# or the .exe from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# swi-prolog.org/download/stable</a:t>
            </a: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6722514" y="5580000"/>
            <a:ext cx="4842970" cy="837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Keep the default option that adds swipl to your PATH.</a:t>
            </a:r>
          </a:p>
        </p:txBody>
      </p:sp>
      <p:sp>
        <p:nvSpPr>
          <p:cNvPr id="13" name="Card 13"/>
          <p:cNvSpPr>
            <a:spLocks noGrp="1"/>
          </p:cNvSpPr>
          <p:nvPr/>
        </p:nvSpPr>
        <p:spPr>
          <a:xfrm>
            <a:off x="12150906" y="2020000"/>
            <a:ext cx="5373814" cy="45000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12416328" y="2300000"/>
            <a:ext cx="4842970" cy="6067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Linux</a:t>
            </a:r>
          </a:p>
        </p:txBody>
      </p:sp>
      <p:sp>
        <p:nvSpPr>
          <p:cNvPr id="15" name="Card 15"/>
          <p:cNvSpPr>
            <a:spLocks noGrp="1"/>
          </p:cNvSpPr>
          <p:nvPr/>
        </p:nvSpPr>
        <p:spPr>
          <a:xfrm>
            <a:off x="12416328" y="3270000"/>
            <a:ext cx="4842970" cy="2050000"/>
          </a:xfrm>
          <a:prstGeom prst="roundRect">
            <a:avLst>
              <a:gd name="adj" fmla="val 552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12616328" y="3470000"/>
            <a:ext cx="4442970" cy="1076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sudo apt install swi-prolog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# Fedora: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sudo dnf install swi-prolog</a:t>
            </a: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12416328" y="5580000"/>
            <a:ext cx="4842970" cy="837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Ubuntu ships an older build; the SWI PPA has current releases.</a:t>
            </a:r>
          </a:p>
        </p:txBody>
      </p:sp>
      <p:sp>
        <p:nvSpPr>
          <p:cNvPr id="18" name="Card 18"/>
          <p:cNvSpPr>
            <a:spLocks noGrp="1"/>
          </p:cNvSpPr>
          <p:nvPr/>
        </p:nvSpPr>
        <p:spPr>
          <a:xfrm>
            <a:off x="763278" y="6820000"/>
            <a:ext cx="8220722" cy="313000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1028700" y="7085422"/>
            <a:ext cx="7689878" cy="517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Check that it worked</a:t>
            </a:r>
          </a:p>
        </p:txBody>
      </p:sp>
      <p:sp>
        <p:nvSpPr>
          <p:cNvPr id="20" name="Card 20"/>
          <p:cNvSpPr>
            <a:spLocks noGrp="1"/>
          </p:cNvSpPr>
          <p:nvPr/>
        </p:nvSpPr>
        <p:spPr>
          <a:xfrm>
            <a:off x="1028700" y="7843135"/>
            <a:ext cx="7689878" cy="1060400"/>
          </a:xfrm>
          <a:prstGeom prst="roundRect">
            <a:avLst>
              <a:gd name="adj" fmla="val 1068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1228700" y="8043135"/>
            <a:ext cx="7289878" cy="680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$ swipl --version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SWI-Prolog version 9.2.9 for arm64-darwin</a:t>
            </a: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1028700" y="9143535"/>
            <a:ext cx="7689878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Any release 9.2 or newer is fine.</a:t>
            </a:r>
          </a:p>
        </p:txBody>
      </p:sp>
      <p:sp>
        <p:nvSpPr>
          <p:cNvPr id="23" name="Card 23"/>
          <p:cNvSpPr>
            <a:spLocks noGrp="1"/>
          </p:cNvSpPr>
          <p:nvPr/>
        </p:nvSpPr>
        <p:spPr>
          <a:xfrm>
            <a:off x="9304000" y="6820000"/>
            <a:ext cx="8220722" cy="313000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9569422" y="7085422"/>
            <a:ext cx="7689878" cy="517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 install? Use SWISH</a:t>
            </a:r>
          </a:p>
        </p:txBody>
      </p:sp>
      <p:sp>
        <p:nvSpPr>
          <p:cNvPr id="25" name="Card 25"/>
          <p:cNvSpPr>
            <a:spLocks noGrp="1"/>
          </p:cNvSpPr>
          <p:nvPr/>
        </p:nvSpPr>
        <p:spPr>
          <a:xfrm>
            <a:off x="9569422" y="7843135"/>
            <a:ext cx="7689878" cy="730200"/>
          </a:xfrm>
          <a:prstGeom prst="roundRect">
            <a:avLst>
              <a:gd name="adj" fmla="val 1552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9769422" y="8043135"/>
            <a:ext cx="7289878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swish.swi-prolog.org</a:t>
            </a: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9569422" y="8813335"/>
            <a:ext cx="7689878" cy="837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Fine for the exercises, but install locally before the assignment.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Your First Session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9800000" cy="7930000"/>
          </a:xfrm>
          <a:prstGeom prst="roundRect">
            <a:avLst>
              <a:gd name="adj" fmla="val 142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37598" y="2294320"/>
            <a:ext cx="9251360" cy="6954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$ swipl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Welcome to SWI-Prolog (threaded, 64 bits, version 9.2.9)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is 2 + 3 * 4.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14.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[user].            % type clauses straight in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|: likes(ana, prolog).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|: likes(luis, X) :- likes(ana,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|: ^D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likes(luis, W).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 = prolog.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consult('queens.pl').   % or just:  ?- [queens].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listing(range/3).       % what got loaded?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halt.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10883278" y="2020000"/>
            <a:ext cx="6641444" cy="4400000"/>
          </a:xfrm>
          <a:prstGeom prst="roundRect">
            <a:avLst>
              <a:gd name="adj" fmla="val 257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1148700" y="2285422"/>
            <a:ext cx="6110600" cy="27320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 two prompts</a:t>
            </a:r>
          </a:p>
          <a:p>
            <a:pPr marL="604513" indent="-302256" algn="l">
              <a:lnSpc>
                <a:spcPts val="3359"/>
              </a:lnSpc>
              <a:spcBef>
                <a:spcPts val="1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the toplevel wants a query.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|: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Prolog is reading clauses, not queries.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Every query and every clause ends with a period. Forgetting it is the classic first error.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10883278" y="6720000"/>
            <a:ext cx="6641444" cy="3230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1148700" y="6985422"/>
            <a:ext cx="6110600" cy="26304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Reading an answer</a:t>
            </a:r>
          </a:p>
          <a:p>
            <a:pPr marL="604513" indent="-302256" algn="l">
              <a:lnSpc>
                <a:spcPts val="3359"/>
              </a:lnSpc>
              <a:spcBef>
                <a:spcPts val="16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;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give me the next solution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Enter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stop here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trailing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rather than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;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means no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9723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7499"/>
              </a:lnSpc>
              <a:buNone/>
            </a:pPr>
            <a:r>
              <a:rPr lang="en-US" sz="74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Anatomy of a Prolog Program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7800000" cy="40000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269156" cy="27320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Everything is a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term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  <a:p>
            <a:pPr marL="604513" indent="-302256" algn="l">
              <a:lnSpc>
                <a:spcPts val="3359"/>
              </a:lnSpc>
              <a:spcBef>
                <a:spcPts val="16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Atom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ana, prolog, 'Ana María'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Number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42, 3.14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Variable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starts uppercase or _:  X, Qs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Compound term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parent(hector, ana), [1,2,3]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6320000"/>
            <a:ext cx="7800000" cy="3630000"/>
          </a:xfrm>
          <a:prstGeom prst="roundRect">
            <a:avLst>
              <a:gd name="adj" fmla="val 3123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6585422"/>
            <a:ext cx="7269156" cy="25746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04513" indent="-302256" algn="l">
              <a:lnSpc>
                <a:spcPts val="3359"/>
              </a:lnSpc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Fact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 parent(hector, ana).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Rule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 father(X,Y) :- parent(X,Y), male(X).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Query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?- father(hector, Who).</a:t>
            </a:r>
          </a:p>
          <a:p>
            <a:pPr marL="0" indent="0" algn="l">
              <a:lnSpc>
                <a:spcPts val="3219"/>
              </a:lnSpc>
              <a:spcBef>
                <a:spcPts val="16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Name and arity name a predicate: father/2 is not father/3.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8883278" y="1990000"/>
            <a:ext cx="8641444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family.pl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8883278" y="2680000"/>
            <a:ext cx="8641444" cy="7270000"/>
          </a:xfrm>
          <a:prstGeom prst="roundRect">
            <a:avLst>
              <a:gd name="adj" fmla="val 155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157598" y="2954320"/>
            <a:ext cx="8092804" cy="67381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---- facts ----------------------------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parent(hector, ana).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parent(hector, luis).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parent(ana,    sofia).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parent(luis,   diego).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male(hector).   male(luis).   male(diego).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female(ana).    female(sofia).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---- rules ----------------------------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father(X, Y) :- parent(X, Y), male(X).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grandparent(X, Z)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parent(X, Y),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parent(Y, Z).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sibling(X, Y)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parent(P, X), parent(P, Y), X \= Y.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ancestor(X, Y) :- parent(X, Y).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ancestor(X, Y) :- parent(X, Z), ancestor(Z, 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9596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7399"/>
              </a:lnSpc>
              <a:buNone/>
            </a:pPr>
            <a:r>
              <a:rPr lang="en-US" sz="73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Querying the Knowledge Base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9600000" cy="7930000"/>
          </a:xfrm>
          <a:prstGeom prst="roundRect">
            <a:avLst>
              <a:gd name="adj" fmla="val 142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37598" y="2294320"/>
            <a:ext cx="9051360" cy="6293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parent(hector, ana).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parent(hector, Who).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Who = ana ;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Who = luis.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grandparent(G, sofia).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G = hector ;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                % a choicepoint survived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findall(D, ancestor(hector, D), Ds).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Ds = [ana, luis, sofia, diego].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setof(P, C^parent(P, C), Parents).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Parents = [ana, hector, luis].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\+ parent(sofia, _).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          % no children recorded for sofia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10683278" y="2020000"/>
            <a:ext cx="6841444" cy="3500000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948700" y="2285422"/>
            <a:ext cx="6310600" cy="25796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One query, many answers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predicate is a relation, not a function: the same query can succeed once per solution.</a:t>
            </a:r>
          </a:p>
          <a:p>
            <a:pPr marL="0" indent="0" algn="l">
              <a:lnSpc>
                <a:spcPts val="3359"/>
              </a:lnSpc>
              <a:spcBef>
                <a:spcPts val="12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Press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;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to walk through them, or collect them with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findall/3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10683278" y="5820000"/>
            <a:ext cx="6841444" cy="413000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0948700" y="6085422"/>
            <a:ext cx="6310600" cy="28665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findall vs. setof</a:t>
            </a:r>
          </a:p>
          <a:p>
            <a:pPr marL="604513" indent="-302256" algn="l">
              <a:lnSpc>
                <a:spcPts val="3219"/>
              </a:lnSpc>
              <a:spcBef>
                <a:spcPts val="1600"/>
              </a:spcBef>
              <a:buFont typeface="Arial"/>
              <a:buChar char="•"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findall/3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keeps duplicates and order; returns [] when nothing matches.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setof/3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sorts and deduplicates; fails when nothing matches. Write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Var^Goal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for “any Var will do”.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Unification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9000000" cy="270000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8469156" cy="2168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Given two terms, find the </a:t>
            </a: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substitution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that makes them identical — or fail.</a:t>
            </a:r>
          </a:p>
          <a:p>
            <a:pPr marL="0" indent="0" algn="l">
              <a:lnSpc>
                <a:spcPts val="3639"/>
              </a:lnSpc>
              <a:spcBef>
                <a:spcPts val="18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is pattern matching in both directions: neither side is the “input”.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5020000"/>
            <a:ext cx="9000000" cy="4930000"/>
          </a:xfrm>
          <a:prstGeom prst="roundRect">
            <a:avLst>
              <a:gd name="adj" fmla="val 229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37598" y="5294320"/>
            <a:ext cx="8451360" cy="44009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f(a, Y) = f(X, b).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a, Y = b.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[H|T] = [1, 2, 3].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H = 1, T = [2, 3].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f(a) = g(a).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            % different functors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= f(X).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f(X).         % cyclic: no occurs check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unify_with_occurs_check(X, f(X)).</a:t>
            </a:r>
          </a:p>
          <a:p>
            <a:pPr marL="0" indent="0" algn="l">
              <a:lnSpc>
                <a:spcPts val="2464"/>
              </a:lnSpc>
              <a:buNone/>
            </a:pPr>
            <a:r>
              <a:rPr lang="en-US" sz="189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10083278" y="2020000"/>
            <a:ext cx="7441444" cy="3150000"/>
          </a:xfrm>
          <a:prstGeom prst="roundRect">
            <a:avLst>
              <a:gd name="adj" fmla="val 3598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puzz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317" y="2285422"/>
            <a:ext cx="5749366" cy="2619156"/>
          </a:xfrm>
          <a:prstGeom prst="rect">
            <a:avLst/>
          </a:prstGeom>
        </p:spPr>
      </p:pic>
      <p:sp>
        <p:nvSpPr>
          <p:cNvPr id="9" name="Card 9"/>
          <p:cNvSpPr>
            <a:spLocks noGrp="1"/>
          </p:cNvSpPr>
          <p:nvPr/>
        </p:nvSpPr>
        <p:spPr>
          <a:xfrm>
            <a:off x="10083278" y="5470000"/>
            <a:ext cx="7441444" cy="4480000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0348700" y="5735422"/>
            <a:ext cx="6910600" cy="386200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 rules</a:t>
            </a:r>
          </a:p>
          <a:p>
            <a:pPr marL="604513" indent="-302256" algn="l">
              <a:lnSpc>
                <a:spcPts val="3219"/>
              </a:lnSpc>
              <a:spcBef>
                <a:spcPts val="1400"/>
              </a:spcBef>
              <a:buFont typeface="Arial"/>
              <a:buChar char="•"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Atoms and numbers unify only with themselves.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variable unifies with anything, then stays bound.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Compound terms unify if functor and arity match and the arguments unify pairwise.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No occurs check, so X = f(X) builds a cyclic term.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985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7599"/>
              </a:lnSpc>
              <a:buNone/>
            </a:pPr>
            <a:r>
              <a:rPr lang="en-US" sz="7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How Prolog Executes a Query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400000" cy="5200000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869156" cy="464165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Prolog answers by </a:t>
            </a: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SLD resolution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depth-first backward chaining with unification.</a:t>
            </a:r>
          </a:p>
          <a:p>
            <a:pPr marL="604513" indent="-302256" algn="l">
              <a:lnSpc>
                <a:spcPts val="3359"/>
              </a:lnSpc>
              <a:spcBef>
                <a:spcPts val="1600"/>
              </a:spcBef>
              <a:buAutoNum type="arabicPeriod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Take the leftmost goal.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AutoNum type="arabicPeriod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Scan the clauses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 file order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for a matching head.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AutoNum type="arabicPeriod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Replace the goal by that clause’s body.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AutoNum type="arabicPeriod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On failure,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backtrack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undo bindings, try the next clause.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AutoNum type="arabicPeriod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Succeed when no goals remain.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7520000"/>
            <a:ext cx="8400000" cy="2430000"/>
          </a:xfrm>
          <a:prstGeom prst="roundRect">
            <a:avLst>
              <a:gd name="adj" fmla="val 466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7785422"/>
            <a:ext cx="7869156" cy="9443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So clause order and goal order change what a logically identical program does.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9483278" y="1990000"/>
            <a:ext cx="8041444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Same logic, different fate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9483278" y="2680000"/>
            <a:ext cx="8041444" cy="3190240"/>
          </a:xfrm>
          <a:prstGeom prst="roundRect">
            <a:avLst>
              <a:gd name="adj" fmla="val 355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757598" y="2954320"/>
            <a:ext cx="7492804" cy="2661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link(a, b).   link(b, c).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base case first: an answer comes back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path(X, Z) :- link(X, Z).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path(X, Z) :- path(X, Y), link(Y, Z).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path(a, c).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             % but ; still loops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9483278" y="6130240"/>
            <a:ext cx="8041444" cy="2199640"/>
          </a:xfrm>
          <a:prstGeom prst="roundRect">
            <a:avLst>
              <a:gd name="adj" fmla="val 5153"/>
            </a:avLst>
          </a:prstGeom>
          <a:solidFill>
            <a:srgbClr val="FDF1F1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9757598" y="6404560"/>
            <a:ext cx="7492804" cy="1671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left recursion first: no answer at all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path(X, Z) :- path(X, Y), link(Y, Z).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path(X, Z) :- link(X, Z).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path(a, c).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ERROR: Stack limit (1.0Gb) exceeded</a:t>
            </a:r>
          </a:p>
        </p:txBody>
      </p:sp>
      <p:sp>
        <p:nvSpPr>
          <p:cNvPr id="12" name="Card 12"/>
          <p:cNvSpPr>
            <a:spLocks noGrp="1"/>
          </p:cNvSpPr>
          <p:nvPr/>
        </p:nvSpPr>
        <p:spPr>
          <a:xfrm>
            <a:off x="9483278" y="8549880"/>
            <a:ext cx="8041444" cy="1400120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748700" y="8815302"/>
            <a:ext cx="7510600" cy="8020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SLD resolution is complete; Prolog’s search rule is not.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:- table path/2.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fixes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Arithmetic: is/2 Is Not =/2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392000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33161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=/2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unifies two terms. It evaluates nothing.</a:t>
            </a:r>
          </a:p>
          <a:p>
            <a:pPr marL="604513" indent="-302256" algn="l">
              <a:lnSpc>
                <a:spcPts val="3919"/>
              </a:lnSpc>
              <a:spcBef>
                <a:spcPts val="1200"/>
              </a:spcBef>
              <a:buFont typeface="Arial"/>
              <a:buChar char="•"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is/2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evaluates the expression on its right, then unifies.</a:t>
            </a:r>
          </a:p>
          <a:p>
            <a:pPr marL="0" indent="0" algn="l">
              <a:lnSpc>
                <a:spcPts val="3639"/>
              </a:lnSpc>
              <a:spcBef>
                <a:spcPts val="1800"/>
              </a:spcBef>
              <a:buNone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is/2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needs its right-hand variables bound already, so Prolog arithmetic runs one way only.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6240000"/>
            <a:ext cx="8220722" cy="371000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6505422"/>
            <a:ext cx="7689878" cy="517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Comparison operators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28700" y="7125422"/>
            <a:ext cx="3300000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=:=</a:t>
            </a: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4428700" y="7125422"/>
            <a:ext cx="4289878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arithmetic equality</a:t>
            </a: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28700" y="7685422"/>
            <a:ext cx="3300000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=\=</a:t>
            </a: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4428700" y="7685422"/>
            <a:ext cx="4289878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arithmetic inequality</a:t>
            </a: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1028700" y="8245422"/>
            <a:ext cx="3300000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&lt;  &gt;  =&lt;  &gt;=</a:t>
            </a: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4428700" y="8245422"/>
            <a:ext cx="4289878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note =&lt; and &gt;=, never &lt;=</a:t>
            </a: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1028700" y="8805422"/>
            <a:ext cx="3300000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==</a:t>
            </a: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4428700" y="8805422"/>
            <a:ext cx="4289878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term identity</a:t>
            </a: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1028700" y="9365422"/>
            <a:ext cx="3300000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\=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4428700" y="9365422"/>
            <a:ext cx="4289878" cy="3830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859"/>
              </a:lnSpc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not unifiable</a:t>
            </a:r>
          </a:p>
        </p:txBody>
      </p:sp>
      <p:sp>
        <p:nvSpPr>
          <p:cNvPr id="17" name="Card 17"/>
          <p:cNvSpPr>
            <a:spLocks noGrp="1"/>
          </p:cNvSpPr>
          <p:nvPr/>
        </p:nvSpPr>
        <p:spPr>
          <a:xfrm>
            <a:off x="9304000" y="2020000"/>
            <a:ext cx="8220722" cy="7930000"/>
          </a:xfrm>
          <a:prstGeom prst="roundRect">
            <a:avLst>
              <a:gd name="adj" fmla="val 142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9578320" y="2294320"/>
            <a:ext cx="7672082" cy="5963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= 3 + 4.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3+4.              % a term, not a number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is 3 + 4.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7.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?- 3 + 4 = 7.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                % structures differ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?- 3 + 4 =:= 7.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                 % values are compared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is Y + 1.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ERROR: Arguments are not sufficiently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instantiated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is 2 ** 10, Y is 17 mod 5.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1024, Y = 2.       % ** gives an integer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Recursion I: Factorial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840000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factorial.pl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80000"/>
            <a:ext cx="8400000" cy="2860040"/>
          </a:xfrm>
          <a:prstGeom prst="roundRect">
            <a:avLst>
              <a:gd name="adj" fmla="val 396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54320"/>
            <a:ext cx="7851360" cy="2331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factorial(0, 1).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factorial(A, B)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A &gt; 0,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C is A - 1,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factorial(C, D),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B is A * D.</a:t>
            </a:r>
          </a:p>
        </p:txBody>
      </p:sp>
      <p:sp>
        <p:nvSpPr>
          <p:cNvPr id="6" name="Card 6"/>
          <p:cNvSpPr>
            <a:spLocks noGrp="1"/>
          </p:cNvSpPr>
          <p:nvPr/>
        </p:nvSpPr>
        <p:spPr>
          <a:xfrm>
            <a:off x="763278" y="5800040"/>
            <a:ext cx="8400000" cy="2529840"/>
          </a:xfrm>
          <a:prstGeom prst="roundRect">
            <a:avLst>
              <a:gd name="adj" fmla="val 4481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37598" y="6074360"/>
            <a:ext cx="7851360" cy="2001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factorial(5,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120 ;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                 % choicepoint, then no more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factorial(20,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2432902008176640000.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763278" y="8589880"/>
            <a:ext cx="8400000" cy="1360120"/>
          </a:xfrm>
          <a:prstGeom prst="roundRect">
            <a:avLst>
              <a:gd name="adj" fmla="val 833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28700" y="8855302"/>
            <a:ext cx="7869156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Integers are unbounded: 20! needs no special type.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9483278" y="2020000"/>
            <a:ext cx="8041444" cy="4800000"/>
          </a:xfrm>
          <a:prstGeom prst="roundRect">
            <a:avLst>
              <a:gd name="adj" fmla="val 236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9748700" y="2285422"/>
            <a:ext cx="7510600" cy="40118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Two clauses, not an if-then-else.</a:t>
            </a:r>
          </a:p>
          <a:p>
            <a:pPr marL="604513" indent="-302256" algn="l">
              <a:lnSpc>
                <a:spcPts val="3359"/>
              </a:lnSpc>
              <a:spcBef>
                <a:spcPts val="16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base case is a fact: 0! = 1.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 &gt; 0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keeps the two clauses from overlapping logically — a choicepoint still survives, as the transcript shows.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 is A - 1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must precede the recursive call: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is/2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needs a bound right side.</a:t>
            </a:r>
          </a:p>
          <a:p>
            <a:pPr marL="604513" indent="-302256" algn="l">
              <a:lnSpc>
                <a:spcPts val="3359"/>
              </a:lnSpc>
              <a:spcBef>
                <a:spcPts val="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B is A * D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runs on the way back up.</a:t>
            </a:r>
          </a:p>
        </p:txBody>
      </p:sp>
      <p:sp>
        <p:nvSpPr>
          <p:cNvPr id="12" name="Card 12"/>
          <p:cNvSpPr>
            <a:spLocks noGrp="1"/>
          </p:cNvSpPr>
          <p:nvPr/>
        </p:nvSpPr>
        <p:spPr>
          <a:xfrm>
            <a:off x="9483278" y="7120000"/>
            <a:ext cx="8041444" cy="2500000"/>
          </a:xfrm>
          <a:prstGeom prst="roundRect">
            <a:avLst>
              <a:gd name="adj" fmla="val 453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748700" y="7385422"/>
            <a:ext cx="7510600" cy="16401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Try it</a:t>
            </a:r>
          </a:p>
          <a:p>
            <a:pPr marL="0" indent="0" algn="l">
              <a:lnSpc>
                <a:spcPts val="3219"/>
              </a:lnSpc>
              <a:spcBef>
                <a:spcPts val="14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What does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?- factorial(X, 120).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do, and why?</a:t>
            </a:r>
          </a:p>
          <a:p>
            <a:pPr marL="0" indent="0" algn="l">
              <a:lnSpc>
                <a:spcPts val="3219"/>
              </a:lnSpc>
              <a:spcBef>
                <a:spcPts val="10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Rewrite it with an accumulator, tail recursively.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Recursion II: Fibonacci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8400000" cy="4391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fibonacci.pl — the naive version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60000"/>
            <a:ext cx="8400000" cy="3520440"/>
          </a:xfrm>
          <a:prstGeom prst="roundRect">
            <a:avLst>
              <a:gd name="adj" fmla="val 3220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34320"/>
            <a:ext cx="7851360" cy="2991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fibo(N, Y) :- N &gt; -1, N &lt; 2,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Y is 1.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fibo(N, Y) :- N &gt; 1,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C is N - 1,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D is N - 2,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fibo(C, A),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fibo(D, B),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Y is A + B.</a:t>
            </a:r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763278" y="6500440"/>
            <a:ext cx="8400000" cy="4391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with an accumulator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763278" y="7120440"/>
            <a:ext cx="8400000" cy="2529840"/>
          </a:xfrm>
          <a:prstGeom prst="roundRect">
            <a:avLst>
              <a:gd name="adj" fmla="val 4481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037598" y="7394760"/>
            <a:ext cx="7851360" cy="2001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fib(N, F) :- fib_(N, 1, 1, F).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fib_(0, A, _, A).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fib_(N, A, B, F)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 &gt; 0, N1 is N - 1, C is A + B,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fib_(N1, B, C, F).</a:t>
            </a:r>
          </a:p>
        </p:txBody>
      </p:sp>
      <p:sp>
        <p:nvSpPr>
          <p:cNvPr id="9" name="Card 9"/>
          <p:cNvSpPr>
            <a:spLocks noGrp="1"/>
          </p:cNvSpPr>
          <p:nvPr/>
        </p:nvSpPr>
        <p:spPr>
          <a:xfrm>
            <a:off x="9483278" y="2020000"/>
            <a:ext cx="8041444" cy="4570000"/>
          </a:xfrm>
          <a:prstGeom prst="roundRect">
            <a:avLst>
              <a:gd name="adj" fmla="val 2480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9748700" y="2285422"/>
            <a:ext cx="7510600" cy="37375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direct translation of the mathematical definition — and that is the problem. Each call spawns two more, so the proof tree is exponential and subgoals are re-proved endlessly.</a:t>
            </a:r>
          </a:p>
          <a:p>
            <a:pPr marL="0" indent="0" algn="l">
              <a:lnSpc>
                <a:spcPts val="3359"/>
              </a:lnSpc>
              <a:spcBef>
                <a:spcPts val="12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accumulator carries the two previous values downwards: linear time, no stack to unwind. Seed it 1, 1 to match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fibo/2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  <a:p>
            <a:pPr marL="0" indent="0" algn="l">
              <a:lnSpc>
                <a:spcPts val="3359"/>
              </a:lnSpc>
              <a:spcBef>
                <a:spcPts val="12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Or memoise, with </a:t>
            </a:r>
            <a:r>
              <a:rPr lang="en-US" sz="23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:- table fibo/2.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</p:txBody>
      </p:sp>
      <p:sp>
        <p:nvSpPr>
          <p:cNvPr id="11" name="Card 11"/>
          <p:cNvSpPr>
            <a:spLocks noGrp="1"/>
          </p:cNvSpPr>
          <p:nvPr/>
        </p:nvSpPr>
        <p:spPr>
          <a:xfrm>
            <a:off x="9483278" y="6890000"/>
            <a:ext cx="8041444" cy="3060000"/>
          </a:xfrm>
          <a:prstGeom prst="roundRect">
            <a:avLst>
              <a:gd name="adj" fmla="val 3704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9757598" y="7164320"/>
            <a:ext cx="7492804" cy="25305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fibo(10, X).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89 ;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fib(30, X).       % the same series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1346269 ;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time(fibo(25, _)).</a:t>
            </a:r>
          </a:p>
          <a:p>
            <a:pPr marL="0" indent="0" algn="l">
              <a:lnSpc>
                <a:spcPts val="2471"/>
              </a:lnSpc>
              <a:buNone/>
            </a:pPr>
            <a:r>
              <a:rPr lang="en-US" sz="1901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1,092,530 inferences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Lists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100000" cy="37000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569156" cy="211778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list is either </a:t>
            </a:r>
            <a:r>
              <a:rPr lang="en-US" sz="27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[]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or </a:t>
            </a:r>
            <a:r>
              <a:rPr lang="en-US" sz="27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[Head|Tail]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 Everything else is sugar.</a:t>
            </a:r>
          </a:p>
          <a:p>
            <a:pPr marL="604513" indent="-302256" algn="l">
              <a:lnSpc>
                <a:spcPts val="2940"/>
              </a:lnSpc>
              <a:spcBef>
                <a:spcPts val="1800"/>
              </a:spcBef>
              <a:buFont typeface="Arial"/>
              <a:buChar char="•"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[1,2,3]   is   [1|[2|[3|[]]]]</a:t>
            </a:r>
          </a:p>
          <a:p>
            <a:pPr marL="604513" indent="-302256" algn="l">
              <a:lnSpc>
                <a:spcPts val="2940"/>
              </a:lnSpc>
              <a:spcBef>
                <a:spcPts val="1000"/>
              </a:spcBef>
              <a:buFont typeface="Arial"/>
              <a:buChar char="•"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[H|T] = [1,2,3]   binds   H = 1, T = [2,3]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6020000"/>
            <a:ext cx="8100000" cy="3930000"/>
          </a:xfrm>
          <a:prstGeom prst="roundRect">
            <a:avLst>
              <a:gd name="adj" fmla="val 288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6285422"/>
            <a:ext cx="7569156" cy="31077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Relations run backwards too</a:t>
            </a:r>
          </a:p>
          <a:p>
            <a:pPr marL="0" indent="0" algn="l">
              <a:lnSpc>
                <a:spcPts val="2835"/>
              </a:lnSpc>
              <a:spcBef>
                <a:spcPts val="1400"/>
              </a:spcBef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append(X, Y, [1,2,3]).</a:t>
            </a:r>
          </a:p>
          <a:p>
            <a:pPr marL="0" indent="0" algn="l">
              <a:lnSpc>
                <a:spcPts val="2835"/>
              </a:lnSpc>
              <a:buNone/>
            </a:pPr>
            <a:r>
              <a:rPr lang="en-US" sz="2100" dirty="0">
                <a:solidFill>
                  <a:srgbClr val="1F7A5A"/>
                </a:solidFill>
                <a:latin typeface="Courier New"/>
                <a:ea typeface="Courier New"/>
                <a:cs typeface="Courier New"/>
              </a:rPr>
              <a:t>X = [],      Y = [1,2,3] ;</a:t>
            </a:r>
          </a:p>
          <a:p>
            <a:pPr marL="0" indent="0" algn="l">
              <a:lnSpc>
                <a:spcPts val="2835"/>
              </a:lnSpc>
              <a:buNone/>
            </a:pPr>
            <a:r>
              <a:rPr lang="en-US" sz="2100" dirty="0">
                <a:solidFill>
                  <a:srgbClr val="1F7A5A"/>
                </a:solidFill>
                <a:latin typeface="Courier New"/>
                <a:ea typeface="Courier New"/>
                <a:cs typeface="Courier New"/>
              </a:rPr>
              <a:t>X = [1],     Y = [2,3] ;</a:t>
            </a:r>
          </a:p>
          <a:p>
            <a:pPr marL="0" indent="0" algn="l">
              <a:lnSpc>
                <a:spcPts val="2835"/>
              </a:lnSpc>
              <a:buNone/>
            </a:pPr>
            <a:r>
              <a:rPr lang="en-US" sz="2100" dirty="0">
                <a:solidFill>
                  <a:srgbClr val="1F7A5A"/>
                </a:solidFill>
                <a:latin typeface="Courier New"/>
                <a:ea typeface="Courier New"/>
                <a:cs typeface="Courier New"/>
              </a:rPr>
              <a:t>X = [1,2],   Y = [3] ;</a:t>
            </a:r>
          </a:p>
          <a:p>
            <a:pPr marL="0" indent="0" algn="l">
              <a:lnSpc>
                <a:spcPts val="2835"/>
              </a:lnSpc>
              <a:buNone/>
            </a:pPr>
            <a:r>
              <a:rPr lang="en-US" sz="2100" dirty="0">
                <a:solidFill>
                  <a:srgbClr val="1F7A5A"/>
                </a:solidFill>
                <a:latin typeface="Courier New"/>
                <a:ea typeface="Courier New"/>
                <a:cs typeface="Courier New"/>
              </a:rPr>
              <a:t>X = [1,2,3], Y = [].</a:t>
            </a:r>
          </a:p>
          <a:p>
            <a:pPr marL="0" indent="0" algn="l">
              <a:lnSpc>
                <a:spcPts val="3219"/>
              </a:lnSpc>
              <a:spcBef>
                <a:spcPts val="16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clauses that append two lists also split one.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9183278" y="1990000"/>
            <a:ext cx="8341444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Writing them from scratch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9183278" y="2680000"/>
            <a:ext cx="8341444" cy="7270000"/>
          </a:xfrm>
          <a:prstGeom prst="roundRect">
            <a:avLst>
              <a:gd name="adj" fmla="val 155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457598" y="2954320"/>
            <a:ext cx="7792804" cy="5963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membership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mymember(X, [X|_]).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mymember(X, [_|T]) :- mymember(X, T).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concatenation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myappend([], L, L).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myappend([H|T], L, [H|R])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myappend(T, L, R).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length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mylen([], 0).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mylen([_|T], N)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mylen(T, N0),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 is N0 + 1.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SWI-Prolog already provides member/2,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append/3, length/2, nth0/3, reverse/2,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msort/2, sum_list/2, last/2, exclude/3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Example: isEven / isOdd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840000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isEven.pl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80000"/>
            <a:ext cx="8400000" cy="2199640"/>
          </a:xfrm>
          <a:prstGeom prst="roundRect">
            <a:avLst>
              <a:gd name="adj" fmla="val 515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54320"/>
            <a:ext cx="7851360" cy="1671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isEven([], 'true').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isEven([X|XS], Y) :- isOdd(XS, Y).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isOdd([], 'false').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isOdd([Y|YS], Z) :- isEven(YS, Z).</a:t>
            </a:r>
          </a:p>
        </p:txBody>
      </p:sp>
      <p:sp>
        <p:nvSpPr>
          <p:cNvPr id="6" name="Card 6"/>
          <p:cNvSpPr>
            <a:spLocks noGrp="1"/>
          </p:cNvSpPr>
          <p:nvPr/>
        </p:nvSpPr>
        <p:spPr>
          <a:xfrm>
            <a:off x="763278" y="5139640"/>
            <a:ext cx="8400000" cy="2199640"/>
          </a:xfrm>
          <a:prstGeom prst="roundRect">
            <a:avLst>
              <a:gd name="adj" fmla="val 515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37598" y="5413960"/>
            <a:ext cx="7851360" cy="1671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isEven([a,b,c,d],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true.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isEven([a,b,c],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false.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763278" y="7599280"/>
            <a:ext cx="8400000" cy="1869440"/>
          </a:xfrm>
          <a:prstGeom prst="roundRect">
            <a:avLst>
              <a:gd name="adj" fmla="val 6063"/>
            </a:avLst>
          </a:prstGeom>
          <a:solidFill>
            <a:srgbClr val="FFF8E8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37598" y="7873600"/>
            <a:ext cx="7851360" cy="1340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Warning: isEven.pl:2: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Warning:   Singleton variables: [X]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Warning: isEven.pl:5: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Warning:   Singleton variables: [Y]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9483278" y="2020000"/>
            <a:ext cx="8041444" cy="37950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9748700" y="2285422"/>
            <a:ext cx="7510600" cy="19041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Two mutually recursive predicates decide the parity of a list’s length; the elements are never inspected.</a:t>
            </a:r>
          </a:p>
          <a:p>
            <a:pPr marL="0" indent="0" algn="l">
              <a:lnSpc>
                <a:spcPts val="3359"/>
              </a:lnSpc>
              <a:spcBef>
                <a:spcPts val="14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warnings are real feedback: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X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and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Y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occur once each, so rename them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_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</p:txBody>
      </p:sp>
      <p:sp>
        <p:nvSpPr>
          <p:cNvPr id="12" name="Card 12"/>
          <p:cNvSpPr>
            <a:spLocks noGrp="1"/>
          </p:cNvSpPr>
          <p:nvPr/>
        </p:nvSpPr>
        <p:spPr>
          <a:xfrm>
            <a:off x="9748700" y="4429594"/>
            <a:ext cx="7510600" cy="1060400"/>
          </a:xfrm>
          <a:prstGeom prst="roundRect">
            <a:avLst>
              <a:gd name="adj" fmla="val 1068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948700" y="4629594"/>
            <a:ext cx="7110600" cy="680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isEven([_|XS], Y) :- isOdd(XS, Y).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isOdd([_|YS], Z)  :- isEven(YS, Z).</a:t>
            </a:r>
          </a:p>
        </p:txBody>
      </p:sp>
      <p:sp>
        <p:nvSpPr>
          <p:cNvPr id="14" name="Card 14"/>
          <p:cNvSpPr>
            <a:spLocks noGrp="1"/>
          </p:cNvSpPr>
          <p:nvPr/>
        </p:nvSpPr>
        <p:spPr>
          <a:xfrm>
            <a:off x="9483278" y="6115000"/>
            <a:ext cx="8041444" cy="3835000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9748700" y="6380422"/>
            <a:ext cx="7510600" cy="14521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More idiomatic</a:t>
            </a:r>
          </a:p>
          <a:p>
            <a:pPr marL="0" indent="0" algn="l">
              <a:lnSpc>
                <a:spcPts val="3219"/>
              </a:lnSpc>
              <a:spcBef>
                <a:spcPts val="12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Returning the atoms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true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/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false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is Java thinking. Here, </a:t>
            </a:r>
            <a:r>
              <a:rPr lang="en-US" sz="2299" b="1" i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succeeding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is the answer:</a:t>
            </a:r>
          </a:p>
        </p:txBody>
      </p:sp>
      <p:sp>
        <p:nvSpPr>
          <p:cNvPr id="16" name="Card 16"/>
          <p:cNvSpPr>
            <a:spLocks noGrp="1"/>
          </p:cNvSpPr>
          <p:nvPr/>
        </p:nvSpPr>
        <p:spPr>
          <a:xfrm>
            <a:off x="9748700" y="8072601"/>
            <a:ext cx="7510600" cy="1390600"/>
          </a:xfrm>
          <a:prstGeom prst="roundRect">
            <a:avLst>
              <a:gd name="adj" fmla="val 8151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9948700" y="8272601"/>
            <a:ext cx="7110600" cy="1010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even_length([]).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even_length([_|T]) :- odd_length(T).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odd_length([_|T])  :- even_length(T).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9723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7499"/>
              </a:lnSpc>
              <a:buNone/>
            </a:pPr>
            <a:r>
              <a:rPr lang="en-US" sz="74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Example: isPerm — and a Bug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840000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isPerm.pl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80000"/>
            <a:ext cx="8400000" cy="3190240"/>
          </a:xfrm>
          <a:prstGeom prst="roundRect">
            <a:avLst>
              <a:gd name="adj" fmla="val 355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54320"/>
            <a:ext cx="7851360" cy="2661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isPerm(X, Y) :- isInc(X, Y), isInc(Y,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isInc([], _).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isInc([X|XS], Y) :- isMember(X, Y),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     isInc(XS, Y).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isMember(X, [X|_]).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isMember(X, [_|XS]) :- isMember(X, XS).</a:t>
            </a:r>
          </a:p>
        </p:txBody>
      </p:sp>
      <p:sp>
        <p:nvSpPr>
          <p:cNvPr id="6" name="Card 6"/>
          <p:cNvSpPr>
            <a:spLocks noGrp="1"/>
          </p:cNvSpPr>
          <p:nvPr/>
        </p:nvSpPr>
        <p:spPr>
          <a:xfrm>
            <a:off x="763278" y="6130240"/>
            <a:ext cx="8400000" cy="2199640"/>
          </a:xfrm>
          <a:prstGeom prst="roundRect">
            <a:avLst>
              <a:gd name="adj" fmla="val 5153"/>
            </a:avLst>
          </a:prstGeom>
          <a:solidFill>
            <a:srgbClr val="FDF1F1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37598" y="6404560"/>
            <a:ext cx="7851360" cy="1671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isPerm([1,2,3], [3,1,2]).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isPerm([1,1,2], [1,2,2]).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        % &lt;-- but this is wrong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763278" y="8589880"/>
            <a:ext cx="8400000" cy="1360120"/>
          </a:xfrm>
          <a:prstGeom prst="roundRect">
            <a:avLst>
              <a:gd name="adj" fmla="val 8334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37598" y="8864200"/>
            <a:ext cx="7851360" cy="680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permutation([1,1,2], [1,2,2]).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       % the built-in gets it right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9483278" y="2020000"/>
            <a:ext cx="8041444" cy="4900000"/>
          </a:xfrm>
          <a:prstGeom prst="roundRect">
            <a:avLst>
              <a:gd name="adj" fmla="val 2313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9748700" y="2285422"/>
            <a:ext cx="7510600" cy="362591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isPerm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checks that every element of each list occurs in the other. That is </a:t>
            </a:r>
            <a:r>
              <a:rPr lang="en-US" sz="2799" b="1" i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set</a:t>
            </a: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equality, not permutation.</a:t>
            </a:r>
          </a:p>
          <a:p>
            <a:pPr marL="0" indent="0" algn="l">
              <a:lnSpc>
                <a:spcPts val="3359"/>
              </a:lnSpc>
              <a:spcBef>
                <a:spcPts val="18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With duplicates the two come apart: [1,1,2] and [1,2,2] hold the same elements but are not rearrangements of one another.</a:t>
            </a:r>
          </a:p>
          <a:p>
            <a:pPr marL="0" indent="0" algn="l">
              <a:lnSpc>
                <a:spcPts val="3359"/>
              </a:lnSpc>
              <a:spcBef>
                <a:spcPts val="14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Nothing forces the lists to have the same length, either.</a:t>
            </a:r>
          </a:p>
        </p:txBody>
      </p:sp>
      <p:sp>
        <p:nvSpPr>
          <p:cNvPr id="12" name="Card 12"/>
          <p:cNvSpPr>
            <a:spLocks noGrp="1"/>
          </p:cNvSpPr>
          <p:nvPr/>
        </p:nvSpPr>
        <p:spPr>
          <a:xfrm>
            <a:off x="9483278" y="7220000"/>
            <a:ext cx="8041444" cy="2730000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748700" y="7485422"/>
            <a:ext cx="7510600" cy="517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Two ways to fix it</a:t>
            </a:r>
          </a:p>
        </p:txBody>
      </p:sp>
      <p:sp>
        <p:nvSpPr>
          <p:cNvPr id="14" name="Card 14"/>
          <p:cNvSpPr>
            <a:spLocks noGrp="1"/>
          </p:cNvSpPr>
          <p:nvPr/>
        </p:nvSpPr>
        <p:spPr>
          <a:xfrm>
            <a:off x="9748700" y="8243135"/>
            <a:ext cx="7510600" cy="730200"/>
          </a:xfrm>
          <a:prstGeom prst="roundRect">
            <a:avLst>
              <a:gd name="adj" fmla="val 1552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9948700" y="8443135"/>
            <a:ext cx="711060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is_perm(X, Y) :- msort(X, S), msort(Y, S).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9748700" y="9213335"/>
            <a:ext cx="7510600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or generate and test with </a:t>
            </a:r>
            <a:r>
              <a:rPr lang="en-US" sz="22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permutation/2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9469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7299"/>
              </a:lnSpc>
              <a:buNone/>
            </a:pPr>
            <a:r>
              <a:rPr lang="en-US" sz="72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Example: A Binary Search Tree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940000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binaryTree.pl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80000"/>
            <a:ext cx="9400000" cy="4180840"/>
          </a:xfrm>
          <a:prstGeom prst="roundRect">
            <a:avLst>
              <a:gd name="adj" fmla="val 2711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54320"/>
            <a:ext cx="8851360" cy="3652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a tree is  empty  or  node(Key, Left, Right)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member2(K, node(K, _, _)).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member2(K, node(N, S, _)) :- K &lt; N, member2(K, S).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member2(K, node(N, _, T)) :- K &gt; N, member2(K, T).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insert(N, empty, node(N, empty, empty)).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insert(N, node(K, L, R), node(K, M, R))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 &lt; K, insert(N, L, M).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insert(N, node(K, L, R), node(K, L, M))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 &gt; K, insert(N, R, M).</a:t>
            </a:r>
          </a:p>
        </p:txBody>
      </p:sp>
      <p:sp>
        <p:nvSpPr>
          <p:cNvPr id="6" name="Card 6"/>
          <p:cNvSpPr>
            <a:spLocks noGrp="1"/>
          </p:cNvSpPr>
          <p:nvPr/>
        </p:nvSpPr>
        <p:spPr>
          <a:xfrm>
            <a:off x="763278" y="7120840"/>
            <a:ext cx="9400000" cy="2829160"/>
          </a:xfrm>
          <a:prstGeom prst="roundRect">
            <a:avLst>
              <a:gd name="adj" fmla="val 4006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37598" y="7395160"/>
            <a:ext cx="8851360" cy="23002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insert(5, empty, T1), insert(3, T1, T2),</a:t>
            </a:r>
          </a:p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insert(8, T2, T3).           % T1, T2 elided</a:t>
            </a:r>
          </a:p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T3 = node(5, node(3, empty, empty),</a:t>
            </a:r>
          </a:p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node(8, empty, empty)).</a:t>
            </a:r>
          </a:p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member2(3, T3).</a:t>
            </a:r>
          </a:p>
          <a:p>
            <a:pPr marL="0" indent="0" algn="l">
              <a:lnSpc>
                <a:spcPts val="2565"/>
              </a:lnSpc>
              <a:buNone/>
            </a:pPr>
            <a:r>
              <a:rPr lang="en-US" sz="1973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10483278" y="2020000"/>
            <a:ext cx="7041444" cy="4900000"/>
          </a:xfrm>
          <a:prstGeom prst="roundRect">
            <a:avLst>
              <a:gd name="adj" fmla="val 2313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748700" y="2285422"/>
            <a:ext cx="6510600" cy="345827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Data structures are just terms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No class, no constructor, no allocation. A tree is the term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node(K, L, R)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and pattern matching takes it apart.</a:t>
            </a:r>
          </a:p>
          <a:p>
            <a:pPr marL="0" indent="0" algn="l">
              <a:lnSpc>
                <a:spcPts val="3359"/>
              </a:lnSpc>
              <a:spcBef>
                <a:spcPts val="14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Terms are immutable, so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insert/3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does not modify a tree: it relates an old tree to a new one that shares most of its structure.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10483278" y="7220000"/>
            <a:ext cx="7041444" cy="2730000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10748700" y="7485422"/>
            <a:ext cx="6510600" cy="189655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On the original file</a:t>
            </a:r>
          </a:p>
          <a:p>
            <a:pPr marL="0" indent="0" algn="l">
              <a:lnSpc>
                <a:spcPts val="3219"/>
              </a:lnSpc>
              <a:spcBef>
                <a:spcPts val="12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version in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01_Code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adds clauses for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empty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children. They are subsumed above: unification treats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empty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like any term.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8961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6899"/>
              </a:lnSpc>
              <a:buNone/>
            </a:pPr>
            <a:r>
              <a:rPr lang="en-US" sz="68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Negation as Failure, and the Cut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430000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343287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\+ Goal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succeeds when Prolog </a:t>
            </a:r>
            <a:r>
              <a:rPr lang="en-US" sz="2599" b="1" i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fails to prove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Goal.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This is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negation as failure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which coincides with logical negation only under the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closed-world assumption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whatever is not derivable is taken to be false.</a:t>
            </a:r>
          </a:p>
          <a:p>
            <a:pPr marL="0" indent="0" algn="l">
              <a:lnSpc>
                <a:spcPts val="3359"/>
              </a:lnSpc>
              <a:spcBef>
                <a:spcPts val="12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Only negate goals whose variables are already bound.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6620000"/>
            <a:ext cx="8220722" cy="3330000"/>
          </a:xfrm>
          <a:prstGeom prst="roundRect">
            <a:avLst>
              <a:gd name="adj" fmla="val 3404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37598" y="6894320"/>
            <a:ext cx="7672082" cy="2661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\+ parent(sofia, _).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true.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\+ parent(X, ana).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false.      % some X does satisfy it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X = sofia, \+ parent(X, _).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sofia.  % bind first, then negate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9304000" y="2020000"/>
            <a:ext cx="8220722" cy="40000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9569422" y="2285422"/>
            <a:ext cx="7689878" cy="30062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!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— the cut — commits to the choices made so far in this clause.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Prolog will not retry the goals to its left, nor try any later clause of this predicate.</a:t>
            </a:r>
          </a:p>
          <a:p>
            <a:pPr marL="0" indent="0" algn="l">
              <a:lnSpc>
                <a:spcPts val="3359"/>
              </a:lnSpc>
              <a:spcBef>
                <a:spcPts val="12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buys speed but destroys the declarative reading. Prefer </a:t>
            </a:r>
            <a:r>
              <a:rPr lang="en-US" sz="23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( Cond -&gt; Then ; Else )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</p:txBody>
      </p:sp>
      <p:sp>
        <p:nvSpPr>
          <p:cNvPr id="9" name="Card 9"/>
          <p:cNvSpPr>
            <a:spLocks noGrp="1"/>
          </p:cNvSpPr>
          <p:nvPr/>
        </p:nvSpPr>
        <p:spPr>
          <a:xfrm>
            <a:off x="9304000" y="6320000"/>
            <a:ext cx="8220722" cy="3630000"/>
          </a:xfrm>
          <a:prstGeom prst="roundRect">
            <a:avLst>
              <a:gd name="adj" fmla="val 312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9578320" y="6594320"/>
            <a:ext cx="7672082" cy="31010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max(X, Y, X) :- X &gt;= Y, !.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max(_, Y, Y).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max(5, 3, 3).   true.   % WRONG: the output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            % sits in the head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max(X, Y, M) :- X &gt;= Y, !, M = X.   % right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max(_, Y, Y).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max2(X, Y, M) :-           % no cut at all</a:t>
            </a:r>
          </a:p>
          <a:p>
            <a:pPr marL="0" indent="0" algn="l">
              <a:lnSpc>
                <a:spcPts val="2426"/>
              </a:lnSpc>
              <a:buNone/>
            </a:pPr>
            <a:r>
              <a:rPr lang="en-US" sz="1866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( X &gt;= Y -&gt; M = X ; M = Y 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0612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199"/>
              </a:lnSpc>
              <a:buNone/>
            </a:pPr>
            <a:r>
              <a:rPr lang="en-US" sz="81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Built-ins Worth Memorising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5373814" cy="793000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300000"/>
            <a:ext cx="484297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Collecting answers</a:t>
            </a:r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28700" y="34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findall(T, G, L)</a:t>
            </a:r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38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every solution of G, duplicates kept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28700" y="50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bagof / setof</a:t>
            </a: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028700" y="54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grouped; setof sorts and dedups</a:t>
            </a: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28700" y="66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aggregate_all(count, G, N)</a:t>
            </a: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028700" y="70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count without building a list</a:t>
            </a: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1028700" y="82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forall(C, A)</a:t>
            </a: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1028700" y="86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A holds for every solution of C</a:t>
            </a:r>
          </a:p>
        </p:txBody>
      </p:sp>
      <p:sp>
        <p:nvSpPr>
          <p:cNvPr id="13" name="Card 13"/>
          <p:cNvSpPr>
            <a:spLocks noGrp="1"/>
          </p:cNvSpPr>
          <p:nvPr/>
        </p:nvSpPr>
        <p:spPr>
          <a:xfrm>
            <a:off x="6457092" y="2020000"/>
            <a:ext cx="5373814" cy="793000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6722514" y="2300000"/>
            <a:ext cx="484297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Generating and choosing</a:t>
            </a: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6722514" y="34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between(L, H, X)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6722514" y="38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X ranges over L..H on backtracking</a:t>
            </a: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6722514" y="50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select(X, L, Rest)</a:t>
            </a: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6722514" y="54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pick X out of L, leaving Rest</a:t>
            </a: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6722514" y="66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permutation(L, P)</a:t>
            </a: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6722514" y="70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every rearrangement of L</a:t>
            </a: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6722514" y="82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length(L, N)</a:t>
            </a: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6722514" y="86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also builds N fresh variables</a:t>
            </a:r>
          </a:p>
        </p:txBody>
      </p:sp>
      <p:sp>
        <p:nvSpPr>
          <p:cNvPr id="23" name="Card 23"/>
          <p:cNvSpPr>
            <a:spLocks noGrp="1"/>
          </p:cNvSpPr>
          <p:nvPr/>
        </p:nvSpPr>
        <p:spPr>
          <a:xfrm>
            <a:off x="12150906" y="2020000"/>
            <a:ext cx="5373814" cy="793000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12416328" y="2300000"/>
            <a:ext cx="484297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Measuring and inspecting</a:t>
            </a: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12416328" y="34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msort/2, sort/2</a:t>
            </a: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12416328" y="38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sort; sort/2 removes duplicates</a:t>
            </a: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12416328" y="50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format("~w~n", [X])</a:t>
            </a: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12416328" y="54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printing you can control</a:t>
            </a: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12416328" y="66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time(Goal)</a:t>
            </a: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12416328" y="70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runtime and inference count</a:t>
            </a:r>
          </a:p>
        </p:txBody>
      </p:sp>
      <p:sp>
        <p:nvSpPr>
          <p:cNvPr id="31" name="TextBox 31"/>
          <p:cNvSpPr>
            <a:spLocks noGrp="1"/>
          </p:cNvSpPr>
          <p:nvPr/>
        </p:nvSpPr>
        <p:spPr>
          <a:xfrm>
            <a:off x="12416328" y="8220000"/>
            <a:ext cx="4842970" cy="350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listing/1, make/0</a:t>
            </a:r>
          </a:p>
        </p:txBody>
      </p:sp>
      <p:sp>
        <p:nvSpPr>
          <p:cNvPr id="32" name="TextBox 32"/>
          <p:cNvSpPr>
            <a:spLocks noGrp="1"/>
          </p:cNvSpPr>
          <p:nvPr/>
        </p:nvSpPr>
        <p:spPr>
          <a:xfrm>
            <a:off x="12416328" y="8660000"/>
            <a:ext cx="4842970" cy="4110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079"/>
              </a:lnSpc>
              <a:buNone/>
            </a:pPr>
            <a:r>
              <a:rPr lang="en-US" sz="2199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see what loaded; reload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Case Study: N-Queens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8400000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queens.pl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80000"/>
            <a:ext cx="8400000" cy="7270000"/>
          </a:xfrm>
          <a:prstGeom prst="roundRect">
            <a:avLst>
              <a:gd name="adj" fmla="val 1559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54320"/>
            <a:ext cx="7851360" cy="67381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queens(N, Qs)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range(1, N, Ns),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queens(Ns, [], Qs).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queens([], Qs, Qs).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queens(UnplacedQs, SafeQs, Qs)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select(Q, UnplacedQs, NewUnplaced),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\+ threat(Q, SafeQs),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queens(NewUnplaced, [Q|SafeQs], Qs).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threat(X, Xs) :- threat(X, 1, Xs).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threat(X, N, [Y|_Ys])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X is Y + N ;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X is Y - N.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threat(X, N, [_Y|Ys])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N1 is N + 1,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threat(X, N1, Ys).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range(M, N, [M|Ns]) :-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M &lt; N, M1 is M + 1, range(M1, N, Ns).</a:t>
            </a:r>
          </a:p>
          <a:p>
            <a:pPr marL="0" indent="0" algn="l">
              <a:lnSpc>
                <a:spcPts val="2519"/>
              </a:lnSpc>
              <a:buNone/>
            </a:pPr>
            <a:r>
              <a:rPr lang="en-US" sz="193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range(N, N, [N]).</a:t>
            </a:r>
          </a:p>
        </p:txBody>
      </p:sp>
      <p:sp>
        <p:nvSpPr>
          <p:cNvPr id="6" name="Card 6"/>
          <p:cNvSpPr>
            <a:spLocks noGrp="1"/>
          </p:cNvSpPr>
          <p:nvPr/>
        </p:nvSpPr>
        <p:spPr>
          <a:xfrm>
            <a:off x="9483278" y="2020000"/>
            <a:ext cx="8041444" cy="410000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9748700" y="2285422"/>
            <a:ext cx="7510600" cy="350399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Place N queens on an N×N board so that no two attack each other.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representation does half the work: </a:t>
            </a: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Qs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is a permutation of 1..N: the i-th element is the column of the queen in row i.</a:t>
            </a:r>
          </a:p>
          <a:p>
            <a:pPr marL="0" indent="0" algn="l">
              <a:lnSpc>
                <a:spcPts val="3359"/>
              </a:lnSpc>
              <a:spcBef>
                <a:spcPts val="12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One queen per row by construction, distinct values so one per column — only the diagonals are left to check.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9483278" y="6420000"/>
            <a:ext cx="8041444" cy="3530000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748700" y="6685422"/>
            <a:ext cx="7510600" cy="26101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Reading the clauses</a:t>
            </a:r>
          </a:p>
          <a:p>
            <a:pPr marL="604513" indent="-302256" algn="l">
              <a:lnSpc>
                <a:spcPts val="3219"/>
              </a:lnSpc>
              <a:spcBef>
                <a:spcPts val="1200"/>
              </a:spcBef>
              <a:buFont typeface="Arial"/>
              <a:buChar char="•"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range/3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builds [1,2,...,N].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queens/3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carries unplaced and safe rows.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select/3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is the choice point.</a:t>
            </a:r>
          </a:p>
          <a:p>
            <a:pPr marL="604513" indent="-302256" algn="l">
              <a:lnSpc>
                <a:spcPts val="3219"/>
              </a:lnSpc>
              <a:spcBef>
                <a:spcPts val="800"/>
              </a:spcBef>
              <a:buFont typeface="Arial"/>
              <a:buChar char="•"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threat/2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holds on a shared diagonal.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Running It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000000" cy="3850640"/>
          </a:xfrm>
          <a:prstGeom prst="roundRect">
            <a:avLst>
              <a:gd name="adj" fmla="val 2944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37598" y="2294320"/>
            <a:ext cx="7451360" cy="3322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queens(8, Qs).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Qs = [4,2,7,3,6,8,5,1] ;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Qs = [5,2,4,7,3,8,6,1] ;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...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findall(Q, queens(8, Q), L), length(L, N).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N = 92.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aggregate_all(count, queens(6,_), C).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C = 4.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6130640"/>
            <a:ext cx="8000000" cy="381936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28700" y="6396062"/>
            <a:ext cx="7469156" cy="2577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Known solution counts</a:t>
            </a:r>
          </a:p>
          <a:p>
            <a:pPr marL="0" indent="0" algn="l">
              <a:lnSpc>
                <a:spcPts val="3190"/>
              </a:lnSpc>
              <a:spcBef>
                <a:spcPts val="1600"/>
              </a:spcBef>
              <a:buNone/>
            </a:pPr>
            <a:r>
              <a:rPr lang="en-US" sz="22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N       4    5    6    7    8    9   10</a:t>
            </a:r>
          </a:p>
          <a:p>
            <a:pPr marL="0" indent="0" algn="l">
              <a:lnSpc>
                <a:spcPts val="3190"/>
              </a:lnSpc>
              <a:buNone/>
            </a:pPr>
            <a:r>
              <a:rPr lang="en-US" sz="22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sols    2   10    4   40   92  352  724</a:t>
            </a:r>
          </a:p>
          <a:p>
            <a:pPr marL="0" indent="0" algn="l">
              <a:lnSpc>
                <a:spcPts val="3219"/>
              </a:lnSpc>
              <a:spcBef>
                <a:spcPts val="1800"/>
              </a:spcBef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Check your own implementation against these. N = 2 and N = 3 have no solutions.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9083278" y="1990000"/>
            <a:ext cx="8441444" cy="4670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Printing the board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9083278" y="2680000"/>
            <a:ext cx="8441444" cy="3520440"/>
          </a:xfrm>
          <a:prstGeom prst="roundRect">
            <a:avLst>
              <a:gd name="adj" fmla="val 3220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9357598" y="2954320"/>
            <a:ext cx="7892804" cy="2991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print_board(Qs)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length(Qs, N),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forall(member(Q, Qs), print_row(Q, N)).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print_row(Q, N)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forall(between(1, N, C),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( C =:= Q -&gt; write(' Q')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                  ; write(' .') )),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nl.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9083278" y="6460440"/>
            <a:ext cx="8441444" cy="3489560"/>
          </a:xfrm>
          <a:prstGeom prst="roundRect">
            <a:avLst>
              <a:gd name="adj" fmla="val 3248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9357598" y="6734760"/>
            <a:ext cx="7892804" cy="2960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queens(8, Qs), print_board(Qs).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. . Q . . . 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Q . . . . . 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. . . . . Q 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. Q . . . . 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. . . . Q . 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. . . . . . Q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. . . . Q . . .</a:t>
            </a:r>
          </a:p>
          <a:p>
            <a:pPr marL="0" indent="0" algn="l">
              <a:lnSpc>
                <a:spcPts val="2573"/>
              </a:lnSpc>
              <a:buNone/>
            </a:pPr>
            <a:r>
              <a:rPr lang="en-US" sz="197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Q . . . . . . 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7945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6099"/>
              </a:lnSpc>
              <a:buNone/>
            </a:pPr>
            <a:r>
              <a:rPr lang="en-US" sz="60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Generate and Test, or Test as You Go</a:t>
            </a:r>
          </a:p>
        </p:txBody>
      </p:sp>
      <p:sp>
        <p:nvSpPr>
          <p:cNvPr id="3" name="TextBox 3"/>
          <p:cNvSpPr>
            <a:spLocks noGrp="1"/>
          </p:cNvSpPr>
          <p:nvPr/>
        </p:nvSpPr>
        <p:spPr>
          <a:xfrm>
            <a:off x="763278" y="1990000"/>
            <a:ext cx="8600000" cy="4251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Generate a whole board, then test it</a:t>
            </a:r>
          </a:p>
        </p:txBody>
      </p:sp>
      <p:sp>
        <p:nvSpPr>
          <p:cNvPr id="4" name="Card 4"/>
          <p:cNvSpPr>
            <a:spLocks noGrp="1"/>
          </p:cNvSpPr>
          <p:nvPr/>
        </p:nvSpPr>
        <p:spPr>
          <a:xfrm>
            <a:off x="763278" y="2640000"/>
            <a:ext cx="8600000" cy="1869440"/>
          </a:xfrm>
          <a:prstGeom prst="roundRect">
            <a:avLst>
              <a:gd name="adj" fmla="val 6063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>
            <a:spLocks noGrp="1"/>
          </p:cNvSpPr>
          <p:nvPr/>
        </p:nvSpPr>
        <p:spPr>
          <a:xfrm>
            <a:off x="1037598" y="2914320"/>
            <a:ext cx="8051360" cy="1340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queens_perm(N, Qs)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range(1, N, Ns),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permutation(Ns, Qs),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safe(Qs).</a:t>
            </a:r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763278" y="4620000"/>
            <a:ext cx="8600000" cy="4251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Test while you build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763278" y="5240000"/>
            <a:ext cx="8600000" cy="3520440"/>
          </a:xfrm>
          <a:prstGeom prst="roundRect">
            <a:avLst>
              <a:gd name="adj" fmla="val 3220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037598" y="5514320"/>
            <a:ext cx="8051360" cy="2991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queens_bt(N, Qs)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range(1, N, Ns),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place(Ns, [], Qs).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place([], Qs, Qs).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place(Unplaced, Safe, Qs)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select(Q, Unplaced, Rest),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no_attack(Q, Safe, 1),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place(Rest, [Q|Safe], Qs).</a:t>
            </a:r>
          </a:p>
        </p:txBody>
      </p:sp>
      <p:sp>
        <p:nvSpPr>
          <p:cNvPr id="9" name="Card 9"/>
          <p:cNvSpPr>
            <a:spLocks noGrp="1"/>
          </p:cNvSpPr>
          <p:nvPr/>
        </p:nvSpPr>
        <p:spPr>
          <a:xfrm>
            <a:off x="763278" y="8980440"/>
            <a:ext cx="8600000" cy="969560"/>
          </a:xfrm>
          <a:prstGeom prst="roundRect">
            <a:avLst>
              <a:gd name="adj" fmla="val 1169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028700" y="9245862"/>
            <a:ext cx="8069156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Same logic. The second prunes a bad board sooner.</a:t>
            </a:r>
          </a:p>
        </p:txBody>
      </p:sp>
      <p:sp>
        <p:nvSpPr>
          <p:cNvPr id="11" name="Card 11"/>
          <p:cNvSpPr>
            <a:spLocks noGrp="1"/>
          </p:cNvSpPr>
          <p:nvPr/>
        </p:nvSpPr>
        <p:spPr>
          <a:xfrm>
            <a:off x="9683278" y="2020000"/>
            <a:ext cx="7841444" cy="6400000"/>
          </a:xfrm>
          <a:prstGeom prst="roundRect">
            <a:avLst>
              <a:gd name="adj" fmla="val 1771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9948700" y="2300000"/>
            <a:ext cx="7310600" cy="397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Inferences to enumerate every solution</a:t>
            </a: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948700" y="320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10848700" y="320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Courier New"/>
                <a:ea typeface="Courier New"/>
                <a:cs typeface="Courier New"/>
              </a:rPr>
              <a:t>generate &amp; test</a:t>
            </a: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13648700" y="320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Courier New"/>
                <a:ea typeface="Courier New"/>
                <a:cs typeface="Courier New"/>
              </a:rPr>
              <a:t>interleaved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15748700" y="320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Courier New"/>
                <a:ea typeface="Courier New"/>
                <a:cs typeface="Courier New"/>
              </a:rPr>
              <a:t>ratio</a:t>
            </a: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9948700" y="381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10848700" y="381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425</a:t>
            </a: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13648700" y="381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15748700" y="381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2.1x</a:t>
            </a: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9948700" y="435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10848700" y="435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2,370</a:t>
            </a: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13648700" y="435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808</a:t>
            </a:r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15748700" y="435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2.9x</a:t>
            </a: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9948700" y="489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10848700" y="489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15,358</a:t>
            </a: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13648700" y="489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3,090</a:t>
            </a: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15748700" y="489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5.0x</a:t>
            </a: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9948700" y="543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10848700" y="543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119,997</a:t>
            </a:r>
          </a:p>
        </p:txBody>
      </p:sp>
      <p:sp>
        <p:nvSpPr>
          <p:cNvPr id="31" name="TextBox 31"/>
          <p:cNvSpPr>
            <a:spLocks noGrp="1"/>
          </p:cNvSpPr>
          <p:nvPr/>
        </p:nvSpPr>
        <p:spPr>
          <a:xfrm>
            <a:off x="13648700" y="543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13,587</a:t>
            </a:r>
          </a:p>
        </p:txBody>
      </p:sp>
      <p:sp>
        <p:nvSpPr>
          <p:cNvPr id="32" name="TextBox 32"/>
          <p:cNvSpPr>
            <a:spLocks noGrp="1"/>
          </p:cNvSpPr>
          <p:nvPr/>
        </p:nvSpPr>
        <p:spPr>
          <a:xfrm>
            <a:off x="15748700" y="543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8.8x</a:t>
            </a:r>
          </a:p>
        </p:txBody>
      </p:sp>
      <p:sp>
        <p:nvSpPr>
          <p:cNvPr id="33" name="TextBox 33"/>
          <p:cNvSpPr>
            <a:spLocks noGrp="1"/>
          </p:cNvSpPr>
          <p:nvPr/>
        </p:nvSpPr>
        <p:spPr>
          <a:xfrm>
            <a:off x="9948700" y="597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10848700" y="597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1,058,230</a:t>
            </a: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13648700" y="597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61,770</a:t>
            </a:r>
          </a:p>
        </p:txBody>
      </p:sp>
      <p:sp>
        <p:nvSpPr>
          <p:cNvPr id="36" name="TextBox 36"/>
          <p:cNvSpPr>
            <a:spLocks noGrp="1"/>
          </p:cNvSpPr>
          <p:nvPr/>
        </p:nvSpPr>
        <p:spPr>
          <a:xfrm>
            <a:off x="15748700" y="597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17.1x</a:t>
            </a: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9948700" y="651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9</a:t>
            </a:r>
          </a:p>
        </p:txBody>
      </p:sp>
      <p:sp>
        <p:nvSpPr>
          <p:cNvPr id="38" name="TextBox 38"/>
          <p:cNvSpPr>
            <a:spLocks noGrp="1"/>
          </p:cNvSpPr>
          <p:nvPr/>
        </p:nvSpPr>
        <p:spPr>
          <a:xfrm>
            <a:off x="10848700" y="651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10,426,943</a:t>
            </a:r>
          </a:p>
        </p:txBody>
      </p:sp>
      <p:sp>
        <p:nvSpPr>
          <p:cNvPr id="39" name="TextBox 39"/>
          <p:cNvSpPr>
            <a:spLocks noGrp="1"/>
          </p:cNvSpPr>
          <p:nvPr/>
        </p:nvSpPr>
        <p:spPr>
          <a:xfrm>
            <a:off x="13648700" y="651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296,373</a:t>
            </a:r>
          </a:p>
        </p:txBody>
      </p:sp>
      <p:sp>
        <p:nvSpPr>
          <p:cNvPr id="40" name="TextBox 40"/>
          <p:cNvSpPr>
            <a:spLocks noGrp="1"/>
          </p:cNvSpPr>
          <p:nvPr/>
        </p:nvSpPr>
        <p:spPr>
          <a:xfrm>
            <a:off x="15748700" y="651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35.2x</a:t>
            </a:r>
          </a:p>
        </p:txBody>
      </p:sp>
      <p:sp>
        <p:nvSpPr>
          <p:cNvPr id="41" name="TextBox 41"/>
          <p:cNvSpPr>
            <a:spLocks noGrp="1"/>
          </p:cNvSpPr>
          <p:nvPr/>
        </p:nvSpPr>
        <p:spPr>
          <a:xfrm>
            <a:off x="9948700" y="7050000"/>
            <a:ext cx="9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10848700" y="7050000"/>
            <a:ext cx="28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113,230,594</a:t>
            </a:r>
          </a:p>
        </p:txBody>
      </p:sp>
      <p:sp>
        <p:nvSpPr>
          <p:cNvPr id="43" name="TextBox 43"/>
          <p:cNvSpPr>
            <a:spLocks noGrp="1"/>
          </p:cNvSpPr>
          <p:nvPr/>
        </p:nvSpPr>
        <p:spPr>
          <a:xfrm>
            <a:off x="13648700" y="7050000"/>
            <a:ext cx="21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1,468,869</a:t>
            </a:r>
          </a:p>
        </p:txBody>
      </p:sp>
      <p:sp>
        <p:nvSpPr>
          <p:cNvPr id="44" name="TextBox 44"/>
          <p:cNvSpPr>
            <a:spLocks noGrp="1"/>
          </p:cNvSpPr>
          <p:nvPr/>
        </p:nvSpPr>
        <p:spPr>
          <a:xfrm>
            <a:off x="15748700" y="7050000"/>
            <a:ext cx="1700000" cy="366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77.1x</a:t>
            </a:r>
          </a:p>
        </p:txBody>
      </p:sp>
      <p:sp>
        <p:nvSpPr>
          <p:cNvPr id="45" name="TextBox 45"/>
          <p:cNvSpPr>
            <a:spLocks noGrp="1"/>
          </p:cNvSpPr>
          <p:nvPr/>
        </p:nvSpPr>
        <p:spPr>
          <a:xfrm>
            <a:off x="9948700" y="7700000"/>
            <a:ext cx="7310600" cy="321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i="1" dirty="0">
                <a:solidFill>
                  <a:srgbClr val="595959"/>
                </a:solidFill>
                <a:latin typeface="Helvetica World"/>
                <a:ea typeface="Helvetica World"/>
                <a:cs typeface="Helvetica World"/>
              </a:rPr>
              <a:t>SWI-Prolog 9.2.9. Your numbers will be close, not identical.</a:t>
            </a:r>
          </a:p>
        </p:txBody>
      </p:sp>
      <p:sp>
        <p:nvSpPr>
          <p:cNvPr id="46" name="Card 46"/>
          <p:cNvSpPr>
            <a:spLocks noGrp="1"/>
          </p:cNvSpPr>
          <p:nvPr/>
        </p:nvSpPr>
        <p:spPr>
          <a:xfrm>
            <a:off x="9683278" y="8720000"/>
            <a:ext cx="7841444" cy="1230000"/>
          </a:xfrm>
          <a:prstGeom prst="roundRect">
            <a:avLst>
              <a:gd name="adj" fmla="val 921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>
            <a:spLocks noGrp="1"/>
          </p:cNvSpPr>
          <p:nvPr/>
        </p:nvSpPr>
        <p:spPr>
          <a:xfrm>
            <a:off x="9948700" y="8985422"/>
            <a:ext cx="7310600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Kowalski’s equation at work.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8580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6599"/>
              </a:lnSpc>
              <a:buNone/>
            </a:pPr>
            <a:r>
              <a:rPr lang="en-US" sz="6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Debugging and Common Mistakes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400000" cy="29000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869156" cy="14064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639"/>
              </a:lnSpc>
              <a:buNone/>
            </a:pP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trace/0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turns on the four-port debugger: every goal is reported as it is Called, Exited, Redone or Failed. </a:t>
            </a:r>
            <a:r>
              <a:rPr lang="en-US" sz="25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notrace/0</a:t>
            </a: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turns it off.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763278" y="5220000"/>
            <a:ext cx="8400000" cy="4730000"/>
          </a:xfrm>
          <a:prstGeom prst="roundRect">
            <a:avLst>
              <a:gd name="adj" fmla="val 2396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37598" y="5494320"/>
            <a:ext cx="7851360" cy="4200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trace, factorial(3, X).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Call: (10) factorial(3, _2312)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Call: (11) 3&gt;0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Exit: (11) 3&gt;0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Call: (11) _9956 is 3+ -1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Exit: (11) 2 is 3+ -1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Call: (11) factorial(2, _11182)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...                     % depths 12 and 13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Exit: (11) factorial(2, 2)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Call: (11) _78 is 3*2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Exit: (11) 6 is 3*2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Exit: (10) factorial(3, 6)</a:t>
            </a:r>
          </a:p>
          <a:p>
            <a:pPr marL="0" indent="0" algn="l">
              <a:lnSpc>
                <a:spcPts val="2532"/>
              </a:lnSpc>
              <a:buNone/>
            </a:pPr>
            <a:r>
              <a:rPr lang="en-US" sz="1948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= 6.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9483278" y="2020000"/>
            <a:ext cx="8041444" cy="7930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9748700" y="2285422"/>
            <a:ext cx="7510600" cy="60738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 mistakes everyone makes first</a:t>
            </a:r>
          </a:p>
          <a:p>
            <a:pPr marL="604513" indent="-302256" algn="l">
              <a:lnSpc>
                <a:spcPts val="3359"/>
              </a:lnSpc>
              <a:spcBef>
                <a:spcPts val="1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 missing period.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The clause merges with the next one.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= instead of is.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X = 3+4 binds a term, not 7.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Singleton variable warnings.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Almost always a typo, or a variable that should be _.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Left recursion.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A clause that calls itself before consuming anything loops before it ever reaches a fact.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Uppercase where you meant an atom.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parent(Hector, ana) says “some Hector”.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\+ on unbound variables.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Bind them first.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0739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299"/>
              </a:lnSpc>
              <a:buNone/>
            </a:pPr>
            <a:r>
              <a:rPr lang="en-US" sz="82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Assignment: Prolog Lab 01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9600000" cy="7930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9069156" cy="704373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359"/>
              </a:lnSpc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1.  A bigger knowledge base — 20 pts</a:t>
            </a:r>
          </a:p>
          <a:p>
            <a:pPr marL="0" indent="0" algn="l">
              <a:lnSpc>
                <a:spcPts val="3079"/>
              </a:lnSpc>
              <a:spcBef>
                <a:spcPts val="800"/>
              </a:spcBef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Start from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01_Code/family.pl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at least 16 people over four generations, plus a new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spouse/2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 Record both parents for every child. Include a couple with three or more children, and someone with none.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2.  New relationships — 35 pts</a:t>
            </a:r>
          </a:p>
          <a:p>
            <a:pPr marL="0" indent="0" algn="l">
              <a:lnSpc>
                <a:spcPts val="3079"/>
              </a:lnSpc>
              <a:spcBef>
                <a:spcPts val="800"/>
              </a:spcBef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At least eight rules —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mother/2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sister/2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grandmother/2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uncle/2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cousin/2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father_in_law/2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— and one recursive rule of your own that is not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ancestor/2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3.  Evidence that it works — 25 pts</a:t>
            </a:r>
          </a:p>
          <a:p>
            <a:pPr marL="0" indent="0" algn="l">
              <a:lnSpc>
                <a:spcPts val="3079"/>
              </a:lnSpc>
              <a:spcBef>
                <a:spcPts val="800"/>
              </a:spcBef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At least 20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plunit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tests, six of them negative — one must show that nobody is their own sibling.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run_tests.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must report that they all pass.</a:t>
            </a:r>
          </a:p>
          <a:p>
            <a:pPr marL="0" indent="0" algn="l">
              <a:lnSpc>
                <a:spcPts val="3359"/>
              </a:lnSpc>
              <a:spcBef>
                <a:spcPts val="1600"/>
              </a:spcBef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4.  Analysis — 20 pts</a:t>
            </a:r>
          </a:p>
          <a:p>
            <a:pPr marL="0" indent="0" algn="l">
              <a:lnSpc>
                <a:spcPts val="3079"/>
              </a:lnSpc>
              <a:spcBef>
                <a:spcPts val="800"/>
              </a:spcBef>
              <a:buNone/>
            </a:pP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Half a page. Why does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sibling/2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need </a:t>
            </a: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X \= Y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? Which of your rules return the same answer twice, and why? What does the closed-world assumption claim that you never wrote down?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10683278" y="2020000"/>
            <a:ext cx="6841444" cy="4730000"/>
          </a:xfrm>
          <a:prstGeom prst="roundRect">
            <a:avLst>
              <a:gd name="adj" fmla="val 239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0948700" y="2285422"/>
            <a:ext cx="6310600" cy="517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Testing, the Prolog way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10948700" y="3043135"/>
            <a:ext cx="6310600" cy="3371800"/>
          </a:xfrm>
          <a:prstGeom prst="roundRect">
            <a:avLst>
              <a:gd name="adj" fmla="val 3362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11148700" y="3243135"/>
            <a:ext cx="5910600" cy="2991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:- begin_tests(family).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test(mother_of_ana)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mother(rosa, ana), !.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test(no_self_sibling, [fail]) :-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   sibling(X, X).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:- end_tests(family).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?- run_tests.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% All 24 tests passed</a:t>
            </a:r>
          </a:p>
        </p:txBody>
      </p:sp>
      <p:sp>
        <p:nvSpPr>
          <p:cNvPr id="9" name="Card 9"/>
          <p:cNvSpPr>
            <a:spLocks noGrp="1"/>
          </p:cNvSpPr>
          <p:nvPr/>
        </p:nvSpPr>
        <p:spPr>
          <a:xfrm>
            <a:off x="10683278" y="7050000"/>
            <a:ext cx="6841444" cy="29000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0948700" y="7315422"/>
            <a:ext cx="6310600" cy="22342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Bonus — 10 pts</a:t>
            </a:r>
          </a:p>
          <a:p>
            <a:pPr marL="0" indent="0" algn="l">
              <a:lnSpc>
                <a:spcPts val="3079"/>
              </a:lnSpc>
              <a:spcBef>
                <a:spcPts val="1200"/>
              </a:spcBef>
              <a:buNone/>
            </a:pPr>
            <a:r>
              <a:rPr lang="en-US" sz="21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related(X, Y)</a:t>
            </a:r>
            <a:r>
              <a:rPr lang="en-US" sz="21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: is X connected to Y by any chain of parent, child or marriage links? The obvious version walks up a parent link and straight back down it, forever. Make it terminate.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Deliverables and Grading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5950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36971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What to hand in</a:t>
            </a:r>
          </a:p>
          <a:p>
            <a:pPr marL="604513" indent="-302256" algn="l">
              <a:lnSpc>
                <a:spcPts val="3359"/>
              </a:lnSpc>
              <a:spcBef>
                <a:spcPts val="18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lastname_firstname_lab01.pl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—  knowledge base, rules and tests in one file, one section per exercise.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lastname_firstname_lab01.pdf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—  two pages at most: the </a:t>
            </a:r>
            <a:r>
              <a:rPr lang="en-US" sz="2399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run_tests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output and your analysis.</a:t>
            </a:r>
          </a:p>
          <a:p>
            <a:pPr marL="0" indent="0" algn="l">
              <a:lnSpc>
                <a:spcPts val="3359"/>
              </a:lnSpc>
              <a:spcBef>
                <a:spcPts val="1800"/>
              </a:spcBef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must load cleanly: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1028700" y="6222580"/>
            <a:ext cx="7689878" cy="709562"/>
          </a:xfrm>
          <a:prstGeom prst="roundRect">
            <a:avLst>
              <a:gd name="adj" fmla="val 15975"/>
            </a:avLst>
          </a:prstGeom>
          <a:solidFill>
            <a:srgbClr val="F6F6F6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1228700" y="6422580"/>
            <a:ext cx="7289878" cy="32962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43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Courier New"/>
                <a:ea typeface="Courier New"/>
                <a:cs typeface="Courier New"/>
              </a:rPr>
              <a:t>$ swipl -g true -t halt lastname_firstname_lab01.pl</a:t>
            </a:r>
          </a:p>
        </p:txBody>
      </p:sp>
      <p:sp>
        <p:nvSpPr>
          <p:cNvPr id="7" name="TextBox 7"/>
          <p:cNvSpPr>
            <a:spLocks noGrp="1"/>
          </p:cNvSpPr>
          <p:nvPr/>
        </p:nvSpPr>
        <p:spPr>
          <a:xfrm>
            <a:off x="1028700" y="7172142"/>
            <a:ext cx="7689878" cy="42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Errors and singleton warnings cost points.</a:t>
            </a:r>
          </a:p>
        </p:txBody>
      </p:sp>
      <p:sp>
        <p:nvSpPr>
          <p:cNvPr id="8" name="Card 8"/>
          <p:cNvSpPr>
            <a:spLocks noGrp="1"/>
          </p:cNvSpPr>
          <p:nvPr/>
        </p:nvSpPr>
        <p:spPr>
          <a:xfrm>
            <a:off x="763278" y="8270000"/>
            <a:ext cx="8220722" cy="1680000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1028700" y="8535422"/>
            <a:ext cx="7689878" cy="837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219"/>
              </a:lnSpc>
              <a:buNone/>
            </a:pP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Invent your own family. If you used an AI assistant, say so in a header comment and state what you changed.</a:t>
            </a:r>
          </a:p>
        </p:txBody>
      </p:sp>
      <p:sp>
        <p:nvSpPr>
          <p:cNvPr id="10" name="Card 10"/>
          <p:cNvSpPr>
            <a:spLocks noGrp="1"/>
          </p:cNvSpPr>
          <p:nvPr/>
        </p:nvSpPr>
        <p:spPr>
          <a:xfrm>
            <a:off x="9304000" y="2020000"/>
            <a:ext cx="8220722" cy="29000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9569422" y="2285422"/>
            <a:ext cx="7689878" cy="115634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Due today</a:t>
            </a:r>
          </a:p>
          <a:p>
            <a:pPr marL="0" indent="0" algn="l">
              <a:lnSpc>
                <a:spcPts val="3639"/>
              </a:lnSpc>
              <a:spcBef>
                <a:spcPts val="1400"/>
              </a:spcBef>
              <a:buNone/>
            </a:pPr>
            <a:r>
              <a:rPr lang="en-US" sz="25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23:59 — upload both files to the course platform.</a:t>
            </a:r>
          </a:p>
        </p:txBody>
      </p:sp>
      <p:sp>
        <p:nvSpPr>
          <p:cNvPr id="12" name="Card 12"/>
          <p:cNvSpPr>
            <a:spLocks noGrp="1"/>
          </p:cNvSpPr>
          <p:nvPr/>
        </p:nvSpPr>
        <p:spPr>
          <a:xfrm>
            <a:off x="9304000" y="5220000"/>
            <a:ext cx="8220722" cy="4730000"/>
          </a:xfrm>
          <a:prstGeom prst="roundRect">
            <a:avLst>
              <a:gd name="adj" fmla="val 239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9569422" y="5500000"/>
            <a:ext cx="7689878" cy="4949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Rubric</a:t>
            </a: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9569422" y="6240000"/>
            <a:ext cx="6289878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99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Knowledge base</a:t>
            </a: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15959300" y="6240000"/>
            <a:ext cx="1300000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r">
              <a:lnSpc>
                <a:spcPts val="2999"/>
              </a:lnSpc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20</a:t>
            </a: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9569422" y="6860000"/>
            <a:ext cx="6289878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99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Relationship rules</a:t>
            </a: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15959300" y="6860000"/>
            <a:ext cx="1300000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r">
              <a:lnSpc>
                <a:spcPts val="2999"/>
              </a:lnSpc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35</a:t>
            </a: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9569422" y="7480000"/>
            <a:ext cx="6289878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99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Tests, all passing</a:t>
            </a: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15959300" y="7480000"/>
            <a:ext cx="1300000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r">
              <a:lnSpc>
                <a:spcPts val="2999"/>
              </a:lnSpc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25</a:t>
            </a: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9569422" y="8100000"/>
            <a:ext cx="6289878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99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Written analysis</a:t>
            </a: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15959300" y="8100000"/>
            <a:ext cx="1300000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r">
              <a:lnSpc>
                <a:spcPts val="2999"/>
              </a:lnSpc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20</a:t>
            </a: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9569422" y="8720000"/>
            <a:ext cx="6289878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2999"/>
              </a:lnSpc>
              <a:buNone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Bonus: related/2</a:t>
            </a: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15959300" y="8720000"/>
            <a:ext cx="1300000" cy="4008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r">
              <a:lnSpc>
                <a:spcPts val="2999"/>
              </a:lnSpc>
              <a:buNone/>
            </a:pPr>
            <a:r>
              <a:rPr lang="en-US" sz="23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+10</a:t>
            </a:r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9569422" y="9460000"/>
            <a:ext cx="6289878" cy="4643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49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Total</a:t>
            </a: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15959300" y="9460000"/>
            <a:ext cx="1300000" cy="4643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r">
              <a:lnSpc>
                <a:spcPts val="349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/>
        </p:nvSpPr>
        <p:spPr>
          <a:xfrm>
            <a:off x="763278" y="457200"/>
            <a:ext cx="16761444" cy="11120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8599"/>
              </a:lnSpc>
              <a:buNone/>
            </a:pPr>
            <a:r>
              <a:rPr lang="en-US"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Where to Read More</a:t>
            </a:r>
          </a:p>
        </p:txBody>
      </p:sp>
      <p:sp>
        <p:nvSpPr>
          <p:cNvPr id="3" name="Card 3"/>
          <p:cNvSpPr>
            <a:spLocks noGrp="1"/>
          </p:cNvSpPr>
          <p:nvPr/>
        </p:nvSpPr>
        <p:spPr>
          <a:xfrm>
            <a:off x="763278" y="2020000"/>
            <a:ext cx="8220722" cy="7100000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1028700" y="2285422"/>
            <a:ext cx="7689878" cy="54289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Books</a:t>
            </a:r>
          </a:p>
          <a:p>
            <a:pPr marL="604513" indent="-302256" algn="l">
              <a:lnSpc>
                <a:spcPts val="3359"/>
              </a:lnSpc>
              <a:spcBef>
                <a:spcPts val="18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Russell &amp; Norvig, </a:t>
            </a:r>
            <a:r>
              <a:rPr lang="en-US" sz="2399" i="1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Artificial Intelligence: A Modern Approach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4th ed. Chapter 7.5 for Horn clauses and chaining; Chapter 9.4 for backward chaining and logic programming.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Luger, </a:t>
            </a:r>
            <a:r>
              <a:rPr lang="en-US" sz="2399" i="1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AI: Structures and Strategies for Complex Problem Solving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6th ed. Sections 14.2 and 14.3 cover Horn clause logic and Prolog.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Bratko, </a:t>
            </a:r>
            <a:r>
              <a:rPr lang="en-US" sz="2399" i="1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Prolog Programming for Artificial Intelligence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4th ed. The standard practical book.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Sterling &amp; Shapiro, </a:t>
            </a:r>
            <a:r>
              <a:rPr lang="en-US" sz="2399" i="1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Art of Prolog</a:t>
            </a: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, 2nd ed.</a:t>
            </a:r>
          </a:p>
        </p:txBody>
      </p:sp>
      <p:sp>
        <p:nvSpPr>
          <p:cNvPr id="5" name="Card 5"/>
          <p:cNvSpPr>
            <a:spLocks noGrp="1"/>
          </p:cNvSpPr>
          <p:nvPr/>
        </p:nvSpPr>
        <p:spPr>
          <a:xfrm>
            <a:off x="9304000" y="2020000"/>
            <a:ext cx="8220722" cy="45000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9569422" y="2285422"/>
            <a:ext cx="7689878" cy="32959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Online</a:t>
            </a:r>
          </a:p>
          <a:p>
            <a:pPr marL="604513" indent="-302256" algn="l">
              <a:lnSpc>
                <a:spcPts val="3359"/>
              </a:lnSpc>
              <a:spcBef>
                <a:spcPts val="18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swi-prolog.org  —  downloads and the full manual.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swish.swi-prolog.org  —  Prolog in the browser.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learnprolognow.org  —  free introductory course.</a:t>
            </a:r>
          </a:p>
          <a:p>
            <a:pPr marL="604513" indent="-302256" algn="l">
              <a:lnSpc>
                <a:spcPts val="3359"/>
              </a:lnSpc>
              <a:spcBef>
                <a:spcPts val="1000"/>
              </a:spcBef>
              <a:buFont typeface="Arial"/>
              <a:buChar char="•"/>
            </a:pPr>
            <a:r>
              <a:rPr lang="en-US" sz="23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metalevel.at/prolog  —  Markus Triska on declarative Prolog and clpfd.</a:t>
            </a:r>
          </a:p>
        </p:txBody>
      </p:sp>
      <p:sp>
        <p:nvSpPr>
          <p:cNvPr id="7" name="Card 7"/>
          <p:cNvSpPr>
            <a:spLocks noGrp="1"/>
          </p:cNvSpPr>
          <p:nvPr/>
        </p:nvSpPr>
        <p:spPr>
          <a:xfrm>
            <a:off x="9304000" y="6820000"/>
            <a:ext cx="8220722" cy="2450000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9569422" y="7085422"/>
            <a:ext cx="7689878" cy="14877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ts val="3919"/>
              </a:lnSpc>
              <a:buNone/>
            </a:pPr>
            <a:r>
              <a:rPr lang="en-US"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 this repository</a:t>
            </a:r>
          </a:p>
          <a:p>
            <a:pPr marL="0" indent="0" algn="l">
              <a:lnSpc>
                <a:spcPts val="3219"/>
              </a:lnSpc>
              <a:spcBef>
                <a:spcPts val="1200"/>
              </a:spcBef>
              <a:buNone/>
            </a:pP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01_Code/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 holds every program shown today, plus </a:t>
            </a:r>
            <a:r>
              <a:rPr lang="en-US" sz="22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family.pl</a:t>
            </a:r>
            <a:r>
              <a:rPr lang="en-US" sz="22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5940</Words>
  <Application>Microsoft Macintosh PowerPoint</Application>
  <DocSecurity>0</DocSecurity>
  <PresentationFormat>Custom</PresentationFormat>
  <Paragraphs>708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Calibri</vt:lpstr>
      <vt:lpstr>Cambria Math</vt:lpstr>
      <vt:lpstr>Courier New</vt:lpstr>
      <vt:lpstr>Helvetica World Bold</vt:lpstr>
      <vt:lpstr>Helvetica World</vt:lpstr>
      <vt:lpstr>Telegraf Medium</vt:lpstr>
      <vt:lpstr>Telegraf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Riofrío</cp:lastModifiedBy>
  <cp:revision>2</cp:revision>
  <dcterms:created xsi:type="dcterms:W3CDTF">2026-07-18T04:27:17Z</dcterms:created>
  <dcterms:modified xsi:type="dcterms:W3CDTF">2026-09-08T15:03:35Z</dcterms:modified>
</cp:coreProperties>
</file>