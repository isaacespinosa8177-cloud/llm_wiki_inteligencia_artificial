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6858000" cy="9144000"/>
  <p:embeddedFontLst>
    <p:embeddedFont>
      <p:font typeface="Helvetica World" pitchFamily="2" charset="0"/>
      <p:regular r:id="rId22"/>
    </p:embeddedFont>
    <p:embeddedFont>
      <p:font typeface="Helvetica World Bold" pitchFamily="2" charset="0"/>
      <p:regular r:id="rId23"/>
    </p:embeddedFont>
    <p:embeddedFont>
      <p:font typeface="Helvetica World Bold Italics" pitchFamily="2" charset="0"/>
      <p:regular r:id="rId24"/>
    </p:embeddedFont>
    <p:embeddedFont>
      <p:font typeface="Helvetica World Italics" pitchFamily="2" charset="0"/>
      <p:regular r:id="rId25"/>
    </p:embeddedFont>
    <p:embeddedFont>
      <p:font typeface="Telegraf" pitchFamily="2" charset="77"/>
      <p:regular r:id="rId26"/>
    </p:embeddedFont>
    <p:embeddedFont>
      <p:font typeface="Telegraf Bold" pitchFamily="2" charset="77"/>
      <p:regular r:id="rId27"/>
      <p:bold r:id="rId28"/>
    </p:embeddedFont>
    <p:embeddedFont>
      <p:font typeface="Telegraf Medium" pitchFamily="2" charset="77"/>
      <p:regular r:id="rId29"/>
    </p:embeddedFont>
  </p:embeddedFontLst>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80" d="100"/>
          <a:sy n="80" d="100"/>
        </p:scale>
        <p:origin x="824"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73175-7CE6-460F-A81F-4B2D500BAB36}"/>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F1AEFAC0-DBD7-47D9-900A-B578D37B2991}"/>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ED194D40-910F-4F98-BB2E-45AB5B839318}"/>
              </a:ext>
            </a:extLst>
          </p:cNvPr>
          <p:cNvSpPr>
            <a:spLocks noGrp="1"/>
          </p:cNvSpPr>
          <p:nvPr>
            <p:ph type="dt" idx="10"/>
          </p:nvPr>
        </p:nvSpPr>
        <p:spPr/>
        <p:txBody>
          <a:body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37815BC9-CEF2-4665-8BB3-F54F40B5702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E43D638-0A16-4CD7-BA6A-B2CD3BE535BB}"/>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85568-7480-495D-AA9B-DB0AF485B77F}"/>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055B8B2D-2BB5-4ACF-8EE9-06226DE5E581}"/>
              </a:ext>
            </a:extLst>
          </p:cNvPr>
          <p:cNvSpPr>
            <a:spLocks noGrp="1"/>
          </p:cNvSpPr>
          <p:nvPr>
            <p:ph idx="1"/>
          </p:nvPr>
        </p:nvSpPr>
        <p:spPr/>
        <p:txBody>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EA45C120-65A0-42C9-A686-AE52DA55301E}"/>
              </a:ext>
            </a:extLst>
          </p:cNvPr>
          <p:cNvSpPr>
            <a:spLocks noGrp="1"/>
          </p:cNvSpPr>
          <p:nvPr>
            <p:ph type="dt" idx="10"/>
          </p:nvPr>
        </p:nvSpPr>
        <p:spPr/>
        <p:txBody>
          <a:body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19FE497B-C42F-471A-AF5F-E5C28C8AF47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C656FF1C-F240-4697-AB6F-728FFB1066F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343A-33BB-4C68-B627-54E674240076}"/>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32BAF74B-0D2C-46C8-BD12-4014B457C32D}"/>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a:buNone/>
            </a:pPr>
            <a:r>
              <a:t>Click to edit Master text styles</a:t>
            </a:r>
          </a:p>
        </p:txBody>
      </p:sp>
      <p:sp>
        <p:nvSpPr>
          <p:cNvPr id="4" name="Date Placeholder 3">
            <a:extLst>
              <a:ext uri="{FF2B5EF4-FFF2-40B4-BE49-F238E27FC236}">
                <a16:creationId xmlns:a16="http://schemas.microsoft.com/office/drawing/2014/main" id="{B6B514F1-1189-4809-87A5-1E0FE3608DB4}"/>
              </a:ext>
            </a:extLst>
          </p:cNvPr>
          <p:cNvSpPr>
            <a:spLocks noGrp="1"/>
          </p:cNvSpPr>
          <p:nvPr>
            <p:ph type="dt" idx="10"/>
          </p:nvPr>
        </p:nvSpPr>
        <p:spPr/>
        <p:txBody>
          <a:body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CAF10346-63C9-4D1A-A561-C03D8EEB40B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A7D73D2-2C4C-4C01-ABCE-C4FC5406E26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E184-576D-4B48-96B0-F5A05197FB7C}"/>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FA747611-2ABA-4B47-BD03-C542B105E2CC}"/>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Content Placeholder 3">
            <a:extLst>
              <a:ext uri="{FF2B5EF4-FFF2-40B4-BE49-F238E27FC236}">
                <a16:creationId xmlns:a16="http://schemas.microsoft.com/office/drawing/2014/main" id="{255582BC-403B-4413-A225-2A81FB3FE85A}"/>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Date Placeholder 4">
            <a:extLst>
              <a:ext uri="{FF2B5EF4-FFF2-40B4-BE49-F238E27FC236}">
                <a16:creationId xmlns:a16="http://schemas.microsoft.com/office/drawing/2014/main" id="{BE35F344-5C9C-431B-94A0-27C94989B47D}"/>
              </a:ext>
            </a:extLst>
          </p:cNvPr>
          <p:cNvSpPr>
            <a:spLocks noGrp="1"/>
          </p:cNvSpPr>
          <p:nvPr>
            <p:ph type="dt" idx="10"/>
          </p:nvPr>
        </p:nvSpPr>
        <p:spPr/>
        <p:txBody>
          <a:bodyPr/>
          <a:lstStyle/>
          <a:p>
            <a:fld id="{1D8BD707-D9CF-40AE-B4C6-C98DA3205C09}" type="datetimeFigureOut">
              <a:t>18/7/26</a:t>
            </a:fld>
            <a:endParaRPr/>
          </a:p>
        </p:txBody>
      </p:sp>
      <p:sp>
        <p:nvSpPr>
          <p:cNvPr id="6" name="Footer Placeholder 5">
            <a:extLst>
              <a:ext uri="{FF2B5EF4-FFF2-40B4-BE49-F238E27FC236}">
                <a16:creationId xmlns:a16="http://schemas.microsoft.com/office/drawing/2014/main" id="{65E4D393-47F3-4FF8-892B-9A3032A4757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1C4935C-B9AA-440F-AAFE-6794C0A8CD39}"/>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4BB33-DC70-4A6B-B772-FD8564A3A9B4}"/>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FEFD89B2-8EDE-4640-BD2A-EC24D239A33E}"/>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4" name="Content Placeholder 3">
            <a:extLst>
              <a:ext uri="{FF2B5EF4-FFF2-40B4-BE49-F238E27FC236}">
                <a16:creationId xmlns:a16="http://schemas.microsoft.com/office/drawing/2014/main" id="{DF2EE4F7-1738-4282-8320-1C247D9FCE22}"/>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5" name="Text Placeholder 4">
            <a:extLst>
              <a:ext uri="{FF2B5EF4-FFF2-40B4-BE49-F238E27FC236}">
                <a16:creationId xmlns:a16="http://schemas.microsoft.com/office/drawing/2014/main" id="{D396FE53-E5EA-469E-A708-720E5B199243}"/>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Click to edit Master text styles</a:t>
            </a:r>
          </a:p>
        </p:txBody>
      </p:sp>
      <p:sp>
        <p:nvSpPr>
          <p:cNvPr id="6" name="Content Placeholder 5">
            <a:extLst>
              <a:ext uri="{FF2B5EF4-FFF2-40B4-BE49-F238E27FC236}">
                <a16:creationId xmlns:a16="http://schemas.microsoft.com/office/drawing/2014/main" id="{74D41A05-1D36-4F80-AF6C-EF390FCB4892}"/>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7" name="Date Placeholder 6">
            <a:extLst>
              <a:ext uri="{FF2B5EF4-FFF2-40B4-BE49-F238E27FC236}">
                <a16:creationId xmlns:a16="http://schemas.microsoft.com/office/drawing/2014/main" id="{7B8CC059-AE97-4DFD-A280-9A88A593958E}"/>
              </a:ext>
            </a:extLst>
          </p:cNvPr>
          <p:cNvSpPr>
            <a:spLocks noGrp="1"/>
          </p:cNvSpPr>
          <p:nvPr>
            <p:ph type="dt" idx="10"/>
          </p:nvPr>
        </p:nvSpPr>
        <p:spPr/>
        <p:txBody>
          <a:bodyPr/>
          <a:lstStyle/>
          <a:p>
            <a:fld id="{1D8BD707-D9CF-40AE-B4C6-C98DA3205C09}" type="datetimeFigureOut">
              <a:t>18/7/26</a:t>
            </a:fld>
            <a:endParaRPr/>
          </a:p>
        </p:txBody>
      </p:sp>
      <p:sp>
        <p:nvSpPr>
          <p:cNvPr id="8" name="Footer Placeholder 7">
            <a:extLst>
              <a:ext uri="{FF2B5EF4-FFF2-40B4-BE49-F238E27FC236}">
                <a16:creationId xmlns:a16="http://schemas.microsoft.com/office/drawing/2014/main" id="{3335AEED-1D65-48C7-947A-63C964DABDF9}"/>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5858916-E874-40CA-90A2-B41E773DFD3A}"/>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A1374-C680-44DC-926B-90CB65064FE6}"/>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7B7BC40-C485-49DD-AC91-8EFB7C8D4466}"/>
              </a:ext>
            </a:extLst>
          </p:cNvPr>
          <p:cNvSpPr>
            <a:spLocks noGrp="1"/>
          </p:cNvSpPr>
          <p:nvPr>
            <p:ph type="dt" idx="10"/>
          </p:nvPr>
        </p:nvSpPr>
        <p:spPr/>
        <p:txBody>
          <a:bodyPr/>
          <a:lstStyle/>
          <a:p>
            <a:fld id="{1D8BD707-D9CF-40AE-B4C6-C98DA3205C09}" type="datetimeFigureOut">
              <a:t>18/7/26</a:t>
            </a:fld>
            <a:endParaRPr/>
          </a:p>
        </p:txBody>
      </p:sp>
      <p:sp>
        <p:nvSpPr>
          <p:cNvPr id="4" name="Footer Placeholder 3">
            <a:extLst>
              <a:ext uri="{FF2B5EF4-FFF2-40B4-BE49-F238E27FC236}">
                <a16:creationId xmlns:a16="http://schemas.microsoft.com/office/drawing/2014/main" id="{4FCC776B-30E3-4CB5-B01F-4C022AAB435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955A8627-8043-4A3F-BC12-C54E5C4DE422}"/>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6D9695-A439-4786-B967-A9E9B1A6A000}"/>
              </a:ext>
            </a:extLst>
          </p:cNvPr>
          <p:cNvSpPr>
            <a:spLocks noGrp="1"/>
          </p:cNvSpPr>
          <p:nvPr>
            <p:ph type="dt" idx="10"/>
          </p:nvPr>
        </p:nvSpPr>
        <p:spPr/>
        <p:txBody>
          <a:bodyPr/>
          <a:lstStyle/>
          <a:p>
            <a:fld id="{1D8BD707-D9CF-40AE-B4C6-C98DA3205C09}" type="datetimeFigureOut">
              <a:t>18/7/26</a:t>
            </a:fld>
            <a:endParaRPr/>
          </a:p>
        </p:txBody>
      </p:sp>
      <p:sp>
        <p:nvSpPr>
          <p:cNvPr id="3" name="Footer Placeholder 2">
            <a:extLst>
              <a:ext uri="{FF2B5EF4-FFF2-40B4-BE49-F238E27FC236}">
                <a16:creationId xmlns:a16="http://schemas.microsoft.com/office/drawing/2014/main" id="{EDED18EF-DED7-4537-901D-11E852CDF83C}"/>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81DD2808-D673-4B91-8494-10BB26E9263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B2F9-6F04-4D3C-974C-062124DDE8D0}"/>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AAADF1A2-C02C-4930-8426-1DA2D2D1095C}"/>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Text Placeholder 3">
            <a:extLst>
              <a:ext uri="{FF2B5EF4-FFF2-40B4-BE49-F238E27FC236}">
                <a16:creationId xmlns:a16="http://schemas.microsoft.com/office/drawing/2014/main" id="{3177D85B-5B01-44EF-98CD-BBD2A48206E3}"/>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43F16311-4BB1-4006-ADB3-A02ED24D94AA}"/>
              </a:ext>
            </a:extLst>
          </p:cNvPr>
          <p:cNvSpPr>
            <a:spLocks noGrp="1"/>
          </p:cNvSpPr>
          <p:nvPr>
            <p:ph type="dt" idx="10"/>
          </p:nvPr>
        </p:nvSpPr>
        <p:spPr/>
        <p:txBody>
          <a:bodyPr/>
          <a:lstStyle/>
          <a:p>
            <a:fld id="{1D8BD707-D9CF-40AE-B4C6-C98DA3205C09}" type="datetimeFigureOut">
              <a:t>18/7/26</a:t>
            </a:fld>
            <a:endParaRPr/>
          </a:p>
        </p:txBody>
      </p:sp>
      <p:sp>
        <p:nvSpPr>
          <p:cNvPr id="6" name="Footer Placeholder 5">
            <a:extLst>
              <a:ext uri="{FF2B5EF4-FFF2-40B4-BE49-F238E27FC236}">
                <a16:creationId xmlns:a16="http://schemas.microsoft.com/office/drawing/2014/main" id="{82CECE6B-7E4B-4FC4-BCF2-27ED09EED19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3A5E650-A6C0-40D0-8E00-BB09BEE72ABC}"/>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9436-A1E7-490C-B14A-E9C91040B471}"/>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686EEE8C-D99D-4B70-BF93-F5B3CDE844FE}"/>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7998868-A9FB-42F6-B32E-74C9AA84543A}"/>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a:buNone/>
            </a:pPr>
            <a:r>
              <a:t>Click to edit Master text styles</a:t>
            </a:r>
          </a:p>
        </p:txBody>
      </p:sp>
      <p:sp>
        <p:nvSpPr>
          <p:cNvPr id="5" name="Date Placeholder 4">
            <a:extLst>
              <a:ext uri="{FF2B5EF4-FFF2-40B4-BE49-F238E27FC236}">
                <a16:creationId xmlns:a16="http://schemas.microsoft.com/office/drawing/2014/main" id="{C83022FB-EA99-4087-BC58-CEF90C68941E}"/>
              </a:ext>
            </a:extLst>
          </p:cNvPr>
          <p:cNvSpPr>
            <a:spLocks noGrp="1"/>
          </p:cNvSpPr>
          <p:nvPr>
            <p:ph type="dt" idx="10"/>
          </p:nvPr>
        </p:nvSpPr>
        <p:spPr/>
        <p:txBody>
          <a:bodyPr/>
          <a:lstStyle/>
          <a:p>
            <a:fld id="{1D8BD707-D9CF-40AE-B4C6-C98DA3205C09}" type="datetimeFigureOut">
              <a:t>18/7/26</a:t>
            </a:fld>
            <a:endParaRPr/>
          </a:p>
        </p:txBody>
      </p:sp>
      <p:sp>
        <p:nvSpPr>
          <p:cNvPr id="6" name="Footer Placeholder 5">
            <a:extLst>
              <a:ext uri="{FF2B5EF4-FFF2-40B4-BE49-F238E27FC236}">
                <a16:creationId xmlns:a16="http://schemas.microsoft.com/office/drawing/2014/main" id="{6D393557-8552-413B-A42D-1F852B6B8F8F}"/>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167D70A-19E6-43A1-B472-2B7EFAEF6C3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DB0BC-AC74-44EB-AB98-905A15A6191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EE9C82A-EA18-4A81-A4C9-153573A042AA}"/>
              </a:ext>
            </a:extLst>
          </p:cNvPr>
          <p:cNvSpPr>
            <a:spLocks noGrp="1"/>
          </p:cNvSpPr>
          <p:nvPr>
            <p:ph type="body" idx="1"/>
          </p:nvPr>
        </p:nvSpPr>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8DAE590F-110A-4C67-9C56-3880CFDEB142}"/>
              </a:ext>
            </a:extLst>
          </p:cNvPr>
          <p:cNvSpPr>
            <a:spLocks noGrp="1"/>
          </p:cNvSpPr>
          <p:nvPr>
            <p:ph type="dt" idx="10"/>
          </p:nvPr>
        </p:nvSpPr>
        <p:spPr/>
        <p:txBody>
          <a:body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C2DD8787-4EED-4015-ACCC-8F3AF819E2B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A448EF9-0396-4D91-8720-97A013676F4F}"/>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F74943-999C-4D0D-BE5F-23E3940B4060}"/>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B97D0A7-3B2B-43F2-8683-96154979040D}"/>
              </a:ext>
            </a:extLst>
          </p:cNvPr>
          <p:cNvSpPr>
            <a:spLocks noGrp="1"/>
          </p:cNvSpPr>
          <p:nvPr>
            <p:ph type="body" idx="1"/>
          </p:nvPr>
        </p:nvSpPr>
        <p:spPr>
          <a:xfrm>
            <a:off x="457200" y="274638"/>
            <a:ext cx="6019800" cy="5851525"/>
          </a:xfrm>
        </p:spPr>
        <p:txBody>
          <a:bodyPr vert="eaVert"/>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C8CF2689-1FF1-4F42-AA9F-0E0E44B7A8B7}"/>
              </a:ext>
            </a:extLst>
          </p:cNvPr>
          <p:cNvSpPr>
            <a:spLocks noGrp="1"/>
          </p:cNvSpPr>
          <p:nvPr>
            <p:ph type="dt" idx="10"/>
          </p:nvPr>
        </p:nvSpPr>
        <p:spPr/>
        <p:txBody>
          <a:body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BC5127AF-1511-4334-896B-F8B7DBDFBC80}"/>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B53DFD4-6591-46B2-814F-B9B0C890613E}"/>
              </a:ext>
            </a:extLst>
          </p:cNvPr>
          <p:cNvSpPr>
            <a:spLocks noGrp="1"/>
          </p:cNvSpPr>
          <p:nvPr>
            <p:ph type="sldNum" idx="12"/>
          </p:nvPr>
        </p:nvSpPr>
        <p:spPr/>
        <p:txBody>
          <a:body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CB997-BFCD-41D8-8909-CB9EDB324296}"/>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8CE87E-DB1F-4AA5-92F3-68A956B41E5E}"/>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a:buNone/>
            </a:pPr>
            <a:r>
              <a:t>Click to edit Master text styles</a:t>
            </a:r>
          </a:p>
          <a:p>
            <a:pPr>
              <a:buNone/>
            </a:pPr>
            <a:r>
              <a:t>Second level</a:t>
            </a:r>
          </a:p>
          <a:p>
            <a:pPr>
              <a:buNone/>
            </a:pPr>
            <a:r>
              <a:t>Third level</a:t>
            </a:r>
          </a:p>
          <a:p>
            <a:pPr>
              <a:buNone/>
            </a:pPr>
            <a:r>
              <a:t>Fourth level</a:t>
            </a:r>
          </a:p>
          <a:p>
            <a:pPr>
              <a:buNone/>
            </a:pPr>
            <a:r>
              <a:t>Fifth level</a:t>
            </a:r>
          </a:p>
        </p:txBody>
      </p:sp>
      <p:sp>
        <p:nvSpPr>
          <p:cNvPr id="4" name="Date Placeholder 3">
            <a:extLst>
              <a:ext uri="{FF2B5EF4-FFF2-40B4-BE49-F238E27FC236}">
                <a16:creationId xmlns:a16="http://schemas.microsoft.com/office/drawing/2014/main" id="{1982F4B4-99CE-4206-863B-9D711EC2F707}"/>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1D8BD707-D9CF-40AE-B4C6-C98DA3205C09}" type="datetimeFigureOut">
              <a:t>18/7/26</a:t>
            </a:fld>
            <a:endParaRPr/>
          </a:p>
        </p:txBody>
      </p:sp>
      <p:sp>
        <p:nvSpPr>
          <p:cNvPr id="5" name="Footer Placeholder 4">
            <a:extLst>
              <a:ext uri="{FF2B5EF4-FFF2-40B4-BE49-F238E27FC236}">
                <a16:creationId xmlns:a16="http://schemas.microsoft.com/office/drawing/2014/main" id="{25CDCFB0-FCE8-4C2B-919A-4DABF67BEB06}"/>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87CB5CA6-F1F9-4586-9D8E-78F72A340D8E}"/>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s://parhamdata.com/Dartmouth_1955_Proposal_for_AI_Research.pdf" TargetMode="External"/><Relationship Id="rId5" Type="http://schemas.openxmlformats.org/officeDocument/2006/relationships/image" Target="../media/image2.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hyperlink" Target="https://www.youtube.com/watch?v=Ilg3gGewQ5U"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sv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14.png"/><Relationship Id="rId4" Type="http://schemas.openxmlformats.org/officeDocument/2006/relationships/hyperlink" Target="https://www.youtube.com/watch?v=efR1C6Cvhm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4.png"/><Relationship Id="rId4" Type="http://schemas.openxmlformats.org/officeDocument/2006/relationships/hyperlink" Target="https://www.youtube.com/watch?v=q6kJ71tEYq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4.png"/><Relationship Id="rId4" Type="http://schemas.openxmlformats.org/officeDocument/2006/relationships/hyperlink" Target="https://www.youtube.com/watch?v=63FD5DbJS0U"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0DCB1AD7-8729-4A6D-8176-652653A099FD}"/>
              </a:ext>
            </a:extLst>
          </p:cNvPr>
          <p:cNvSpPr>
            <a:spLocks noGrp="1"/>
          </p:cNvSpPr>
          <p:nvPr/>
        </p:nvSpPr>
        <p:spPr>
          <a:xfrm>
            <a:off x="10050573" y="1885156"/>
            <a:ext cx="7210168" cy="6518130"/>
          </a:xfrm>
          <a:custGeom>
            <a:avLst/>
            <a:gdLst/>
            <a:ahLst/>
            <a:cxnLst/>
            <a:rect l="l" t="t" r="r" b="b"/>
            <a:pathLst>
              <a:path w="6351270" h="5741670">
                <a:moveTo>
                  <a:pt x="0" y="542290"/>
                </a:moveTo>
                <a:lnTo>
                  <a:pt x="0" y="2392680"/>
                </a:lnTo>
                <a:cubicBezTo>
                  <a:pt x="0" y="2691130"/>
                  <a:pt x="242570" y="2933700"/>
                  <a:pt x="542290" y="2933700"/>
                </a:cubicBezTo>
                <a:lnTo>
                  <a:pt x="1148080" y="2933700"/>
                </a:lnTo>
                <a:cubicBezTo>
                  <a:pt x="1447800" y="2933700"/>
                  <a:pt x="1690370" y="3176270"/>
                  <a:pt x="1690370" y="3475990"/>
                </a:cubicBezTo>
                <a:lnTo>
                  <a:pt x="1690370" y="5199380"/>
                </a:lnTo>
                <a:cubicBezTo>
                  <a:pt x="1690370" y="5499100"/>
                  <a:pt x="1932940" y="5741670"/>
                  <a:pt x="2232660" y="5741670"/>
                </a:cubicBezTo>
                <a:lnTo>
                  <a:pt x="3599180" y="5741670"/>
                </a:lnTo>
                <a:cubicBezTo>
                  <a:pt x="3735070" y="5741670"/>
                  <a:pt x="3867150" y="5689600"/>
                  <a:pt x="3967480" y="5598160"/>
                </a:cubicBezTo>
                <a:lnTo>
                  <a:pt x="6177280" y="3553460"/>
                </a:lnTo>
                <a:cubicBezTo>
                  <a:pt x="6287770" y="3450590"/>
                  <a:pt x="6351270" y="3307080"/>
                  <a:pt x="6351270" y="3155950"/>
                </a:cubicBezTo>
                <a:lnTo>
                  <a:pt x="6351270" y="542290"/>
                </a:lnTo>
                <a:cubicBezTo>
                  <a:pt x="6350000" y="242570"/>
                  <a:pt x="6107430" y="0"/>
                  <a:pt x="5807710" y="0"/>
                </a:cubicBezTo>
                <a:lnTo>
                  <a:pt x="542290" y="0"/>
                </a:lnTo>
                <a:cubicBezTo>
                  <a:pt x="242570" y="0"/>
                  <a:pt x="0" y="242570"/>
                  <a:pt x="0" y="542290"/>
                </a:cubicBezTo>
                <a:close/>
              </a:path>
            </a:pathLst>
          </a:custGeom>
          <a:blipFill>
            <a:blip r:embed="rId3"/>
            <a:stretch>
              <a:fillRect r="-35479"/>
            </a:stretch>
          </a:blipFill>
        </p:spPr>
        <p:txBody>
          <a:bodyPr/>
          <a:lstStyle/>
          <a:p>
            <a:endParaRPr lang="en-EC"/>
          </a:p>
        </p:txBody>
      </p:sp>
      <p:sp>
        <p:nvSpPr>
          <p:cNvPr id="5" name="Freeform 5">
            <a:extLst>
              <a:ext uri="{FF2B5EF4-FFF2-40B4-BE49-F238E27FC236}">
                <a16:creationId xmlns:a16="http://schemas.microsoft.com/office/drawing/2014/main" id="{084EA63B-5C23-4B79-869B-5D87672A590A}"/>
              </a:ext>
            </a:extLst>
          </p:cNvPr>
          <p:cNvSpPr>
            <a:spLocks noGrp="1"/>
          </p:cNvSpPr>
          <p:nvPr/>
        </p:nvSpPr>
        <p:spPr>
          <a:xfrm>
            <a:off x="-404923" y="-148528"/>
            <a:ext cx="19097845" cy="1177228"/>
          </a:xfrm>
          <a:custGeom>
            <a:avLst/>
            <a:gdLst/>
            <a:ahLst/>
            <a:cxnLst/>
            <a:rect l="l" t="t" r="r" b="b"/>
            <a:pathLst>
              <a:path w="5029885" h="310052">
                <a:moveTo>
                  <a:pt x="0" y="0"/>
                </a:moveTo>
                <a:lnTo>
                  <a:pt x="5029885" y="0"/>
                </a:lnTo>
                <a:lnTo>
                  <a:pt x="5029885" y="310052"/>
                </a:lnTo>
                <a:lnTo>
                  <a:pt x="0" y="310052"/>
                </a:lnTo>
                <a:close/>
              </a:path>
            </a:pathLst>
          </a:custGeom>
          <a:solidFill>
            <a:srgbClr val="1B1B1B"/>
          </a:solidFill>
          <a:ln>
            <a:noFill/>
            <a:prstDash val="solid"/>
          </a:ln>
        </p:spPr>
        <p:txBody>
          <a:bodyPr/>
          <a:lstStyle/>
          <a:p>
            <a:endParaRPr lang="en-EC"/>
          </a:p>
        </p:txBody>
      </p:sp>
      <p:sp>
        <p:nvSpPr>
          <p:cNvPr id="6" name="TextBox 6">
            <a:extLst>
              <a:ext uri="{FF2B5EF4-FFF2-40B4-BE49-F238E27FC236}">
                <a16:creationId xmlns:a16="http://schemas.microsoft.com/office/drawing/2014/main" id="{6990EF45-9FA3-4E8E-B9CE-C1226EFBFDA6}"/>
              </a:ext>
            </a:extLst>
          </p:cNvPr>
          <p:cNvSpPr>
            <a:spLocks noGrp="1"/>
          </p:cNvSpPr>
          <p:nvPr/>
        </p:nvSpPr>
        <p:spPr>
          <a:xfrm>
            <a:off x="-404923" y="-293188"/>
            <a:ext cx="19097845" cy="1321888"/>
          </a:xfrm>
          <a:prstGeom prst="rect">
            <a:avLst/>
          </a:prstGeom>
        </p:spPr>
        <p:txBody>
          <a:bodyPr lIns="50800" tIns="50800" rIns="50800" bIns="50800" anchor="ctr"/>
          <a:lstStyle/>
          <a:p>
            <a:pPr algn="ctr">
              <a:lnSpc>
                <a:spcPts val="2659"/>
              </a:lnSpc>
              <a:spcBef>
                <a:spcPct val="0"/>
              </a:spcBef>
              <a:buNone/>
            </a:pPr>
            <a:endParaRPr/>
          </a:p>
        </p:txBody>
      </p:sp>
      <p:sp>
        <p:nvSpPr>
          <p:cNvPr id="8" name="Freeform 8">
            <a:extLst>
              <a:ext uri="{FF2B5EF4-FFF2-40B4-BE49-F238E27FC236}">
                <a16:creationId xmlns:a16="http://schemas.microsoft.com/office/drawing/2014/main" id="{B1F91A80-7AAE-4398-B2F8-1A12149AC96F}"/>
              </a:ext>
            </a:extLst>
          </p:cNvPr>
          <p:cNvSpPr>
            <a:spLocks noGrp="1"/>
          </p:cNvSpPr>
          <p:nvPr/>
        </p:nvSpPr>
        <p:spPr>
          <a:xfrm>
            <a:off x="1028700" y="7868378"/>
            <a:ext cx="47625" cy="533400"/>
          </a:xfrm>
          <a:custGeom>
            <a:avLst/>
            <a:gdLst/>
            <a:ahLst/>
            <a:cxnLst/>
            <a:rect l="l" t="t" r="r" b="b"/>
            <a:pathLst>
              <a:path w="12543" h="140484">
                <a:moveTo>
                  <a:pt x="6272" y="0"/>
                </a:moveTo>
                <a:lnTo>
                  <a:pt x="6272" y="0"/>
                </a:lnTo>
                <a:cubicBezTo>
                  <a:pt x="7935" y="0"/>
                  <a:pt x="9530" y="661"/>
                  <a:pt x="10706" y="1837"/>
                </a:cubicBezTo>
                <a:cubicBezTo>
                  <a:pt x="11882" y="3013"/>
                  <a:pt x="12543" y="4608"/>
                  <a:pt x="12543" y="6272"/>
                </a:cubicBezTo>
                <a:lnTo>
                  <a:pt x="12543" y="134212"/>
                </a:lnTo>
                <a:cubicBezTo>
                  <a:pt x="12543" y="135876"/>
                  <a:pt x="11882" y="137471"/>
                  <a:pt x="10706" y="138647"/>
                </a:cubicBezTo>
                <a:cubicBezTo>
                  <a:pt x="9530" y="139823"/>
                  <a:pt x="7935" y="140484"/>
                  <a:pt x="6272" y="140484"/>
                </a:cubicBezTo>
                <a:lnTo>
                  <a:pt x="6272" y="140484"/>
                </a:lnTo>
                <a:cubicBezTo>
                  <a:pt x="4608" y="140484"/>
                  <a:pt x="3013" y="139823"/>
                  <a:pt x="1837" y="138647"/>
                </a:cubicBezTo>
                <a:cubicBezTo>
                  <a:pt x="661" y="137471"/>
                  <a:pt x="0" y="135876"/>
                  <a:pt x="0" y="134212"/>
                </a:cubicBezTo>
                <a:lnTo>
                  <a:pt x="0" y="6272"/>
                </a:lnTo>
                <a:cubicBezTo>
                  <a:pt x="0" y="4608"/>
                  <a:pt x="661" y="3013"/>
                  <a:pt x="1837" y="1837"/>
                </a:cubicBezTo>
                <a:cubicBezTo>
                  <a:pt x="3013" y="661"/>
                  <a:pt x="4608" y="0"/>
                  <a:pt x="6272" y="0"/>
                </a:cubicBezTo>
                <a:close/>
              </a:path>
            </a:pathLst>
          </a:custGeom>
          <a:solidFill>
            <a:srgbClr val="A6A6A6"/>
          </a:solidFill>
        </p:spPr>
        <p:txBody>
          <a:bodyPr/>
          <a:lstStyle/>
          <a:p>
            <a:endParaRPr lang="en-EC"/>
          </a:p>
        </p:txBody>
      </p:sp>
      <p:sp>
        <p:nvSpPr>
          <p:cNvPr id="9" name="TextBox 9">
            <a:extLst>
              <a:ext uri="{FF2B5EF4-FFF2-40B4-BE49-F238E27FC236}">
                <a16:creationId xmlns:a16="http://schemas.microsoft.com/office/drawing/2014/main" id="{F7AB5383-5373-42FB-979E-CD7EB3AABA49}"/>
              </a:ext>
            </a:extLst>
          </p:cNvPr>
          <p:cNvSpPr>
            <a:spLocks noGrp="1"/>
          </p:cNvSpPr>
          <p:nvPr/>
        </p:nvSpPr>
        <p:spPr>
          <a:xfrm>
            <a:off x="1028700" y="7723718"/>
            <a:ext cx="47625" cy="678060"/>
          </a:xfrm>
          <a:prstGeom prst="rect">
            <a:avLst/>
          </a:prstGeom>
        </p:spPr>
        <p:txBody>
          <a:bodyPr lIns="50800" tIns="50800" rIns="50800" bIns="50800" anchor="ctr"/>
          <a:lstStyle/>
          <a:p>
            <a:pPr algn="ctr">
              <a:lnSpc>
                <a:spcPts val="2659"/>
              </a:lnSpc>
              <a:buNone/>
            </a:pPr>
            <a:endParaRPr/>
          </a:p>
        </p:txBody>
      </p:sp>
      <p:sp>
        <p:nvSpPr>
          <p:cNvPr id="10" name="Freeform 10">
            <a:extLst>
              <a:ext uri="{FF2B5EF4-FFF2-40B4-BE49-F238E27FC236}">
                <a16:creationId xmlns:a16="http://schemas.microsoft.com/office/drawing/2014/main" id="{09E9EF0D-9E55-473E-BFF2-811863139A3C}"/>
              </a:ext>
            </a:extLst>
          </p:cNvPr>
          <p:cNvSpPr>
            <a:spLocks noGrp="1"/>
          </p:cNvSpPr>
          <p:nvPr/>
        </p:nvSpPr>
        <p:spPr>
          <a:xfrm>
            <a:off x="1244530" y="8619502"/>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EC"/>
          </a:p>
        </p:txBody>
      </p:sp>
      <p:sp>
        <p:nvSpPr>
          <p:cNvPr id="11" name="TextBox 11">
            <a:extLst>
              <a:ext uri="{FF2B5EF4-FFF2-40B4-BE49-F238E27FC236}">
                <a16:creationId xmlns:a16="http://schemas.microsoft.com/office/drawing/2014/main" id="{E7F9FFEC-B258-451C-BC1C-35989EDCF059}"/>
              </a:ext>
            </a:extLst>
          </p:cNvPr>
          <p:cNvSpPr>
            <a:spLocks noGrp="1"/>
          </p:cNvSpPr>
          <p:nvPr/>
        </p:nvSpPr>
        <p:spPr>
          <a:xfrm>
            <a:off x="1028699" y="1722751"/>
            <a:ext cx="8869279" cy="5374102"/>
          </a:xfrm>
          <a:prstGeom prst="rect">
            <a:avLst/>
          </a:prstGeom>
        </p:spPr>
        <p:txBody>
          <a:bodyPr wrap="square" lIns="0" tIns="0" rIns="0" bIns="0" anchor="t">
            <a:spAutoFit/>
          </a:bodyPr>
          <a:lstStyle/>
          <a:p>
            <a:pPr algn="l">
              <a:lnSpc>
                <a:spcPts val="14064"/>
              </a:lnSpc>
              <a:spcBef>
                <a:spcPct val="0"/>
              </a:spcBef>
              <a:buNone/>
            </a:pPr>
            <a:r>
              <a:rPr sz="10046" b="1" dirty="0">
                <a:solidFill>
                  <a:srgbClr val="1B1B1B"/>
                </a:solidFill>
                <a:latin typeface="Telegraf Medium"/>
                <a:ea typeface="Telegraf Medium"/>
                <a:cs typeface="Telegraf Medium"/>
              </a:rPr>
              <a:t>Introduction to Artificial Intelligence</a:t>
            </a:r>
          </a:p>
        </p:txBody>
      </p:sp>
      <p:sp>
        <p:nvSpPr>
          <p:cNvPr id="12" name="TextBox 12">
            <a:extLst>
              <a:ext uri="{FF2B5EF4-FFF2-40B4-BE49-F238E27FC236}">
                <a16:creationId xmlns:a16="http://schemas.microsoft.com/office/drawing/2014/main" id="{7C99F3C4-723B-4EF6-8A2F-F279B1FD30B8}"/>
              </a:ext>
            </a:extLst>
          </p:cNvPr>
          <p:cNvSpPr>
            <a:spLocks noGrp="1"/>
          </p:cNvSpPr>
          <p:nvPr/>
        </p:nvSpPr>
        <p:spPr>
          <a:xfrm>
            <a:off x="1355583" y="7877903"/>
            <a:ext cx="6421826" cy="914033"/>
          </a:xfrm>
          <a:prstGeom prst="rect">
            <a:avLst/>
          </a:prstGeom>
        </p:spPr>
        <p:txBody>
          <a:bodyPr lIns="0" tIns="0" rIns="0" bIns="0" anchor="t">
            <a:spAutoFit/>
          </a:bodyPr>
          <a:lstStyle/>
          <a:p>
            <a:pPr algn="l">
              <a:lnSpc>
                <a:spcPts val="3599"/>
              </a:lnSpc>
              <a:buNone/>
            </a:pPr>
            <a:r>
              <a:rPr lang="es-419" sz="2999" dirty="0">
                <a:solidFill>
                  <a:srgbClr val="1B1B1B"/>
                </a:solidFill>
                <a:latin typeface="Helvetica World"/>
                <a:ea typeface="Helvetica World"/>
                <a:cs typeface="Helvetica World"/>
              </a:rPr>
              <a:t>Daniel Riofrío</a:t>
            </a:r>
          </a:p>
          <a:p>
            <a:pPr algn="l">
              <a:lnSpc>
                <a:spcPts val="3599"/>
              </a:lnSpc>
              <a:buNone/>
            </a:pPr>
            <a:r>
              <a:rPr lang="es-419" sz="2999" dirty="0">
                <a:solidFill>
                  <a:srgbClr val="1B1B1B"/>
                </a:solidFill>
                <a:latin typeface="Helvetica World"/>
                <a:ea typeface="Helvetica World"/>
                <a:cs typeface="Helvetica World"/>
              </a:rPr>
              <a:t>Thanks to Luciana Valdivieso</a:t>
            </a:r>
            <a:endParaRPr sz="2999" dirty="0">
              <a:solidFill>
                <a:srgbClr val="1B1B1B"/>
              </a:solidFill>
              <a:latin typeface="Helvetica World"/>
              <a:ea typeface="Helvetica World"/>
              <a:cs typeface="Helvetica World"/>
            </a:endParaRPr>
          </a:p>
        </p:txBody>
      </p:sp>
    </p:spTree>
    <p:extLst>
      <p:ext uri="{BB962C8B-B14F-4D97-AF65-F5344CB8AC3E}">
        <p14:creationId xmlns:p14="http://schemas.microsoft.com/office/powerpoint/2010/main" val="1254391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D153FA9D-33E5-4ECF-8BF2-3363D442EB2C}"/>
              </a:ext>
            </a:extLst>
          </p:cNvPr>
          <p:cNvSpPr>
            <a:spLocks noGrp="1"/>
          </p:cNvSpPr>
          <p:nvPr/>
        </p:nvSpPr>
        <p:spPr>
          <a:xfrm flipH="1">
            <a:off x="4305672" y="9395703"/>
            <a:ext cx="222105" cy="172434"/>
          </a:xfrm>
          <a:custGeom>
            <a:avLst/>
            <a:gdLst/>
            <a:ahLst/>
            <a:cxnLst/>
            <a:rect l="l" t="t" r="r" b="b"/>
            <a:pathLst>
              <a:path w="222105" h="172434">
                <a:moveTo>
                  <a:pt x="222104" y="0"/>
                </a:moveTo>
                <a:lnTo>
                  <a:pt x="0" y="0"/>
                </a:lnTo>
                <a:lnTo>
                  <a:pt x="0" y="172434"/>
                </a:lnTo>
                <a:lnTo>
                  <a:pt x="222104" y="172434"/>
                </a:lnTo>
                <a:lnTo>
                  <a:pt x="22210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4" name="Freeform 4">
            <a:extLst>
              <a:ext uri="{FF2B5EF4-FFF2-40B4-BE49-F238E27FC236}">
                <a16:creationId xmlns:a16="http://schemas.microsoft.com/office/drawing/2014/main" id="{6BAE5C05-DB2A-40F4-8265-06016C2A038C}"/>
              </a:ext>
            </a:extLst>
          </p:cNvPr>
          <p:cNvSpPr>
            <a:spLocks noGrp="1"/>
          </p:cNvSpPr>
          <p:nvPr/>
        </p:nvSpPr>
        <p:spPr>
          <a:xfrm>
            <a:off x="4416725" y="573090"/>
            <a:ext cx="12135480" cy="4792966"/>
          </a:xfrm>
          <a:custGeom>
            <a:avLst/>
            <a:gdLst/>
            <a:ahLst/>
            <a:cxnLst/>
            <a:rect l="l" t="t" r="r" b="b"/>
            <a:pathLst>
              <a:path w="3196176" h="1262345">
                <a:moveTo>
                  <a:pt x="19139" y="0"/>
                </a:moveTo>
                <a:lnTo>
                  <a:pt x="3177037" y="0"/>
                </a:lnTo>
                <a:cubicBezTo>
                  <a:pt x="3182113" y="0"/>
                  <a:pt x="3186981" y="2016"/>
                  <a:pt x="3190570" y="5606"/>
                </a:cubicBezTo>
                <a:cubicBezTo>
                  <a:pt x="3194159" y="9195"/>
                  <a:pt x="3196176" y="14063"/>
                  <a:pt x="3196176" y="19139"/>
                </a:cubicBezTo>
                <a:lnTo>
                  <a:pt x="3196176" y="1243206"/>
                </a:lnTo>
                <a:cubicBezTo>
                  <a:pt x="3196176" y="1248282"/>
                  <a:pt x="3194159" y="1253150"/>
                  <a:pt x="3190570" y="1256739"/>
                </a:cubicBezTo>
                <a:cubicBezTo>
                  <a:pt x="3186981" y="1260328"/>
                  <a:pt x="3182113" y="1262345"/>
                  <a:pt x="3177037" y="1262345"/>
                </a:cubicBezTo>
                <a:lnTo>
                  <a:pt x="19139" y="1262345"/>
                </a:lnTo>
                <a:cubicBezTo>
                  <a:pt x="14063" y="1262345"/>
                  <a:pt x="9195" y="1260328"/>
                  <a:pt x="5606" y="1256739"/>
                </a:cubicBezTo>
                <a:cubicBezTo>
                  <a:pt x="2016" y="1253150"/>
                  <a:pt x="0" y="1248282"/>
                  <a:pt x="0" y="1243206"/>
                </a:cubicBezTo>
                <a:lnTo>
                  <a:pt x="0" y="19139"/>
                </a:lnTo>
                <a:cubicBezTo>
                  <a:pt x="0" y="14063"/>
                  <a:pt x="2016" y="9195"/>
                  <a:pt x="5606" y="5606"/>
                </a:cubicBezTo>
                <a:cubicBezTo>
                  <a:pt x="9195" y="2016"/>
                  <a:pt x="14063" y="0"/>
                  <a:pt x="19139" y="0"/>
                </a:cubicBezTo>
                <a:close/>
              </a:path>
            </a:pathLst>
          </a:custGeom>
          <a:solidFill>
            <a:srgbClr val="FFFFFF"/>
          </a:solidFill>
          <a:ln w="19050">
            <a:solidFill>
              <a:srgbClr val="A6A6A6"/>
            </a:solidFill>
            <a:prstDash val="solid"/>
          </a:ln>
        </p:spPr>
        <p:txBody>
          <a:bodyPr/>
          <a:lstStyle/>
          <a:p>
            <a:endParaRPr lang="en-EC"/>
          </a:p>
        </p:txBody>
      </p:sp>
      <p:sp>
        <p:nvSpPr>
          <p:cNvPr id="5" name="TextBox 5">
            <a:extLst>
              <a:ext uri="{FF2B5EF4-FFF2-40B4-BE49-F238E27FC236}">
                <a16:creationId xmlns:a16="http://schemas.microsoft.com/office/drawing/2014/main" id="{419F0822-7926-4B66-8450-B4180D20EA18}"/>
              </a:ext>
            </a:extLst>
          </p:cNvPr>
          <p:cNvSpPr>
            <a:spLocks noGrp="1"/>
          </p:cNvSpPr>
          <p:nvPr/>
        </p:nvSpPr>
        <p:spPr>
          <a:xfrm>
            <a:off x="4416725" y="428430"/>
            <a:ext cx="12135480" cy="4937626"/>
          </a:xfrm>
          <a:prstGeom prst="rect">
            <a:avLst/>
          </a:prstGeom>
        </p:spPr>
        <p:txBody>
          <a:bodyPr lIns="50800" tIns="50800" rIns="50800" bIns="50800" anchor="ctr"/>
          <a:lstStyle/>
          <a:p>
            <a:pPr algn="ctr">
              <a:lnSpc>
                <a:spcPts val="2659"/>
              </a:lnSpc>
              <a:buNone/>
            </a:pPr>
            <a:endParaRPr/>
          </a:p>
        </p:txBody>
      </p:sp>
      <p:sp>
        <p:nvSpPr>
          <p:cNvPr id="7" name="Freeform 7">
            <a:extLst>
              <a:ext uri="{FF2B5EF4-FFF2-40B4-BE49-F238E27FC236}">
                <a16:creationId xmlns:a16="http://schemas.microsoft.com/office/drawing/2014/main" id="{48245B1B-87E0-430C-9B8C-1CAEBB78C788}"/>
              </a:ext>
            </a:extLst>
          </p:cNvPr>
          <p:cNvSpPr>
            <a:spLocks noGrp="1"/>
          </p:cNvSpPr>
          <p:nvPr/>
        </p:nvSpPr>
        <p:spPr>
          <a:xfrm>
            <a:off x="394242" y="542667"/>
            <a:ext cx="5179586" cy="4823389"/>
          </a:xfrm>
          <a:custGeom>
            <a:avLst/>
            <a:gdLst/>
            <a:ahLst/>
            <a:cxnLst/>
            <a:rect l="l" t="t" r="r" b="b"/>
            <a:pathLst>
              <a:path w="6348428" h="5911850">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4"/>
            <a:stretch>
              <a:fillRect l="-19778" r="-19778"/>
            </a:stretch>
          </a:blipFill>
        </p:spPr>
        <p:txBody>
          <a:bodyPr/>
          <a:lstStyle/>
          <a:p>
            <a:endParaRPr lang="en-EC"/>
          </a:p>
        </p:txBody>
      </p:sp>
      <p:sp>
        <p:nvSpPr>
          <p:cNvPr id="8" name="TextBox 8">
            <a:extLst>
              <a:ext uri="{FF2B5EF4-FFF2-40B4-BE49-F238E27FC236}">
                <a16:creationId xmlns:a16="http://schemas.microsoft.com/office/drawing/2014/main" id="{90870661-1AC4-43A9-A3B5-6B96ED785227}"/>
              </a:ext>
            </a:extLst>
          </p:cNvPr>
          <p:cNvSpPr>
            <a:spLocks noGrp="1"/>
          </p:cNvSpPr>
          <p:nvPr/>
        </p:nvSpPr>
        <p:spPr>
          <a:xfrm>
            <a:off x="961226" y="7244488"/>
            <a:ext cx="5179586" cy="2323649"/>
          </a:xfrm>
          <a:prstGeom prst="rect">
            <a:avLst/>
          </a:prstGeom>
        </p:spPr>
        <p:txBody>
          <a:bodyPr wrap="square" lIns="0" tIns="0" rIns="0" bIns="0" anchor="t">
            <a:spAutoFit/>
          </a:bodyPr>
          <a:lstStyle/>
          <a:p>
            <a:pPr algn="l">
              <a:lnSpc>
                <a:spcPts val="8976"/>
              </a:lnSpc>
              <a:buNone/>
            </a:pPr>
            <a:r>
              <a:rPr sz="8976" b="1" dirty="0">
                <a:solidFill>
                  <a:srgbClr val="1B1B1B"/>
                </a:solidFill>
                <a:latin typeface="Telegraf Medium"/>
                <a:ea typeface="Telegraf Medium"/>
                <a:cs typeface="Telegraf Medium"/>
              </a:rPr>
              <a:t>Initial Ideas</a:t>
            </a:r>
          </a:p>
        </p:txBody>
      </p:sp>
      <p:sp>
        <p:nvSpPr>
          <p:cNvPr id="9" name="TextBox 9">
            <a:extLst>
              <a:ext uri="{FF2B5EF4-FFF2-40B4-BE49-F238E27FC236}">
                <a16:creationId xmlns:a16="http://schemas.microsoft.com/office/drawing/2014/main" id="{C94C6DE9-7EF4-4B80-BA65-9DD7D0EBA95C}"/>
              </a:ext>
            </a:extLst>
          </p:cNvPr>
          <p:cNvSpPr>
            <a:spLocks noGrp="1"/>
          </p:cNvSpPr>
          <p:nvPr/>
        </p:nvSpPr>
        <p:spPr>
          <a:xfrm>
            <a:off x="6399147" y="724499"/>
            <a:ext cx="10153057" cy="4828031"/>
          </a:xfrm>
          <a:prstGeom prst="rect">
            <a:avLst/>
          </a:prstGeom>
        </p:spPr>
        <p:txBody>
          <a:bodyPr wrap="square" lIns="0" tIns="0" rIns="0" bIns="0" anchor="t">
            <a:spAutoFit/>
          </a:bodyPr>
          <a:lstStyle/>
          <a:p>
            <a:pPr algn="l">
              <a:lnSpc>
                <a:spcPts val="4230"/>
              </a:lnSpc>
              <a:buNone/>
            </a:pPr>
            <a:r>
              <a:rPr sz="3000" b="1" dirty="0">
                <a:solidFill>
                  <a:srgbClr val="1B1B1B"/>
                </a:solidFill>
                <a:latin typeface="Helvetica World Bold"/>
                <a:ea typeface="Helvetica World Bold"/>
                <a:cs typeface="Helvetica World Bold"/>
              </a:rPr>
              <a:t>What do we mean by intelligence?</a:t>
            </a:r>
          </a:p>
          <a:p>
            <a:pPr marL="647706" indent="-323853" algn="l">
              <a:lnSpc>
                <a:spcPts val="4230"/>
              </a:lnSpc>
              <a:buFont typeface="Arial"/>
              <a:buChar char="•"/>
            </a:pPr>
            <a:r>
              <a:rPr sz="3000" dirty="0">
                <a:solidFill>
                  <a:srgbClr val="1B1B1B"/>
                </a:solidFill>
                <a:latin typeface="Helvetica World"/>
                <a:ea typeface="Helvetica World"/>
                <a:cs typeface="Helvetica World"/>
              </a:rPr>
              <a:t>The ability to understand or comprehend.</a:t>
            </a:r>
          </a:p>
          <a:p>
            <a:pPr marL="647706" indent="-323853" algn="l">
              <a:lnSpc>
                <a:spcPts val="4230"/>
              </a:lnSpc>
              <a:buFont typeface="Arial"/>
              <a:buChar char="•"/>
            </a:pPr>
            <a:r>
              <a:rPr sz="3000" dirty="0">
                <a:solidFill>
                  <a:srgbClr val="1B1B1B"/>
                </a:solidFill>
                <a:latin typeface="Helvetica World"/>
                <a:ea typeface="Helvetica World"/>
                <a:cs typeface="Helvetica World"/>
              </a:rPr>
              <a:t>The ability to solve problems.</a:t>
            </a:r>
          </a:p>
          <a:p>
            <a:pPr marL="647706" indent="-323853" algn="l">
              <a:lnSpc>
                <a:spcPts val="4230"/>
              </a:lnSpc>
              <a:buFont typeface="Arial"/>
              <a:buChar char="•"/>
            </a:pPr>
            <a:r>
              <a:rPr sz="3000" dirty="0">
                <a:solidFill>
                  <a:srgbClr val="1B1B1B"/>
                </a:solidFill>
                <a:latin typeface="Helvetica World"/>
                <a:ea typeface="Helvetica World"/>
                <a:cs typeface="Helvetica World"/>
              </a:rPr>
              <a:t>Knowledge, comprehension, the act of understanding.</a:t>
            </a:r>
          </a:p>
          <a:p>
            <a:pPr marL="647706" indent="-323853" algn="l">
              <a:lnSpc>
                <a:spcPts val="4230"/>
              </a:lnSpc>
              <a:buFont typeface="Arial"/>
              <a:buChar char="•"/>
            </a:pPr>
            <a:r>
              <a:rPr sz="3000" dirty="0">
                <a:solidFill>
                  <a:srgbClr val="1B1B1B"/>
                </a:solidFill>
                <a:latin typeface="Helvetica World"/>
                <a:ea typeface="Helvetica World"/>
                <a:cs typeface="Helvetica World"/>
              </a:rPr>
              <a:t>The meaning that may be assigned to a proposition, saying, or expression.</a:t>
            </a:r>
          </a:p>
          <a:p>
            <a:pPr marL="647706" indent="-323853" algn="l">
              <a:lnSpc>
                <a:spcPts val="4230"/>
              </a:lnSpc>
              <a:buFont typeface="Arial"/>
              <a:buChar char="•"/>
            </a:pPr>
            <a:r>
              <a:rPr sz="3000" dirty="0">
                <a:solidFill>
                  <a:srgbClr val="1B1B1B"/>
                </a:solidFill>
                <a:latin typeface="Helvetica World"/>
                <a:ea typeface="Helvetica World"/>
                <a:cs typeface="Helvetica World"/>
              </a:rPr>
              <a:t>Ability, skill, and experience.</a:t>
            </a:r>
          </a:p>
          <a:p>
            <a:pPr algn="l">
              <a:lnSpc>
                <a:spcPts val="4230"/>
              </a:lnSpc>
              <a:buNone/>
            </a:pPr>
            <a:r>
              <a:rPr sz="3000" b="1" dirty="0">
                <a:solidFill>
                  <a:srgbClr val="1B1B1B"/>
                </a:solidFill>
                <a:latin typeface="Helvetica World Bold"/>
                <a:ea typeface="Helvetica World Bold"/>
                <a:cs typeface="Helvetica World Bold"/>
              </a:rPr>
              <a:t>What do we mean by Artificial Intelligence?</a:t>
            </a:r>
          </a:p>
          <a:p>
            <a:pPr algn="l">
              <a:lnSpc>
                <a:spcPts val="3948"/>
              </a:lnSpc>
              <a:buNone/>
            </a:pPr>
            <a:endParaRPr sz="3000" b="1" dirty="0">
              <a:solidFill>
                <a:srgbClr val="1B1B1B"/>
              </a:solidFill>
              <a:latin typeface="Helvetica World Bold"/>
              <a:ea typeface="Helvetica World Bold"/>
              <a:cs typeface="Helvetica World Bold"/>
            </a:endParaRPr>
          </a:p>
        </p:txBody>
      </p:sp>
      <p:sp>
        <p:nvSpPr>
          <p:cNvPr id="10" name="AutoShape 10">
            <a:extLst>
              <a:ext uri="{FF2B5EF4-FFF2-40B4-BE49-F238E27FC236}">
                <a16:creationId xmlns:a16="http://schemas.microsoft.com/office/drawing/2014/main" id="{455123B0-7286-478D-9764-F5C97376CA75}"/>
              </a:ext>
            </a:extLst>
          </p:cNvPr>
          <p:cNvSpPr>
            <a:spLocks noGrp="1"/>
          </p:cNvSpPr>
          <p:nvPr/>
        </p:nvSpPr>
        <p:spPr>
          <a:xfrm>
            <a:off x="15719622" y="7147810"/>
            <a:ext cx="1163894" cy="0"/>
          </a:xfrm>
          <a:prstGeom prst="line">
            <a:avLst/>
          </a:prstGeom>
          <a:ln w="66675">
            <a:solidFill>
              <a:srgbClr val="000000"/>
            </a:solidFill>
            <a:prstDash val="solid"/>
            <a:headEnd type="none" w="sm" len="sm"/>
            <a:tailEnd type="triangle" w="lg" len="med"/>
          </a:ln>
        </p:spPr>
        <p:txBody>
          <a:bodyPr/>
          <a:lstStyle/>
          <a:p>
            <a:endParaRPr lang="en-EC"/>
          </a:p>
        </p:txBody>
      </p:sp>
      <p:sp>
        <p:nvSpPr>
          <p:cNvPr id="11" name="AutoShape 11">
            <a:extLst>
              <a:ext uri="{FF2B5EF4-FFF2-40B4-BE49-F238E27FC236}">
                <a16:creationId xmlns:a16="http://schemas.microsoft.com/office/drawing/2014/main" id="{3BC369A6-72B1-46F6-9678-CF4E00752451}"/>
              </a:ext>
            </a:extLst>
          </p:cNvPr>
          <p:cNvSpPr>
            <a:spLocks noGrp="1"/>
          </p:cNvSpPr>
          <p:nvPr/>
        </p:nvSpPr>
        <p:spPr>
          <a:xfrm>
            <a:off x="14155900" y="7136815"/>
            <a:ext cx="1563490" cy="10995"/>
          </a:xfrm>
          <a:prstGeom prst="line">
            <a:avLst/>
          </a:prstGeom>
          <a:ln w="66675">
            <a:solidFill>
              <a:srgbClr val="000000"/>
            </a:solidFill>
            <a:prstDash val="solid"/>
            <a:headEnd type="oval" w="lg" len="lg"/>
            <a:tailEnd type="diamond" w="lg" len="lg"/>
          </a:ln>
        </p:spPr>
        <p:txBody>
          <a:bodyPr/>
          <a:lstStyle/>
          <a:p>
            <a:endParaRPr lang="en-EC"/>
          </a:p>
        </p:txBody>
      </p:sp>
      <p:sp>
        <p:nvSpPr>
          <p:cNvPr id="12" name="AutoShape 12">
            <a:extLst>
              <a:ext uri="{FF2B5EF4-FFF2-40B4-BE49-F238E27FC236}">
                <a16:creationId xmlns:a16="http://schemas.microsoft.com/office/drawing/2014/main" id="{BF7F55B4-F3FC-4AA6-A9A6-BD61F96E8F1D}"/>
              </a:ext>
            </a:extLst>
          </p:cNvPr>
          <p:cNvSpPr>
            <a:spLocks noGrp="1"/>
          </p:cNvSpPr>
          <p:nvPr/>
        </p:nvSpPr>
        <p:spPr>
          <a:xfrm>
            <a:off x="11851828" y="7131318"/>
            <a:ext cx="1563490" cy="10995"/>
          </a:xfrm>
          <a:prstGeom prst="line">
            <a:avLst/>
          </a:prstGeom>
          <a:ln w="66675">
            <a:solidFill>
              <a:srgbClr val="000000"/>
            </a:solidFill>
            <a:prstDash val="solid"/>
            <a:headEnd type="oval" w="lg" len="lg"/>
            <a:tailEnd type="oval" w="lg" len="lg"/>
          </a:ln>
        </p:spPr>
        <p:txBody>
          <a:bodyPr/>
          <a:lstStyle/>
          <a:p>
            <a:endParaRPr lang="en-EC"/>
          </a:p>
        </p:txBody>
      </p:sp>
      <p:sp>
        <p:nvSpPr>
          <p:cNvPr id="13" name="AutoShape 13">
            <a:extLst>
              <a:ext uri="{FF2B5EF4-FFF2-40B4-BE49-F238E27FC236}">
                <a16:creationId xmlns:a16="http://schemas.microsoft.com/office/drawing/2014/main" id="{45A3AA1A-4B58-4A82-AAF5-38DA85A8188D}"/>
              </a:ext>
            </a:extLst>
          </p:cNvPr>
          <p:cNvSpPr>
            <a:spLocks noGrp="1"/>
          </p:cNvSpPr>
          <p:nvPr/>
        </p:nvSpPr>
        <p:spPr>
          <a:xfrm>
            <a:off x="9547756" y="7125820"/>
            <a:ext cx="1563490" cy="10995"/>
          </a:xfrm>
          <a:prstGeom prst="line">
            <a:avLst/>
          </a:prstGeom>
          <a:ln w="66675">
            <a:solidFill>
              <a:srgbClr val="000000"/>
            </a:solidFill>
            <a:prstDash val="solid"/>
            <a:headEnd type="oval" w="lg" len="lg"/>
            <a:tailEnd type="oval" w="lg" len="lg"/>
          </a:ln>
        </p:spPr>
        <p:txBody>
          <a:bodyPr/>
          <a:lstStyle/>
          <a:p>
            <a:endParaRPr lang="en-EC"/>
          </a:p>
        </p:txBody>
      </p:sp>
      <p:sp>
        <p:nvSpPr>
          <p:cNvPr id="14" name="AutoShape 14">
            <a:extLst>
              <a:ext uri="{FF2B5EF4-FFF2-40B4-BE49-F238E27FC236}">
                <a16:creationId xmlns:a16="http://schemas.microsoft.com/office/drawing/2014/main" id="{90CE5CA8-EE29-4441-B2B5-AD3DE88D6B67}"/>
              </a:ext>
            </a:extLst>
          </p:cNvPr>
          <p:cNvSpPr>
            <a:spLocks noGrp="1"/>
          </p:cNvSpPr>
          <p:nvPr/>
        </p:nvSpPr>
        <p:spPr>
          <a:xfrm>
            <a:off x="7243684" y="7120323"/>
            <a:ext cx="1563490" cy="10995"/>
          </a:xfrm>
          <a:prstGeom prst="line">
            <a:avLst/>
          </a:prstGeom>
          <a:ln w="66675">
            <a:solidFill>
              <a:srgbClr val="000000"/>
            </a:solidFill>
            <a:prstDash val="solid"/>
            <a:headEnd type="diamond" w="lg" len="lg"/>
            <a:tailEnd type="oval" w="lg" len="lg"/>
          </a:ln>
        </p:spPr>
        <p:txBody>
          <a:bodyPr/>
          <a:lstStyle/>
          <a:p>
            <a:endParaRPr lang="en-EC"/>
          </a:p>
        </p:txBody>
      </p:sp>
      <p:sp>
        <p:nvSpPr>
          <p:cNvPr id="15" name="AutoShape 15">
            <a:extLst>
              <a:ext uri="{FF2B5EF4-FFF2-40B4-BE49-F238E27FC236}">
                <a16:creationId xmlns:a16="http://schemas.microsoft.com/office/drawing/2014/main" id="{4DFC7100-198E-4AF3-8378-1F12C2B28349}"/>
              </a:ext>
            </a:extLst>
          </p:cNvPr>
          <p:cNvSpPr>
            <a:spLocks noGrp="1"/>
          </p:cNvSpPr>
          <p:nvPr/>
        </p:nvSpPr>
        <p:spPr>
          <a:xfrm>
            <a:off x="13415319" y="7147810"/>
            <a:ext cx="740582" cy="0"/>
          </a:xfrm>
          <a:prstGeom prst="line">
            <a:avLst/>
          </a:prstGeom>
          <a:ln w="66675">
            <a:solidFill>
              <a:srgbClr val="000000"/>
            </a:solidFill>
            <a:prstDash val="solid"/>
            <a:headEnd type="none" w="sm" len="sm"/>
            <a:tailEnd type="none" w="sm" len="sm"/>
          </a:ln>
        </p:spPr>
        <p:txBody>
          <a:bodyPr/>
          <a:lstStyle/>
          <a:p>
            <a:endParaRPr lang="en-EC"/>
          </a:p>
        </p:txBody>
      </p:sp>
      <p:sp>
        <p:nvSpPr>
          <p:cNvPr id="16" name="AutoShape 16">
            <a:extLst>
              <a:ext uri="{FF2B5EF4-FFF2-40B4-BE49-F238E27FC236}">
                <a16:creationId xmlns:a16="http://schemas.microsoft.com/office/drawing/2014/main" id="{D92D2DAF-32FE-497B-8B70-DC1BE6141737}"/>
              </a:ext>
            </a:extLst>
          </p:cNvPr>
          <p:cNvSpPr>
            <a:spLocks noGrp="1"/>
          </p:cNvSpPr>
          <p:nvPr/>
        </p:nvSpPr>
        <p:spPr>
          <a:xfrm>
            <a:off x="11111247" y="7147810"/>
            <a:ext cx="740582" cy="0"/>
          </a:xfrm>
          <a:prstGeom prst="line">
            <a:avLst/>
          </a:prstGeom>
          <a:ln w="66675">
            <a:solidFill>
              <a:srgbClr val="000000"/>
            </a:solidFill>
            <a:prstDash val="solid"/>
            <a:headEnd type="none" w="sm" len="sm"/>
            <a:tailEnd type="none" w="sm" len="sm"/>
          </a:ln>
        </p:spPr>
        <p:txBody>
          <a:bodyPr/>
          <a:lstStyle/>
          <a:p>
            <a:endParaRPr lang="en-EC"/>
          </a:p>
        </p:txBody>
      </p:sp>
      <p:sp>
        <p:nvSpPr>
          <p:cNvPr id="17" name="AutoShape 17">
            <a:extLst>
              <a:ext uri="{FF2B5EF4-FFF2-40B4-BE49-F238E27FC236}">
                <a16:creationId xmlns:a16="http://schemas.microsoft.com/office/drawing/2014/main" id="{88AF1AEA-AB63-45F2-8BA3-3E3BF46278D2}"/>
              </a:ext>
            </a:extLst>
          </p:cNvPr>
          <p:cNvSpPr>
            <a:spLocks noGrp="1"/>
          </p:cNvSpPr>
          <p:nvPr/>
        </p:nvSpPr>
        <p:spPr>
          <a:xfrm>
            <a:off x="8807175" y="7147810"/>
            <a:ext cx="740582" cy="0"/>
          </a:xfrm>
          <a:prstGeom prst="line">
            <a:avLst/>
          </a:prstGeom>
          <a:ln w="66675">
            <a:solidFill>
              <a:srgbClr val="000000"/>
            </a:solidFill>
            <a:prstDash val="solid"/>
            <a:headEnd type="none" w="sm" len="sm"/>
            <a:tailEnd type="none" w="sm" len="sm"/>
          </a:ln>
        </p:spPr>
        <p:txBody>
          <a:bodyPr/>
          <a:lstStyle/>
          <a:p>
            <a:endParaRPr lang="en-EC"/>
          </a:p>
        </p:txBody>
      </p:sp>
      <p:sp>
        <p:nvSpPr>
          <p:cNvPr id="18" name="TextBox 18">
            <a:extLst>
              <a:ext uri="{FF2B5EF4-FFF2-40B4-BE49-F238E27FC236}">
                <a16:creationId xmlns:a16="http://schemas.microsoft.com/office/drawing/2014/main" id="{8F9A8AB3-02F4-4E65-9976-BF96B7AA8DAD}"/>
              </a:ext>
            </a:extLst>
          </p:cNvPr>
          <p:cNvSpPr>
            <a:spLocks noGrp="1"/>
          </p:cNvSpPr>
          <p:nvPr/>
        </p:nvSpPr>
        <p:spPr>
          <a:xfrm>
            <a:off x="6845786" y="6205475"/>
            <a:ext cx="1323321" cy="520065"/>
          </a:xfrm>
          <a:prstGeom prst="rect">
            <a:avLst/>
          </a:prstGeom>
        </p:spPr>
        <p:txBody>
          <a:bodyPr lIns="0" tIns="0" rIns="0" bIns="0" anchor="t">
            <a:spAutoFit/>
          </a:bodyPr>
          <a:lstStyle/>
          <a:p>
            <a:pPr algn="l">
              <a:lnSpc>
                <a:spcPts val="3600"/>
              </a:lnSpc>
              <a:buNone/>
            </a:pPr>
            <a:r>
              <a:rPr sz="3600" b="1">
                <a:solidFill>
                  <a:srgbClr val="1B1B1B"/>
                </a:solidFill>
                <a:latin typeface="Telegraf Bold"/>
                <a:ea typeface="Telegraf Bold"/>
                <a:cs typeface="Telegraf Bold"/>
              </a:rPr>
              <a:t>1700</a:t>
            </a:r>
          </a:p>
        </p:txBody>
      </p:sp>
      <p:sp>
        <p:nvSpPr>
          <p:cNvPr id="19" name="TextBox 19">
            <a:extLst>
              <a:ext uri="{FF2B5EF4-FFF2-40B4-BE49-F238E27FC236}">
                <a16:creationId xmlns:a16="http://schemas.microsoft.com/office/drawing/2014/main" id="{91A72606-B58E-4E91-8116-2361B4B442D7}"/>
              </a:ext>
            </a:extLst>
          </p:cNvPr>
          <p:cNvSpPr>
            <a:spLocks noGrp="1"/>
          </p:cNvSpPr>
          <p:nvPr/>
        </p:nvSpPr>
        <p:spPr>
          <a:xfrm>
            <a:off x="15057730" y="6205475"/>
            <a:ext cx="1323321" cy="520065"/>
          </a:xfrm>
          <a:prstGeom prst="rect">
            <a:avLst/>
          </a:prstGeom>
        </p:spPr>
        <p:txBody>
          <a:bodyPr lIns="0" tIns="0" rIns="0" bIns="0" anchor="t">
            <a:spAutoFit/>
          </a:bodyPr>
          <a:lstStyle/>
          <a:p>
            <a:pPr algn="l">
              <a:lnSpc>
                <a:spcPts val="3600"/>
              </a:lnSpc>
              <a:buNone/>
            </a:pPr>
            <a:r>
              <a:rPr sz="3600" b="1">
                <a:solidFill>
                  <a:srgbClr val="1B1B1B"/>
                </a:solidFill>
                <a:latin typeface="Telegraf Bold"/>
                <a:ea typeface="Telegraf Bold"/>
                <a:cs typeface="Telegraf Bold"/>
              </a:rPr>
              <a:t>2026</a:t>
            </a:r>
          </a:p>
        </p:txBody>
      </p:sp>
      <p:sp>
        <p:nvSpPr>
          <p:cNvPr id="20" name="TextBox 20">
            <a:extLst>
              <a:ext uri="{FF2B5EF4-FFF2-40B4-BE49-F238E27FC236}">
                <a16:creationId xmlns:a16="http://schemas.microsoft.com/office/drawing/2014/main" id="{DFEAD592-1EA4-4F78-A233-409184950BEE}"/>
              </a:ext>
            </a:extLst>
          </p:cNvPr>
          <p:cNvSpPr>
            <a:spLocks noGrp="1"/>
          </p:cNvSpPr>
          <p:nvPr/>
        </p:nvSpPr>
        <p:spPr>
          <a:xfrm>
            <a:off x="8644413" y="6065775"/>
            <a:ext cx="1323321" cy="808990"/>
          </a:xfrm>
          <a:prstGeom prst="rect">
            <a:avLst/>
          </a:prstGeom>
        </p:spPr>
        <p:txBody>
          <a:bodyPr lIns="0" tIns="0" rIns="0" bIns="0" anchor="t">
            <a:spAutoFit/>
          </a:bodyPr>
          <a:lstStyle/>
          <a:p>
            <a:pPr algn="l">
              <a:lnSpc>
                <a:spcPts val="5600"/>
              </a:lnSpc>
              <a:buNone/>
            </a:pPr>
            <a:r>
              <a:rPr sz="5600" b="1">
                <a:solidFill>
                  <a:srgbClr val="1B1B1B"/>
                </a:solidFill>
                <a:latin typeface="Telegraf Bold"/>
                <a:ea typeface="Telegraf Bold"/>
                <a:cs typeface="Telegraf Bold"/>
              </a:rPr>
              <a:t>.  .  .</a:t>
            </a:r>
          </a:p>
        </p:txBody>
      </p:sp>
      <p:sp>
        <p:nvSpPr>
          <p:cNvPr id="21" name="TextBox 21">
            <a:extLst>
              <a:ext uri="{FF2B5EF4-FFF2-40B4-BE49-F238E27FC236}">
                <a16:creationId xmlns:a16="http://schemas.microsoft.com/office/drawing/2014/main" id="{35A4AB5B-2BA7-4FF6-929F-2513354AEED8}"/>
              </a:ext>
            </a:extLst>
          </p:cNvPr>
          <p:cNvSpPr>
            <a:spLocks noGrp="1"/>
          </p:cNvSpPr>
          <p:nvPr/>
        </p:nvSpPr>
        <p:spPr>
          <a:xfrm>
            <a:off x="10951758" y="6065775"/>
            <a:ext cx="1323321" cy="808990"/>
          </a:xfrm>
          <a:prstGeom prst="rect">
            <a:avLst/>
          </a:prstGeom>
        </p:spPr>
        <p:txBody>
          <a:bodyPr lIns="0" tIns="0" rIns="0" bIns="0" anchor="t">
            <a:spAutoFit/>
          </a:bodyPr>
          <a:lstStyle/>
          <a:p>
            <a:pPr algn="l">
              <a:lnSpc>
                <a:spcPts val="5600"/>
              </a:lnSpc>
              <a:buNone/>
            </a:pPr>
            <a:r>
              <a:rPr sz="5600" b="1">
                <a:solidFill>
                  <a:srgbClr val="1B1B1B"/>
                </a:solidFill>
                <a:latin typeface="Telegraf Bold"/>
                <a:ea typeface="Telegraf Bold"/>
                <a:cs typeface="Telegraf Bold"/>
              </a:rPr>
              <a:t>.  .  .</a:t>
            </a:r>
          </a:p>
        </p:txBody>
      </p:sp>
      <p:sp>
        <p:nvSpPr>
          <p:cNvPr id="22" name="TextBox 22">
            <a:extLst>
              <a:ext uri="{FF2B5EF4-FFF2-40B4-BE49-F238E27FC236}">
                <a16:creationId xmlns:a16="http://schemas.microsoft.com/office/drawing/2014/main" id="{65CBADDB-0E7F-4B1B-A175-1A109B8E53E0}"/>
              </a:ext>
            </a:extLst>
          </p:cNvPr>
          <p:cNvSpPr>
            <a:spLocks noGrp="1"/>
          </p:cNvSpPr>
          <p:nvPr/>
        </p:nvSpPr>
        <p:spPr>
          <a:xfrm>
            <a:off x="13256154" y="6065775"/>
            <a:ext cx="1323321" cy="808990"/>
          </a:xfrm>
          <a:prstGeom prst="rect">
            <a:avLst/>
          </a:prstGeom>
        </p:spPr>
        <p:txBody>
          <a:bodyPr lIns="0" tIns="0" rIns="0" bIns="0" anchor="t">
            <a:spAutoFit/>
          </a:bodyPr>
          <a:lstStyle/>
          <a:p>
            <a:pPr algn="l">
              <a:lnSpc>
                <a:spcPts val="5600"/>
              </a:lnSpc>
              <a:buNone/>
            </a:pPr>
            <a:r>
              <a:rPr sz="5600" b="1">
                <a:solidFill>
                  <a:srgbClr val="1B1B1B"/>
                </a:solidFill>
                <a:latin typeface="Telegraf Bold"/>
                <a:ea typeface="Telegraf Bold"/>
                <a:cs typeface="Telegraf Bold"/>
              </a:rPr>
              <a:t>.  .  .</a:t>
            </a:r>
          </a:p>
        </p:txBody>
      </p:sp>
      <p:sp>
        <p:nvSpPr>
          <p:cNvPr id="23" name="TextBox 23">
            <a:extLst>
              <a:ext uri="{FF2B5EF4-FFF2-40B4-BE49-F238E27FC236}">
                <a16:creationId xmlns:a16="http://schemas.microsoft.com/office/drawing/2014/main" id="{4F32B8DA-743F-4373-9DE4-3A8267B3C8C8}"/>
              </a:ext>
            </a:extLst>
          </p:cNvPr>
          <p:cNvSpPr>
            <a:spLocks noGrp="1"/>
          </p:cNvSpPr>
          <p:nvPr/>
        </p:nvSpPr>
        <p:spPr>
          <a:xfrm>
            <a:off x="6583731" y="8492805"/>
            <a:ext cx="7801468" cy="809625"/>
          </a:xfrm>
          <a:prstGeom prst="rect">
            <a:avLst/>
          </a:prstGeom>
        </p:spPr>
        <p:txBody>
          <a:bodyPr lIns="0" tIns="0" rIns="0" bIns="0" anchor="t">
            <a:spAutoFit/>
          </a:bodyPr>
          <a:lstStyle/>
          <a:p>
            <a:pPr algn="l">
              <a:lnSpc>
                <a:spcPts val="6299"/>
              </a:lnSpc>
              <a:spcBef>
                <a:spcPct val="0"/>
              </a:spcBef>
              <a:buNone/>
            </a:pPr>
            <a:r>
              <a:rPr sz="4499" dirty="0">
                <a:solidFill>
                  <a:srgbClr val="1B1B1B"/>
                </a:solidFill>
                <a:latin typeface="Telegraf"/>
                <a:ea typeface="Telegraf"/>
                <a:cs typeface="Telegraf"/>
              </a:rPr>
              <a:t>Generative AI LLMs - Agents</a:t>
            </a:r>
          </a:p>
        </p:txBody>
      </p:sp>
      <p:sp>
        <p:nvSpPr>
          <p:cNvPr id="24" name="AutoShape 24">
            <a:extLst>
              <a:ext uri="{FF2B5EF4-FFF2-40B4-BE49-F238E27FC236}">
                <a16:creationId xmlns:a16="http://schemas.microsoft.com/office/drawing/2014/main" id="{6CD56FAD-35E6-4C70-AF4D-D5C6358DEBD3}"/>
              </a:ext>
            </a:extLst>
          </p:cNvPr>
          <p:cNvSpPr>
            <a:spLocks noGrp="1"/>
          </p:cNvSpPr>
          <p:nvPr/>
        </p:nvSpPr>
        <p:spPr>
          <a:xfrm flipV="1">
            <a:off x="15719390" y="7244488"/>
            <a:ext cx="0" cy="1732860"/>
          </a:xfrm>
          <a:prstGeom prst="line">
            <a:avLst/>
          </a:prstGeom>
          <a:ln w="57150">
            <a:solidFill>
              <a:srgbClr val="000000"/>
            </a:solidFill>
            <a:prstDash val="solid"/>
            <a:headEnd type="none" w="sm" len="sm"/>
            <a:tailEnd type="none" w="sm" len="sm"/>
          </a:ln>
        </p:spPr>
        <p:txBody>
          <a:bodyPr/>
          <a:lstStyle/>
          <a:p>
            <a:endParaRPr lang="en-EC"/>
          </a:p>
        </p:txBody>
      </p:sp>
      <p:sp>
        <p:nvSpPr>
          <p:cNvPr id="25" name="AutoShape 25">
            <a:extLst>
              <a:ext uri="{FF2B5EF4-FFF2-40B4-BE49-F238E27FC236}">
                <a16:creationId xmlns:a16="http://schemas.microsoft.com/office/drawing/2014/main" id="{7D4BEB39-71F8-43A5-AED6-AE7F4288CC70}"/>
              </a:ext>
            </a:extLst>
          </p:cNvPr>
          <p:cNvSpPr>
            <a:spLocks noGrp="1"/>
          </p:cNvSpPr>
          <p:nvPr/>
        </p:nvSpPr>
        <p:spPr>
          <a:xfrm>
            <a:off x="14385198" y="8948636"/>
            <a:ext cx="1334191" cy="10995"/>
          </a:xfrm>
          <a:prstGeom prst="line">
            <a:avLst/>
          </a:prstGeom>
          <a:ln w="57150">
            <a:solidFill>
              <a:srgbClr val="000000"/>
            </a:solidFill>
            <a:prstDash val="solid"/>
            <a:headEnd type="none" w="sm" len="sm"/>
            <a:tailEnd type="none" w="sm" len="sm"/>
          </a:ln>
        </p:spPr>
        <p:txBody>
          <a:bodyPr/>
          <a:lstStyle/>
          <a:p>
            <a:endParaRPr lang="en-EC"/>
          </a:p>
        </p:txBody>
      </p:sp>
    </p:spTree>
    <p:extLst>
      <p:ext uri="{BB962C8B-B14F-4D97-AF65-F5344CB8AC3E}">
        <p14:creationId xmlns:p14="http://schemas.microsoft.com/office/powerpoint/2010/main" val="1580706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36C63E5-5F80-4665-A192-F231A5E00479}"/>
              </a:ext>
            </a:extLst>
          </p:cNvPr>
          <p:cNvSpPr>
            <a:spLocks noGrp="1"/>
          </p:cNvSpPr>
          <p:nvPr/>
        </p:nvSpPr>
        <p:spPr>
          <a:xfrm>
            <a:off x="3180170" y="6478659"/>
            <a:ext cx="7282857" cy="2269993"/>
          </a:xfrm>
          <a:custGeom>
            <a:avLst/>
            <a:gdLst/>
            <a:ahLst/>
            <a:cxnLst/>
            <a:rect l="l" t="t" r="r" b="b"/>
            <a:pathLst>
              <a:path w="1918119" h="597858">
                <a:moveTo>
                  <a:pt x="31891" y="0"/>
                </a:moveTo>
                <a:lnTo>
                  <a:pt x="1886228" y="0"/>
                </a:lnTo>
                <a:cubicBezTo>
                  <a:pt x="1903841" y="0"/>
                  <a:pt x="1918119" y="14278"/>
                  <a:pt x="1918119" y="31891"/>
                </a:cubicBezTo>
                <a:lnTo>
                  <a:pt x="1918119" y="565967"/>
                </a:lnTo>
                <a:cubicBezTo>
                  <a:pt x="1918119" y="583580"/>
                  <a:pt x="1903841" y="597858"/>
                  <a:pt x="1886228" y="597858"/>
                </a:cubicBezTo>
                <a:lnTo>
                  <a:pt x="31891" y="597858"/>
                </a:lnTo>
                <a:cubicBezTo>
                  <a:pt x="14278" y="597858"/>
                  <a:pt x="0" y="583580"/>
                  <a:pt x="0" y="565967"/>
                </a:cubicBezTo>
                <a:lnTo>
                  <a:pt x="0" y="31891"/>
                </a:lnTo>
                <a:cubicBezTo>
                  <a:pt x="0" y="14278"/>
                  <a:pt x="14278" y="0"/>
                  <a:pt x="31891"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FCF2E900-BC11-4F01-ACB9-84F1A9CD8B37}"/>
              </a:ext>
            </a:extLst>
          </p:cNvPr>
          <p:cNvSpPr>
            <a:spLocks noGrp="1"/>
          </p:cNvSpPr>
          <p:nvPr/>
        </p:nvSpPr>
        <p:spPr>
          <a:xfrm>
            <a:off x="3180170" y="6333999"/>
            <a:ext cx="7282857" cy="2414653"/>
          </a:xfrm>
          <a:prstGeom prst="rect">
            <a:avLst/>
          </a:prstGeom>
        </p:spPr>
        <p:txBody>
          <a:bodyPr lIns="50800" tIns="50800" rIns="50800" bIns="50800" anchor="ctr"/>
          <a:lstStyle/>
          <a:p>
            <a:pPr algn="ctr">
              <a:lnSpc>
                <a:spcPts val="2659"/>
              </a:lnSpc>
              <a:buNone/>
            </a:pPr>
            <a:endParaRPr/>
          </a:p>
        </p:txBody>
      </p:sp>
      <p:sp>
        <p:nvSpPr>
          <p:cNvPr id="5" name="TextBox 5">
            <a:extLst>
              <a:ext uri="{FF2B5EF4-FFF2-40B4-BE49-F238E27FC236}">
                <a16:creationId xmlns:a16="http://schemas.microsoft.com/office/drawing/2014/main" id="{80766A09-B6EC-40BD-9153-FB5C2215298E}"/>
              </a:ext>
            </a:extLst>
          </p:cNvPr>
          <p:cNvSpPr>
            <a:spLocks noGrp="1"/>
          </p:cNvSpPr>
          <p:nvPr/>
        </p:nvSpPr>
        <p:spPr>
          <a:xfrm>
            <a:off x="3392687" y="5858128"/>
            <a:ext cx="6147874" cy="461962"/>
          </a:xfrm>
          <a:prstGeom prst="rect">
            <a:avLst/>
          </a:prstGeom>
        </p:spPr>
        <p:txBody>
          <a:bodyPr lIns="0" tIns="0" rIns="0" bIns="0" anchor="t">
            <a:spAutoFit/>
          </a:bodyPr>
          <a:lstStyle/>
          <a:p>
            <a:pPr algn="l">
              <a:lnSpc>
                <a:spcPts val="3359"/>
              </a:lnSpc>
              <a:buNone/>
            </a:pPr>
            <a:r>
              <a:rPr sz="2799" b="1" i="1">
                <a:solidFill>
                  <a:srgbClr val="1B1B1B"/>
                </a:solidFill>
                <a:latin typeface="Helvetica World Bold Italics"/>
                <a:ea typeface="Helvetica World Bold Italics"/>
                <a:cs typeface="Helvetica World Bold Italics"/>
              </a:rPr>
              <a:t>1770 — The Mechanical Turk</a:t>
            </a:r>
          </a:p>
        </p:txBody>
      </p:sp>
      <p:sp>
        <p:nvSpPr>
          <p:cNvPr id="7" name="Freeform 7">
            <a:extLst>
              <a:ext uri="{FF2B5EF4-FFF2-40B4-BE49-F238E27FC236}">
                <a16:creationId xmlns:a16="http://schemas.microsoft.com/office/drawing/2014/main" id="{5C2F0416-F72C-41A5-9D64-C3F7FBC2F2C1}"/>
              </a:ext>
            </a:extLst>
          </p:cNvPr>
          <p:cNvSpPr>
            <a:spLocks noGrp="1"/>
          </p:cNvSpPr>
          <p:nvPr/>
        </p:nvSpPr>
        <p:spPr>
          <a:xfrm>
            <a:off x="3180170" y="2964514"/>
            <a:ext cx="7282857" cy="1993596"/>
          </a:xfrm>
          <a:custGeom>
            <a:avLst/>
            <a:gdLst/>
            <a:ahLst/>
            <a:cxnLst/>
            <a:rect l="l" t="t" r="r" b="b"/>
            <a:pathLst>
              <a:path w="1918119" h="525062">
                <a:moveTo>
                  <a:pt x="31891" y="0"/>
                </a:moveTo>
                <a:lnTo>
                  <a:pt x="1886228" y="0"/>
                </a:lnTo>
                <a:cubicBezTo>
                  <a:pt x="1903841" y="0"/>
                  <a:pt x="1918119" y="14278"/>
                  <a:pt x="1918119" y="31891"/>
                </a:cubicBezTo>
                <a:lnTo>
                  <a:pt x="1918119" y="493171"/>
                </a:lnTo>
                <a:cubicBezTo>
                  <a:pt x="1918119" y="510783"/>
                  <a:pt x="1903841" y="525062"/>
                  <a:pt x="1886228" y="525062"/>
                </a:cubicBezTo>
                <a:lnTo>
                  <a:pt x="31891" y="525062"/>
                </a:lnTo>
                <a:cubicBezTo>
                  <a:pt x="14278" y="525062"/>
                  <a:pt x="0" y="510783"/>
                  <a:pt x="0" y="493171"/>
                </a:cubicBezTo>
                <a:lnTo>
                  <a:pt x="0" y="31891"/>
                </a:lnTo>
                <a:cubicBezTo>
                  <a:pt x="0" y="14278"/>
                  <a:pt x="14278" y="0"/>
                  <a:pt x="31891" y="0"/>
                </a:cubicBezTo>
                <a:close/>
              </a:path>
            </a:pathLst>
          </a:custGeom>
          <a:solidFill>
            <a:srgbClr val="FFFFFF"/>
          </a:solidFill>
          <a:ln w="19050">
            <a:solidFill>
              <a:srgbClr val="A6A6A6"/>
            </a:solidFill>
            <a:prstDash val="solid"/>
          </a:ln>
        </p:spPr>
        <p:txBody>
          <a:bodyPr/>
          <a:lstStyle/>
          <a:p>
            <a:endParaRPr lang="en-EC"/>
          </a:p>
        </p:txBody>
      </p:sp>
      <p:sp>
        <p:nvSpPr>
          <p:cNvPr id="8" name="TextBox 8">
            <a:extLst>
              <a:ext uri="{FF2B5EF4-FFF2-40B4-BE49-F238E27FC236}">
                <a16:creationId xmlns:a16="http://schemas.microsoft.com/office/drawing/2014/main" id="{7EE5463D-D9FF-410F-99E6-C9C3B408A1D5}"/>
              </a:ext>
            </a:extLst>
          </p:cNvPr>
          <p:cNvSpPr>
            <a:spLocks noGrp="1"/>
          </p:cNvSpPr>
          <p:nvPr/>
        </p:nvSpPr>
        <p:spPr>
          <a:xfrm>
            <a:off x="3180170" y="2819853"/>
            <a:ext cx="7282857" cy="2138254"/>
          </a:xfrm>
          <a:prstGeom prst="rect">
            <a:avLst/>
          </a:prstGeom>
        </p:spPr>
        <p:txBody>
          <a:bodyPr lIns="50800" tIns="50800" rIns="50800" bIns="50800" anchor="ctr"/>
          <a:lstStyle/>
          <a:p>
            <a:pPr algn="ctr">
              <a:lnSpc>
                <a:spcPts val="2659"/>
              </a:lnSpc>
              <a:buNone/>
            </a:pPr>
            <a:endParaRPr/>
          </a:p>
        </p:txBody>
      </p:sp>
      <p:sp>
        <p:nvSpPr>
          <p:cNvPr id="9" name="AutoShape 9">
            <a:extLst>
              <a:ext uri="{FF2B5EF4-FFF2-40B4-BE49-F238E27FC236}">
                <a16:creationId xmlns:a16="http://schemas.microsoft.com/office/drawing/2014/main" id="{B7FB09AB-AA00-479E-981B-C6DAA4E6A4C9}"/>
              </a:ext>
            </a:extLst>
          </p:cNvPr>
          <p:cNvSpPr>
            <a:spLocks noGrp="1"/>
          </p:cNvSpPr>
          <p:nvPr/>
        </p:nvSpPr>
        <p:spPr>
          <a:xfrm flipH="1" flipV="1">
            <a:off x="1787402" y="0"/>
            <a:ext cx="0" cy="3383247"/>
          </a:xfrm>
          <a:prstGeom prst="line">
            <a:avLst/>
          </a:prstGeom>
          <a:ln w="76200">
            <a:solidFill>
              <a:srgbClr val="000000"/>
            </a:solidFill>
            <a:prstDash val="solid"/>
            <a:headEnd type="diamond" w="lg" len="lg"/>
            <a:tailEnd type="none" w="sm" len="sm"/>
          </a:ln>
        </p:spPr>
        <p:txBody>
          <a:bodyPr/>
          <a:lstStyle/>
          <a:p>
            <a:endParaRPr lang="en-EC"/>
          </a:p>
        </p:txBody>
      </p:sp>
      <p:sp>
        <p:nvSpPr>
          <p:cNvPr id="11" name="Freeform 11">
            <a:extLst>
              <a:ext uri="{FF2B5EF4-FFF2-40B4-BE49-F238E27FC236}">
                <a16:creationId xmlns:a16="http://schemas.microsoft.com/office/drawing/2014/main" id="{7AE2A723-ECE6-4FBD-9B82-E69763025E57}"/>
              </a:ext>
            </a:extLst>
          </p:cNvPr>
          <p:cNvSpPr>
            <a:spLocks noGrp="1"/>
          </p:cNvSpPr>
          <p:nvPr/>
        </p:nvSpPr>
        <p:spPr>
          <a:xfrm>
            <a:off x="12083318" y="1523243"/>
            <a:ext cx="2807272" cy="4334885"/>
          </a:xfrm>
          <a:custGeom>
            <a:avLst/>
            <a:gdLst/>
            <a:ahLst/>
            <a:cxnLst/>
            <a:rect l="l" t="t" r="r" b="b"/>
            <a:pathLst>
              <a:path w="4112260" h="635000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1940" r="-1940"/>
            </a:stretch>
          </a:blipFill>
        </p:spPr>
        <p:txBody>
          <a:bodyPr/>
          <a:lstStyle/>
          <a:p>
            <a:endParaRPr lang="en-EC"/>
          </a:p>
        </p:txBody>
      </p:sp>
      <p:sp>
        <p:nvSpPr>
          <p:cNvPr id="12" name="TextBox 12">
            <a:extLst>
              <a:ext uri="{FF2B5EF4-FFF2-40B4-BE49-F238E27FC236}">
                <a16:creationId xmlns:a16="http://schemas.microsoft.com/office/drawing/2014/main" id="{366AD451-EACC-41FB-AF51-3AED61C59949}"/>
              </a:ext>
            </a:extLst>
          </p:cNvPr>
          <p:cNvSpPr>
            <a:spLocks noGrp="1"/>
          </p:cNvSpPr>
          <p:nvPr/>
        </p:nvSpPr>
        <p:spPr>
          <a:xfrm>
            <a:off x="3392687" y="6775455"/>
            <a:ext cx="7070339" cy="1298048"/>
          </a:xfrm>
          <a:prstGeom prst="rect">
            <a:avLst/>
          </a:prstGeom>
        </p:spPr>
        <p:txBody>
          <a:bodyPr wrap="square" lIns="0" tIns="0" rIns="0" bIns="0" anchor="t">
            <a:spAutoFit/>
          </a:bodyPr>
          <a:lstStyle/>
          <a:p>
            <a:pPr algn="l">
              <a:lnSpc>
                <a:spcPts val="3359"/>
              </a:lnSpc>
              <a:buNone/>
            </a:pPr>
            <a:r>
              <a:rPr sz="2799" dirty="0">
                <a:solidFill>
                  <a:srgbClr val="1B1B1B"/>
                </a:solidFill>
                <a:latin typeface="Helvetica World"/>
                <a:ea typeface="Helvetica World"/>
                <a:cs typeface="Helvetica World"/>
              </a:rPr>
              <a:t>Built by Wolfgang von Kempelen, it was a machine that appeared to play chess at a high level against a human opponent.</a:t>
            </a:r>
          </a:p>
        </p:txBody>
      </p:sp>
      <p:sp>
        <p:nvSpPr>
          <p:cNvPr id="13" name="TextBox 13">
            <a:extLst>
              <a:ext uri="{FF2B5EF4-FFF2-40B4-BE49-F238E27FC236}">
                <a16:creationId xmlns:a16="http://schemas.microsoft.com/office/drawing/2014/main" id="{B134C95D-0A5C-4A1E-B1B9-BB41EB538774}"/>
              </a:ext>
            </a:extLst>
          </p:cNvPr>
          <p:cNvSpPr>
            <a:spLocks noGrp="1"/>
          </p:cNvSpPr>
          <p:nvPr/>
        </p:nvSpPr>
        <p:spPr>
          <a:xfrm>
            <a:off x="1028700" y="3713472"/>
            <a:ext cx="5437923"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1700</a:t>
            </a:r>
          </a:p>
        </p:txBody>
      </p:sp>
      <p:sp>
        <p:nvSpPr>
          <p:cNvPr id="15" name="Freeform 15">
            <a:extLst>
              <a:ext uri="{FF2B5EF4-FFF2-40B4-BE49-F238E27FC236}">
                <a16:creationId xmlns:a16="http://schemas.microsoft.com/office/drawing/2014/main" id="{68EC3C50-F415-4771-99D4-30DDE58BE529}"/>
              </a:ext>
            </a:extLst>
          </p:cNvPr>
          <p:cNvSpPr>
            <a:spLocks noGrp="1"/>
          </p:cNvSpPr>
          <p:nvPr/>
        </p:nvSpPr>
        <p:spPr>
          <a:xfrm>
            <a:off x="11214197" y="6320091"/>
            <a:ext cx="6192417" cy="3565177"/>
          </a:xfrm>
          <a:custGeom>
            <a:avLst/>
            <a:gdLst/>
            <a:ahLst/>
            <a:cxnLst/>
            <a:rect l="l" t="t" r="r" b="b"/>
            <a:pathLst>
              <a:path w="8459470" h="4870393">
                <a:moveTo>
                  <a:pt x="458470" y="0"/>
                </a:moveTo>
                <a:lnTo>
                  <a:pt x="8001000" y="0"/>
                </a:lnTo>
                <a:cubicBezTo>
                  <a:pt x="8255000" y="0"/>
                  <a:pt x="8459470" y="263089"/>
                  <a:pt x="8459470" y="586266"/>
                </a:cubicBezTo>
                <a:lnTo>
                  <a:pt x="8459470" y="2967059"/>
                </a:lnTo>
                <a:cubicBezTo>
                  <a:pt x="8459470" y="3134331"/>
                  <a:pt x="8403590" y="3295108"/>
                  <a:pt x="8304530" y="3405541"/>
                </a:cubicBezTo>
                <a:lnTo>
                  <a:pt x="7141210" y="4722609"/>
                </a:lnTo>
                <a:cubicBezTo>
                  <a:pt x="7057390" y="4818425"/>
                  <a:pt x="6949440" y="4870393"/>
                  <a:pt x="6836410" y="4870393"/>
                </a:cubicBezTo>
                <a:lnTo>
                  <a:pt x="3760470" y="4870393"/>
                </a:lnTo>
                <a:cubicBezTo>
                  <a:pt x="3506470" y="4870393"/>
                  <a:pt x="3302000" y="4607305"/>
                  <a:pt x="3302000" y="4284128"/>
                </a:cubicBezTo>
                <a:lnTo>
                  <a:pt x="3302000" y="4126599"/>
                </a:lnTo>
                <a:cubicBezTo>
                  <a:pt x="3302000" y="3801798"/>
                  <a:pt x="3096260" y="3540333"/>
                  <a:pt x="2843530" y="3540333"/>
                </a:cubicBezTo>
                <a:lnTo>
                  <a:pt x="458470" y="3540333"/>
                </a:lnTo>
                <a:cubicBezTo>
                  <a:pt x="205740" y="3540333"/>
                  <a:pt x="0" y="3277244"/>
                  <a:pt x="0" y="2954066"/>
                </a:cubicBezTo>
                <a:lnTo>
                  <a:pt x="0" y="586266"/>
                </a:lnTo>
                <a:cubicBezTo>
                  <a:pt x="0" y="263089"/>
                  <a:pt x="205740" y="0"/>
                  <a:pt x="458470" y="0"/>
                </a:cubicBezTo>
                <a:close/>
              </a:path>
            </a:pathLst>
          </a:custGeom>
          <a:blipFill>
            <a:blip r:embed="rId4"/>
            <a:stretch>
              <a:fillRect l="-2063" r="-2063" b="-93151"/>
            </a:stretch>
          </a:blipFill>
        </p:spPr>
        <p:txBody>
          <a:bodyPr/>
          <a:lstStyle/>
          <a:p>
            <a:endParaRPr lang="en-EC"/>
          </a:p>
        </p:txBody>
      </p:sp>
      <p:sp>
        <p:nvSpPr>
          <p:cNvPr id="16" name="TextBox 16">
            <a:extLst>
              <a:ext uri="{FF2B5EF4-FFF2-40B4-BE49-F238E27FC236}">
                <a16:creationId xmlns:a16="http://schemas.microsoft.com/office/drawing/2014/main" id="{026F4EDE-49FF-4418-92C0-AEE649E36D56}"/>
              </a:ext>
            </a:extLst>
          </p:cNvPr>
          <p:cNvSpPr>
            <a:spLocks noGrp="1"/>
          </p:cNvSpPr>
          <p:nvPr/>
        </p:nvSpPr>
        <p:spPr>
          <a:xfrm>
            <a:off x="3569144" y="2121055"/>
            <a:ext cx="6147874" cy="461962"/>
          </a:xfrm>
          <a:prstGeom prst="rect">
            <a:avLst/>
          </a:prstGeom>
        </p:spPr>
        <p:txBody>
          <a:bodyPr lIns="0" tIns="0" rIns="0" bIns="0" anchor="t">
            <a:spAutoFit/>
          </a:bodyPr>
          <a:lstStyle/>
          <a:p>
            <a:pPr algn="l">
              <a:lnSpc>
                <a:spcPts val="3359"/>
              </a:lnSpc>
              <a:buNone/>
            </a:pPr>
            <a:r>
              <a:rPr sz="2799" b="1" i="1">
                <a:solidFill>
                  <a:srgbClr val="1B1B1B"/>
                </a:solidFill>
                <a:latin typeface="Helvetica World Bold Italics"/>
                <a:ea typeface="Helvetica World Bold Italics"/>
                <a:cs typeface="Helvetica World Bold Italics"/>
              </a:rPr>
              <a:t>1768–1774 — Mechanical Automata</a:t>
            </a:r>
          </a:p>
        </p:txBody>
      </p:sp>
      <p:sp>
        <p:nvSpPr>
          <p:cNvPr id="17" name="TextBox 17">
            <a:extLst>
              <a:ext uri="{FF2B5EF4-FFF2-40B4-BE49-F238E27FC236}">
                <a16:creationId xmlns:a16="http://schemas.microsoft.com/office/drawing/2014/main" id="{50C1D249-26D8-459A-B99C-AC4A8C624B60}"/>
              </a:ext>
            </a:extLst>
          </p:cNvPr>
          <p:cNvSpPr>
            <a:spLocks noGrp="1"/>
          </p:cNvSpPr>
          <p:nvPr/>
        </p:nvSpPr>
        <p:spPr>
          <a:xfrm>
            <a:off x="3392687" y="3265162"/>
            <a:ext cx="7070340" cy="1734064"/>
          </a:xfrm>
          <a:prstGeom prst="rect">
            <a:avLst/>
          </a:prstGeom>
        </p:spPr>
        <p:txBody>
          <a:bodyPr wrap="square" lIns="0" tIns="0" rIns="0" bIns="0" anchor="t">
            <a:spAutoFit/>
          </a:bodyPr>
          <a:lstStyle/>
          <a:p>
            <a:pPr algn="l">
              <a:lnSpc>
                <a:spcPts val="3359"/>
              </a:lnSpc>
              <a:buNone/>
            </a:pPr>
            <a:r>
              <a:rPr sz="2799" dirty="0">
                <a:solidFill>
                  <a:srgbClr val="1B1B1B"/>
                </a:solidFill>
                <a:latin typeface="Helvetica World"/>
                <a:ea typeface="Helvetica World"/>
                <a:cs typeface="Helvetica World"/>
              </a:rPr>
              <a:t>Built by the Swiss watchmaker Pierre Jaquet-Droz.</a:t>
            </a:r>
          </a:p>
          <a:p>
            <a:pPr algn="l">
              <a:lnSpc>
                <a:spcPts val="3359"/>
              </a:lnSpc>
              <a:buNone/>
            </a:pPr>
            <a:r>
              <a:rPr sz="2799" dirty="0">
                <a:solidFill>
                  <a:srgbClr val="1B1B1B"/>
                </a:solidFill>
                <a:latin typeface="Helvetica World"/>
                <a:ea typeface="Helvetica World"/>
                <a:cs typeface="Helvetica World"/>
              </a:rPr>
              <a:t>The musician, the draughtsman, and the writer</a:t>
            </a:r>
          </a:p>
        </p:txBody>
      </p:sp>
    </p:spTree>
    <p:extLst>
      <p:ext uri="{BB962C8B-B14F-4D97-AF65-F5344CB8AC3E}">
        <p14:creationId xmlns:p14="http://schemas.microsoft.com/office/powerpoint/2010/main" val="12501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D2FEBD4F-40D0-4B85-A0A2-62BF2C0BB7A3}"/>
              </a:ext>
            </a:extLst>
          </p:cNvPr>
          <p:cNvSpPr>
            <a:spLocks noGrp="1"/>
          </p:cNvSpPr>
          <p:nvPr/>
        </p:nvSpPr>
        <p:spPr>
          <a:xfrm>
            <a:off x="3262642" y="6313436"/>
            <a:ext cx="7282857" cy="3681293"/>
          </a:xfrm>
          <a:custGeom>
            <a:avLst/>
            <a:gdLst/>
            <a:ahLst/>
            <a:cxnLst/>
            <a:rect l="l" t="t" r="r" b="b"/>
            <a:pathLst>
              <a:path w="1918119" h="969559">
                <a:moveTo>
                  <a:pt x="31891" y="0"/>
                </a:moveTo>
                <a:lnTo>
                  <a:pt x="1886228" y="0"/>
                </a:lnTo>
                <a:cubicBezTo>
                  <a:pt x="1903841" y="0"/>
                  <a:pt x="1918119" y="14278"/>
                  <a:pt x="1918119" y="31891"/>
                </a:cubicBezTo>
                <a:lnTo>
                  <a:pt x="1918119" y="937668"/>
                </a:lnTo>
                <a:cubicBezTo>
                  <a:pt x="1918119" y="955280"/>
                  <a:pt x="1903841" y="969559"/>
                  <a:pt x="1886228" y="969559"/>
                </a:cubicBezTo>
                <a:lnTo>
                  <a:pt x="31891" y="969559"/>
                </a:lnTo>
                <a:cubicBezTo>
                  <a:pt x="14278" y="969559"/>
                  <a:pt x="0" y="955280"/>
                  <a:pt x="0" y="937668"/>
                </a:cubicBezTo>
                <a:lnTo>
                  <a:pt x="0" y="31891"/>
                </a:lnTo>
                <a:cubicBezTo>
                  <a:pt x="0" y="14278"/>
                  <a:pt x="14278" y="0"/>
                  <a:pt x="31891"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430A9AF4-4417-4B12-8161-A7E669D5C5C2}"/>
              </a:ext>
            </a:extLst>
          </p:cNvPr>
          <p:cNvSpPr>
            <a:spLocks noGrp="1"/>
          </p:cNvSpPr>
          <p:nvPr/>
        </p:nvSpPr>
        <p:spPr>
          <a:xfrm>
            <a:off x="3262642" y="6168776"/>
            <a:ext cx="7282857" cy="3825953"/>
          </a:xfrm>
          <a:prstGeom prst="rect">
            <a:avLst/>
          </a:prstGeom>
        </p:spPr>
        <p:txBody>
          <a:bodyPr lIns="50800" tIns="50800" rIns="50800" bIns="50800" anchor="ctr"/>
          <a:lstStyle/>
          <a:p>
            <a:pPr algn="ctr">
              <a:lnSpc>
                <a:spcPts val="2659"/>
              </a:lnSpc>
              <a:buNone/>
            </a:pPr>
            <a:endParaRPr/>
          </a:p>
        </p:txBody>
      </p:sp>
      <p:sp>
        <p:nvSpPr>
          <p:cNvPr id="5" name="TextBox 5">
            <a:extLst>
              <a:ext uri="{FF2B5EF4-FFF2-40B4-BE49-F238E27FC236}">
                <a16:creationId xmlns:a16="http://schemas.microsoft.com/office/drawing/2014/main" id="{8E94B35F-91E4-4161-9356-F6A2FA272CDF}"/>
              </a:ext>
            </a:extLst>
          </p:cNvPr>
          <p:cNvSpPr>
            <a:spLocks noGrp="1"/>
          </p:cNvSpPr>
          <p:nvPr/>
        </p:nvSpPr>
        <p:spPr>
          <a:xfrm>
            <a:off x="3392687" y="5621424"/>
            <a:ext cx="6692524" cy="461962"/>
          </a:xfrm>
          <a:prstGeom prst="rect">
            <a:avLst/>
          </a:prstGeom>
        </p:spPr>
        <p:txBody>
          <a:bodyPr lIns="0" tIns="0" rIns="0" bIns="0" anchor="t">
            <a:spAutoFit/>
          </a:bodyPr>
          <a:lstStyle/>
          <a:p>
            <a:pPr algn="l">
              <a:lnSpc>
                <a:spcPts val="3359"/>
              </a:lnSpc>
              <a:buNone/>
            </a:pPr>
            <a:r>
              <a:rPr sz="2799" b="1" i="1">
                <a:solidFill>
                  <a:srgbClr val="1B1B1B"/>
                </a:solidFill>
                <a:latin typeface="Helvetica World Bold Italics"/>
                <a:ea typeface="Helvetica World Bold Italics"/>
                <a:cs typeface="Helvetica World Bold Italics"/>
              </a:rPr>
              <a:t>First Universal Computer — ENIAC</a:t>
            </a:r>
          </a:p>
        </p:txBody>
      </p:sp>
      <p:sp>
        <p:nvSpPr>
          <p:cNvPr id="7" name="Freeform 7">
            <a:extLst>
              <a:ext uri="{FF2B5EF4-FFF2-40B4-BE49-F238E27FC236}">
                <a16:creationId xmlns:a16="http://schemas.microsoft.com/office/drawing/2014/main" id="{EB8A38D4-1991-4C0C-B45C-194217A49145}"/>
              </a:ext>
            </a:extLst>
          </p:cNvPr>
          <p:cNvSpPr>
            <a:spLocks noGrp="1"/>
          </p:cNvSpPr>
          <p:nvPr/>
        </p:nvSpPr>
        <p:spPr>
          <a:xfrm>
            <a:off x="3262642" y="1290366"/>
            <a:ext cx="7330251" cy="4018781"/>
          </a:xfrm>
          <a:custGeom>
            <a:avLst/>
            <a:gdLst/>
            <a:ahLst/>
            <a:cxnLst/>
            <a:rect l="l" t="t" r="r" b="b"/>
            <a:pathLst>
              <a:path w="1930601" h="1058445">
                <a:moveTo>
                  <a:pt x="31685" y="0"/>
                </a:moveTo>
                <a:lnTo>
                  <a:pt x="1898916" y="0"/>
                </a:lnTo>
                <a:cubicBezTo>
                  <a:pt x="1916415" y="0"/>
                  <a:pt x="1930601" y="14186"/>
                  <a:pt x="1930601" y="31685"/>
                </a:cubicBezTo>
                <a:lnTo>
                  <a:pt x="1930601" y="1026760"/>
                </a:lnTo>
                <a:cubicBezTo>
                  <a:pt x="1930601" y="1035163"/>
                  <a:pt x="1927263" y="1043222"/>
                  <a:pt x="1921321" y="1049164"/>
                </a:cubicBezTo>
                <a:cubicBezTo>
                  <a:pt x="1915379" y="1055106"/>
                  <a:pt x="1907320" y="1058445"/>
                  <a:pt x="1898916" y="1058445"/>
                </a:cubicBezTo>
                <a:lnTo>
                  <a:pt x="31685" y="1058445"/>
                </a:lnTo>
                <a:cubicBezTo>
                  <a:pt x="23281" y="1058445"/>
                  <a:pt x="15222" y="1055106"/>
                  <a:pt x="9280" y="1049164"/>
                </a:cubicBezTo>
                <a:cubicBezTo>
                  <a:pt x="3338" y="1043222"/>
                  <a:pt x="0" y="1035163"/>
                  <a:pt x="0" y="1026760"/>
                </a:cubicBezTo>
                <a:lnTo>
                  <a:pt x="0" y="31685"/>
                </a:lnTo>
                <a:cubicBezTo>
                  <a:pt x="0" y="23281"/>
                  <a:pt x="3338" y="15222"/>
                  <a:pt x="9280" y="9280"/>
                </a:cubicBezTo>
                <a:cubicBezTo>
                  <a:pt x="15222" y="3338"/>
                  <a:pt x="23281" y="0"/>
                  <a:pt x="31685" y="0"/>
                </a:cubicBezTo>
                <a:close/>
              </a:path>
            </a:pathLst>
          </a:custGeom>
          <a:solidFill>
            <a:srgbClr val="FFFFFF"/>
          </a:solidFill>
          <a:ln w="19050">
            <a:solidFill>
              <a:srgbClr val="A6A6A6"/>
            </a:solidFill>
            <a:prstDash val="solid"/>
          </a:ln>
        </p:spPr>
        <p:txBody>
          <a:bodyPr/>
          <a:lstStyle/>
          <a:p>
            <a:endParaRPr lang="en-EC"/>
          </a:p>
        </p:txBody>
      </p:sp>
      <p:sp>
        <p:nvSpPr>
          <p:cNvPr id="8" name="TextBox 8">
            <a:extLst>
              <a:ext uri="{FF2B5EF4-FFF2-40B4-BE49-F238E27FC236}">
                <a16:creationId xmlns:a16="http://schemas.microsoft.com/office/drawing/2014/main" id="{DAB67E34-472F-463E-B4CC-E8E215B526A2}"/>
              </a:ext>
            </a:extLst>
          </p:cNvPr>
          <p:cNvSpPr>
            <a:spLocks noGrp="1"/>
          </p:cNvSpPr>
          <p:nvPr/>
        </p:nvSpPr>
        <p:spPr>
          <a:xfrm>
            <a:off x="3262642" y="1145706"/>
            <a:ext cx="7330251" cy="4163441"/>
          </a:xfrm>
          <a:prstGeom prst="rect">
            <a:avLst/>
          </a:prstGeom>
        </p:spPr>
        <p:txBody>
          <a:bodyPr lIns="50800" tIns="50800" rIns="50800" bIns="50800" anchor="ctr"/>
          <a:lstStyle/>
          <a:p>
            <a:pPr algn="ctr">
              <a:lnSpc>
                <a:spcPts val="2659"/>
              </a:lnSpc>
              <a:buNone/>
            </a:pPr>
            <a:endParaRPr/>
          </a:p>
        </p:txBody>
      </p:sp>
      <p:sp>
        <p:nvSpPr>
          <p:cNvPr id="9" name="AutoShape 9">
            <a:extLst>
              <a:ext uri="{FF2B5EF4-FFF2-40B4-BE49-F238E27FC236}">
                <a16:creationId xmlns:a16="http://schemas.microsoft.com/office/drawing/2014/main" id="{2DB75594-C257-4439-BD7A-96432C471151}"/>
              </a:ext>
            </a:extLst>
          </p:cNvPr>
          <p:cNvSpPr>
            <a:spLocks noGrp="1"/>
          </p:cNvSpPr>
          <p:nvPr/>
        </p:nvSpPr>
        <p:spPr>
          <a:xfrm flipV="1">
            <a:off x="1825502" y="0"/>
            <a:ext cx="0" cy="2401397"/>
          </a:xfrm>
          <a:prstGeom prst="line">
            <a:avLst/>
          </a:prstGeom>
          <a:ln w="76200">
            <a:solidFill>
              <a:srgbClr val="000000"/>
            </a:solidFill>
            <a:prstDash val="solid"/>
            <a:headEnd type="diamond" w="lg" len="lg"/>
            <a:tailEnd type="none" w="sm" len="sm"/>
          </a:ln>
        </p:spPr>
        <p:txBody>
          <a:bodyPr/>
          <a:lstStyle/>
          <a:p>
            <a:endParaRPr lang="en-EC"/>
          </a:p>
        </p:txBody>
      </p:sp>
      <p:sp>
        <p:nvSpPr>
          <p:cNvPr id="10" name="TextBox 10">
            <a:extLst>
              <a:ext uri="{FF2B5EF4-FFF2-40B4-BE49-F238E27FC236}">
                <a16:creationId xmlns:a16="http://schemas.microsoft.com/office/drawing/2014/main" id="{773BAC18-0CFB-4F32-A186-60CC2937ED03}"/>
              </a:ext>
            </a:extLst>
          </p:cNvPr>
          <p:cNvSpPr>
            <a:spLocks noGrp="1"/>
          </p:cNvSpPr>
          <p:nvPr/>
        </p:nvSpPr>
        <p:spPr>
          <a:xfrm>
            <a:off x="3392688" y="6505648"/>
            <a:ext cx="7105416" cy="3384901"/>
          </a:xfrm>
          <a:prstGeom prst="rect">
            <a:avLst/>
          </a:prstGeom>
        </p:spPr>
        <p:txBody>
          <a:bodyPr wrap="square" lIns="0" tIns="0" rIns="0" bIns="0" anchor="t">
            <a:spAutoFit/>
          </a:bodyPr>
          <a:lstStyle/>
          <a:p>
            <a:pPr algn="l">
              <a:lnSpc>
                <a:spcPts val="3757"/>
              </a:lnSpc>
              <a:buNone/>
            </a:pPr>
            <a:r>
              <a:rPr sz="2700" dirty="0">
                <a:solidFill>
                  <a:srgbClr val="1B1B1B"/>
                </a:solidFill>
                <a:latin typeface="Helvetica World"/>
                <a:ea typeface="Helvetica World"/>
                <a:cs typeface="Helvetica World"/>
              </a:rPr>
              <a:t>Electronic Numerical Integrator and Computer</a:t>
            </a:r>
          </a:p>
          <a:p>
            <a:pPr marL="614593" indent="-307296" algn="l">
              <a:lnSpc>
                <a:spcPts val="3757"/>
              </a:lnSpc>
              <a:buFont typeface="Arial"/>
              <a:buChar char="•"/>
            </a:pPr>
            <a:r>
              <a:rPr sz="2700" dirty="0">
                <a:solidFill>
                  <a:srgbClr val="1B1B1B"/>
                </a:solidFill>
                <a:latin typeface="Helvetica World"/>
                <a:ea typeface="Helvetica World"/>
                <a:cs typeface="Helvetica World"/>
              </a:rPr>
              <a:t>One of the first general-purpose computers.</a:t>
            </a:r>
          </a:p>
          <a:p>
            <a:pPr marL="614593" indent="-307296" algn="l">
              <a:lnSpc>
                <a:spcPts val="3757"/>
              </a:lnSpc>
              <a:buFont typeface="Arial"/>
              <a:buChar char="•"/>
            </a:pPr>
            <a:r>
              <a:rPr sz="2700" dirty="0">
                <a:solidFill>
                  <a:srgbClr val="1B1B1B"/>
                </a:solidFill>
                <a:latin typeface="Helvetica World"/>
                <a:ea typeface="Helvetica World"/>
                <a:cs typeface="Helvetica World"/>
              </a:rPr>
              <a:t>Programmable; used vacuum tubes.</a:t>
            </a:r>
          </a:p>
          <a:p>
            <a:pPr marL="614593" indent="-307296" algn="l">
              <a:lnSpc>
                <a:spcPts val="3757"/>
              </a:lnSpc>
              <a:buFont typeface="Arial"/>
              <a:buChar char="•"/>
            </a:pPr>
            <a:r>
              <a:rPr sz="2700" dirty="0">
                <a:solidFill>
                  <a:srgbClr val="1B1B1B"/>
                </a:solidFill>
                <a:latin typeface="Helvetica World"/>
                <a:ea typeface="Helvetica World"/>
                <a:cs typeface="Helvetica World"/>
              </a:rPr>
              <a:t>Floor area: 170 m²</a:t>
            </a:r>
          </a:p>
          <a:p>
            <a:pPr marL="614593" indent="-307296" algn="l">
              <a:lnSpc>
                <a:spcPts val="3757"/>
              </a:lnSpc>
              <a:buFont typeface="Arial"/>
              <a:buChar char="•"/>
            </a:pPr>
            <a:r>
              <a:rPr sz="2700" dirty="0">
                <a:solidFill>
                  <a:srgbClr val="1B1B1B"/>
                </a:solidFill>
                <a:latin typeface="Helvetica World"/>
                <a:ea typeface="Helvetica World"/>
                <a:cs typeface="Helvetica World"/>
              </a:rPr>
              <a:t>Weight: 27 metric tons.</a:t>
            </a:r>
          </a:p>
          <a:p>
            <a:pPr marL="614593" indent="-307296" algn="l">
              <a:lnSpc>
                <a:spcPts val="3757"/>
              </a:lnSpc>
              <a:buFont typeface="Arial"/>
              <a:buChar char="•"/>
            </a:pPr>
            <a:r>
              <a:rPr sz="2700" dirty="0">
                <a:solidFill>
                  <a:srgbClr val="1B1B1B"/>
                </a:solidFill>
                <a:latin typeface="Helvetica World"/>
                <a:ea typeface="Helvetica World"/>
                <a:cs typeface="Helvetica World"/>
              </a:rPr>
              <a:t>Used for mathematical calculations.</a:t>
            </a:r>
          </a:p>
        </p:txBody>
      </p:sp>
      <p:sp>
        <p:nvSpPr>
          <p:cNvPr id="11" name="TextBox 11">
            <a:extLst>
              <a:ext uri="{FF2B5EF4-FFF2-40B4-BE49-F238E27FC236}">
                <a16:creationId xmlns:a16="http://schemas.microsoft.com/office/drawing/2014/main" id="{3AABF902-7B32-49BA-9C1E-F80F02079C4C}"/>
              </a:ext>
            </a:extLst>
          </p:cNvPr>
          <p:cNvSpPr>
            <a:spLocks noGrp="1"/>
          </p:cNvSpPr>
          <p:nvPr/>
        </p:nvSpPr>
        <p:spPr>
          <a:xfrm>
            <a:off x="1028700" y="3111649"/>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1936</a:t>
            </a:r>
          </a:p>
        </p:txBody>
      </p:sp>
      <p:sp>
        <p:nvSpPr>
          <p:cNvPr id="13" name="Freeform 13">
            <a:extLst>
              <a:ext uri="{FF2B5EF4-FFF2-40B4-BE49-F238E27FC236}">
                <a16:creationId xmlns:a16="http://schemas.microsoft.com/office/drawing/2014/main" id="{A935C621-7A1F-4EE1-BA9F-DF898A631857}"/>
              </a:ext>
            </a:extLst>
          </p:cNvPr>
          <p:cNvSpPr>
            <a:spLocks noGrp="1"/>
          </p:cNvSpPr>
          <p:nvPr/>
        </p:nvSpPr>
        <p:spPr>
          <a:xfrm>
            <a:off x="11214197" y="6083387"/>
            <a:ext cx="6192417" cy="3565177"/>
          </a:xfrm>
          <a:custGeom>
            <a:avLst/>
            <a:gdLst/>
            <a:ahLst/>
            <a:cxnLst/>
            <a:rect l="l" t="t" r="r" b="b"/>
            <a:pathLst>
              <a:path w="8459470" h="4870393">
                <a:moveTo>
                  <a:pt x="458470" y="0"/>
                </a:moveTo>
                <a:lnTo>
                  <a:pt x="8001000" y="0"/>
                </a:lnTo>
                <a:cubicBezTo>
                  <a:pt x="8255000" y="0"/>
                  <a:pt x="8459470" y="263089"/>
                  <a:pt x="8459470" y="586266"/>
                </a:cubicBezTo>
                <a:lnTo>
                  <a:pt x="8459470" y="2967059"/>
                </a:lnTo>
                <a:cubicBezTo>
                  <a:pt x="8459470" y="3134331"/>
                  <a:pt x="8403590" y="3295108"/>
                  <a:pt x="8304530" y="3405541"/>
                </a:cubicBezTo>
                <a:lnTo>
                  <a:pt x="7141210" y="4722609"/>
                </a:lnTo>
                <a:cubicBezTo>
                  <a:pt x="7057390" y="4818425"/>
                  <a:pt x="6949440" y="4870393"/>
                  <a:pt x="6836410" y="4870393"/>
                </a:cubicBezTo>
                <a:lnTo>
                  <a:pt x="3760470" y="4870393"/>
                </a:lnTo>
                <a:cubicBezTo>
                  <a:pt x="3506470" y="4870393"/>
                  <a:pt x="3302000" y="4607305"/>
                  <a:pt x="3302000" y="4284128"/>
                </a:cubicBezTo>
                <a:lnTo>
                  <a:pt x="3302000" y="4126599"/>
                </a:lnTo>
                <a:cubicBezTo>
                  <a:pt x="3302000" y="3801798"/>
                  <a:pt x="3096260" y="3540333"/>
                  <a:pt x="2843530" y="3540333"/>
                </a:cubicBezTo>
                <a:lnTo>
                  <a:pt x="458470" y="3540333"/>
                </a:lnTo>
                <a:cubicBezTo>
                  <a:pt x="205740" y="3540333"/>
                  <a:pt x="0" y="3277244"/>
                  <a:pt x="0" y="2954066"/>
                </a:cubicBezTo>
                <a:lnTo>
                  <a:pt x="0" y="586266"/>
                </a:lnTo>
                <a:cubicBezTo>
                  <a:pt x="0" y="263089"/>
                  <a:pt x="205740" y="0"/>
                  <a:pt x="458470" y="0"/>
                </a:cubicBezTo>
                <a:close/>
              </a:path>
            </a:pathLst>
          </a:custGeom>
          <a:blipFill>
            <a:blip r:embed="rId3"/>
            <a:stretch>
              <a:fillRect t="-8581" b="-8581"/>
            </a:stretch>
          </a:blipFill>
        </p:spPr>
        <p:txBody>
          <a:bodyPr/>
          <a:lstStyle/>
          <a:p>
            <a:endParaRPr lang="en-EC"/>
          </a:p>
        </p:txBody>
      </p:sp>
      <p:sp>
        <p:nvSpPr>
          <p:cNvPr id="14" name="TextBox 14">
            <a:extLst>
              <a:ext uri="{FF2B5EF4-FFF2-40B4-BE49-F238E27FC236}">
                <a16:creationId xmlns:a16="http://schemas.microsoft.com/office/drawing/2014/main" id="{903B276F-1DE1-4BF2-8B56-4C85D93F34BD}"/>
              </a:ext>
            </a:extLst>
          </p:cNvPr>
          <p:cNvSpPr>
            <a:spLocks noGrp="1"/>
          </p:cNvSpPr>
          <p:nvPr/>
        </p:nvSpPr>
        <p:spPr>
          <a:xfrm>
            <a:off x="3665012" y="514078"/>
            <a:ext cx="6147874" cy="461962"/>
          </a:xfrm>
          <a:prstGeom prst="rect">
            <a:avLst/>
          </a:prstGeom>
        </p:spPr>
        <p:txBody>
          <a:bodyPr lIns="0" tIns="0" rIns="0" bIns="0" anchor="t">
            <a:spAutoFit/>
          </a:bodyPr>
          <a:lstStyle/>
          <a:p>
            <a:pPr algn="l">
              <a:lnSpc>
                <a:spcPts val="3359"/>
              </a:lnSpc>
              <a:buNone/>
            </a:pPr>
            <a:r>
              <a:rPr sz="2799" b="1" i="1">
                <a:solidFill>
                  <a:srgbClr val="1B1B1B"/>
                </a:solidFill>
                <a:latin typeface="Helvetica World Bold Italics"/>
                <a:ea typeface="Helvetica World Bold Italics"/>
                <a:cs typeface="Helvetica World Bold Italics"/>
              </a:rPr>
              <a:t>First Computer (Z1)</a:t>
            </a:r>
          </a:p>
        </p:txBody>
      </p:sp>
      <p:sp>
        <p:nvSpPr>
          <p:cNvPr id="15" name="AutoShape 15">
            <a:extLst>
              <a:ext uri="{FF2B5EF4-FFF2-40B4-BE49-F238E27FC236}">
                <a16:creationId xmlns:a16="http://schemas.microsoft.com/office/drawing/2014/main" id="{0B12B9C6-A2B7-40E5-9B9E-CDD76477612A}"/>
              </a:ext>
            </a:extLst>
          </p:cNvPr>
          <p:cNvSpPr>
            <a:spLocks noGrp="1"/>
          </p:cNvSpPr>
          <p:nvPr/>
        </p:nvSpPr>
        <p:spPr>
          <a:xfrm flipV="1">
            <a:off x="1825502" y="4665784"/>
            <a:ext cx="0" cy="2384689"/>
          </a:xfrm>
          <a:prstGeom prst="line">
            <a:avLst/>
          </a:prstGeom>
          <a:ln w="76200">
            <a:solidFill>
              <a:srgbClr val="000000"/>
            </a:solidFill>
            <a:prstDash val="solid"/>
            <a:headEnd type="diamond" w="lg" len="lg"/>
            <a:tailEnd type="none" w="sm" len="sm"/>
          </a:ln>
        </p:spPr>
        <p:txBody>
          <a:bodyPr/>
          <a:lstStyle/>
          <a:p>
            <a:endParaRPr lang="en-EC"/>
          </a:p>
        </p:txBody>
      </p:sp>
      <p:sp>
        <p:nvSpPr>
          <p:cNvPr id="16" name="TextBox 16">
            <a:extLst>
              <a:ext uri="{FF2B5EF4-FFF2-40B4-BE49-F238E27FC236}">
                <a16:creationId xmlns:a16="http://schemas.microsoft.com/office/drawing/2014/main" id="{05A5B908-96C2-4744-A074-1DE24A7B954F}"/>
              </a:ext>
            </a:extLst>
          </p:cNvPr>
          <p:cNvSpPr>
            <a:spLocks noGrp="1"/>
          </p:cNvSpPr>
          <p:nvPr/>
        </p:nvSpPr>
        <p:spPr>
          <a:xfrm>
            <a:off x="1028700" y="7736273"/>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1945</a:t>
            </a:r>
          </a:p>
        </p:txBody>
      </p:sp>
      <p:sp>
        <p:nvSpPr>
          <p:cNvPr id="18" name="Freeform 18">
            <a:extLst>
              <a:ext uri="{FF2B5EF4-FFF2-40B4-BE49-F238E27FC236}">
                <a16:creationId xmlns:a16="http://schemas.microsoft.com/office/drawing/2014/main" id="{F1F0B960-6F2C-4DF2-9A27-F5BE93E29AF9}"/>
              </a:ext>
            </a:extLst>
          </p:cNvPr>
          <p:cNvSpPr>
            <a:spLocks noGrp="1"/>
          </p:cNvSpPr>
          <p:nvPr/>
        </p:nvSpPr>
        <p:spPr>
          <a:xfrm>
            <a:off x="11214197" y="1290366"/>
            <a:ext cx="6192417" cy="3565177"/>
          </a:xfrm>
          <a:custGeom>
            <a:avLst/>
            <a:gdLst/>
            <a:ahLst/>
            <a:cxnLst/>
            <a:rect l="l" t="t" r="r" b="b"/>
            <a:pathLst>
              <a:path w="8459470" h="4870393">
                <a:moveTo>
                  <a:pt x="458470" y="0"/>
                </a:moveTo>
                <a:lnTo>
                  <a:pt x="8001000" y="0"/>
                </a:lnTo>
                <a:cubicBezTo>
                  <a:pt x="8255000" y="0"/>
                  <a:pt x="8459470" y="263089"/>
                  <a:pt x="8459470" y="586266"/>
                </a:cubicBezTo>
                <a:lnTo>
                  <a:pt x="8459470" y="2967059"/>
                </a:lnTo>
                <a:cubicBezTo>
                  <a:pt x="8459470" y="3134331"/>
                  <a:pt x="8403590" y="3295108"/>
                  <a:pt x="8304530" y="3405541"/>
                </a:cubicBezTo>
                <a:lnTo>
                  <a:pt x="7141210" y="4722609"/>
                </a:lnTo>
                <a:cubicBezTo>
                  <a:pt x="7057390" y="4818425"/>
                  <a:pt x="6949440" y="4870393"/>
                  <a:pt x="6836410" y="4870393"/>
                </a:cubicBezTo>
                <a:lnTo>
                  <a:pt x="3760470" y="4870393"/>
                </a:lnTo>
                <a:cubicBezTo>
                  <a:pt x="3506470" y="4870393"/>
                  <a:pt x="3302000" y="4607305"/>
                  <a:pt x="3302000" y="4284128"/>
                </a:cubicBezTo>
                <a:lnTo>
                  <a:pt x="3302000" y="4126599"/>
                </a:lnTo>
                <a:cubicBezTo>
                  <a:pt x="3302000" y="3801798"/>
                  <a:pt x="3096260" y="3540333"/>
                  <a:pt x="2843530" y="3540333"/>
                </a:cubicBezTo>
                <a:lnTo>
                  <a:pt x="458470" y="3540333"/>
                </a:lnTo>
                <a:cubicBezTo>
                  <a:pt x="205740" y="3540333"/>
                  <a:pt x="0" y="3277244"/>
                  <a:pt x="0" y="2954066"/>
                </a:cubicBezTo>
                <a:lnTo>
                  <a:pt x="0" y="586266"/>
                </a:lnTo>
                <a:cubicBezTo>
                  <a:pt x="0" y="263089"/>
                  <a:pt x="205740" y="0"/>
                  <a:pt x="458470" y="0"/>
                </a:cubicBezTo>
                <a:close/>
              </a:path>
            </a:pathLst>
          </a:custGeom>
          <a:blipFill>
            <a:blip r:embed="rId4"/>
            <a:stretch>
              <a:fillRect t="-15055" b="-15055"/>
            </a:stretch>
          </a:blipFill>
        </p:spPr>
        <p:txBody>
          <a:bodyPr/>
          <a:lstStyle/>
          <a:p>
            <a:endParaRPr lang="en-EC"/>
          </a:p>
        </p:txBody>
      </p:sp>
      <p:sp>
        <p:nvSpPr>
          <p:cNvPr id="19" name="TextBox 19">
            <a:extLst>
              <a:ext uri="{FF2B5EF4-FFF2-40B4-BE49-F238E27FC236}">
                <a16:creationId xmlns:a16="http://schemas.microsoft.com/office/drawing/2014/main" id="{9D11F653-319C-4DB7-8F8C-CEA88828ABD2}"/>
              </a:ext>
            </a:extLst>
          </p:cNvPr>
          <p:cNvSpPr>
            <a:spLocks noGrp="1"/>
          </p:cNvSpPr>
          <p:nvPr/>
        </p:nvSpPr>
        <p:spPr>
          <a:xfrm>
            <a:off x="3392687" y="1395560"/>
            <a:ext cx="7022767" cy="3877408"/>
          </a:xfrm>
          <a:prstGeom prst="rect">
            <a:avLst/>
          </a:prstGeom>
        </p:spPr>
        <p:txBody>
          <a:bodyPr lIns="0" tIns="0" rIns="0" bIns="0" anchor="t">
            <a:spAutoFit/>
          </a:bodyPr>
          <a:lstStyle/>
          <a:p>
            <a:pPr marL="614593" indent="-307296" algn="l">
              <a:lnSpc>
                <a:spcPts val="3757"/>
              </a:lnSpc>
              <a:buFont typeface="Arial"/>
              <a:buChar char="•"/>
            </a:pPr>
            <a:r>
              <a:rPr sz="2846" dirty="0">
                <a:solidFill>
                  <a:srgbClr val="1B1B1B"/>
                </a:solidFill>
                <a:latin typeface="Helvetica World"/>
                <a:ea typeface="Helvetica World"/>
                <a:cs typeface="Helvetica World"/>
              </a:rPr>
              <a:t>Designed by Konrad </a:t>
            </a:r>
            <a:r>
              <a:rPr sz="2846" dirty="0" err="1">
                <a:solidFill>
                  <a:srgbClr val="1B1B1B"/>
                </a:solidFill>
                <a:latin typeface="Helvetica World"/>
                <a:ea typeface="Helvetica World"/>
                <a:cs typeface="Helvetica World"/>
              </a:rPr>
              <a:t>Zuse</a:t>
            </a:r>
            <a:r>
              <a:rPr sz="2846" dirty="0">
                <a:solidFill>
                  <a:srgbClr val="1B1B1B"/>
                </a:solidFill>
                <a:latin typeface="Helvetica World"/>
                <a:ea typeface="Helvetica World"/>
                <a:cs typeface="Helvetica World"/>
              </a:rPr>
              <a:t> (Germany).</a:t>
            </a:r>
          </a:p>
          <a:p>
            <a:pPr marL="614593" indent="-307296" algn="l">
              <a:lnSpc>
                <a:spcPts val="3757"/>
              </a:lnSpc>
              <a:buFont typeface="Arial"/>
              <a:buChar char="•"/>
            </a:pPr>
            <a:r>
              <a:rPr sz="2846" dirty="0">
                <a:solidFill>
                  <a:srgbClr val="1B1B1B"/>
                </a:solidFill>
                <a:latin typeface="Helvetica World"/>
                <a:ea typeface="Helvetica World"/>
                <a:cs typeface="Helvetica World"/>
              </a:rPr>
              <a:t>A binary calculator that read the operations it had to perform from punched cards.</a:t>
            </a:r>
          </a:p>
          <a:p>
            <a:pPr marL="614593" indent="-307296" algn="l">
              <a:lnSpc>
                <a:spcPts val="3757"/>
              </a:lnSpc>
              <a:buFont typeface="Arial"/>
              <a:buChar char="•"/>
            </a:pPr>
            <a:r>
              <a:rPr sz="2846" dirty="0">
                <a:solidFill>
                  <a:srgbClr val="1B1B1B"/>
                </a:solidFill>
                <a:latin typeface="Helvetica World"/>
                <a:ea typeface="Helvetica World"/>
                <a:cs typeface="Helvetica World"/>
              </a:rPr>
              <a:t>It could perform addition, subtraction, multiplication, and division</a:t>
            </a:r>
          </a:p>
          <a:p>
            <a:pPr marL="614593" indent="-307296" algn="l">
              <a:lnSpc>
                <a:spcPts val="3757"/>
              </a:lnSpc>
              <a:buFont typeface="Arial"/>
              <a:buChar char="•"/>
            </a:pPr>
            <a:r>
              <a:rPr sz="2846" dirty="0">
                <a:solidFill>
                  <a:srgbClr val="1B1B1B"/>
                </a:solidFill>
                <a:latin typeface="Helvetica World"/>
                <a:ea typeface="Helvetica World"/>
                <a:cs typeface="Helvetica World"/>
              </a:rPr>
              <a:t>Using floating-point arithmetic, and it had storage memory.</a:t>
            </a:r>
          </a:p>
        </p:txBody>
      </p:sp>
    </p:spTree>
    <p:extLst>
      <p:ext uri="{BB962C8B-B14F-4D97-AF65-F5344CB8AC3E}">
        <p14:creationId xmlns:p14="http://schemas.microsoft.com/office/powerpoint/2010/main" val="13367775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273B3998-5207-4E6B-B6FB-547E3F674734}"/>
              </a:ext>
            </a:extLst>
          </p:cNvPr>
          <p:cNvSpPr>
            <a:spLocks noGrp="1"/>
          </p:cNvSpPr>
          <p:nvPr/>
        </p:nvSpPr>
        <p:spPr>
          <a:xfrm>
            <a:off x="6514423" y="4787900"/>
            <a:ext cx="10744877" cy="5255856"/>
          </a:xfrm>
          <a:custGeom>
            <a:avLst/>
            <a:gdLst/>
            <a:ahLst/>
            <a:cxnLst/>
            <a:rect l="l" t="t" r="r" b="b"/>
            <a:pathLst>
              <a:path w="2829926" h="1384258">
                <a:moveTo>
                  <a:pt x="21616" y="0"/>
                </a:moveTo>
                <a:lnTo>
                  <a:pt x="2808311" y="0"/>
                </a:lnTo>
                <a:cubicBezTo>
                  <a:pt x="2820249" y="0"/>
                  <a:pt x="2829926" y="9678"/>
                  <a:pt x="2829926" y="21616"/>
                </a:cubicBezTo>
                <a:lnTo>
                  <a:pt x="2829926" y="1362643"/>
                </a:lnTo>
                <a:cubicBezTo>
                  <a:pt x="2829926" y="1368375"/>
                  <a:pt x="2827649" y="1373874"/>
                  <a:pt x="2823595" y="1377927"/>
                </a:cubicBezTo>
                <a:cubicBezTo>
                  <a:pt x="2819541" y="1381981"/>
                  <a:pt x="2814044" y="1384258"/>
                  <a:pt x="2808311" y="1384258"/>
                </a:cubicBezTo>
                <a:lnTo>
                  <a:pt x="21616" y="1384258"/>
                </a:lnTo>
                <a:cubicBezTo>
                  <a:pt x="15883" y="1384258"/>
                  <a:pt x="10385" y="1381981"/>
                  <a:pt x="6331" y="1377927"/>
                </a:cubicBezTo>
                <a:cubicBezTo>
                  <a:pt x="2277" y="1373874"/>
                  <a:pt x="0" y="1368375"/>
                  <a:pt x="0" y="1362643"/>
                </a:cubicBezTo>
                <a:lnTo>
                  <a:pt x="0" y="21616"/>
                </a:lnTo>
                <a:cubicBezTo>
                  <a:pt x="0" y="15883"/>
                  <a:pt x="2277" y="10385"/>
                  <a:pt x="6331" y="6331"/>
                </a:cubicBezTo>
                <a:cubicBezTo>
                  <a:pt x="10385" y="2277"/>
                  <a:pt x="15883" y="0"/>
                  <a:pt x="21616"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410FE280-CC6A-46AC-86E2-18F93541B2BA}"/>
              </a:ext>
            </a:extLst>
          </p:cNvPr>
          <p:cNvSpPr>
            <a:spLocks noGrp="1"/>
          </p:cNvSpPr>
          <p:nvPr/>
        </p:nvSpPr>
        <p:spPr>
          <a:xfrm>
            <a:off x="6514423" y="4643240"/>
            <a:ext cx="10744877" cy="5400516"/>
          </a:xfrm>
          <a:prstGeom prst="rect">
            <a:avLst/>
          </a:prstGeom>
        </p:spPr>
        <p:txBody>
          <a:bodyPr lIns="50800" tIns="50800" rIns="50800" bIns="50800" anchor="ctr"/>
          <a:lstStyle/>
          <a:p>
            <a:pPr algn="ctr">
              <a:lnSpc>
                <a:spcPts val="2659"/>
              </a:lnSpc>
              <a:buNone/>
            </a:pPr>
            <a:endParaRPr/>
          </a:p>
        </p:txBody>
      </p:sp>
      <p:sp>
        <p:nvSpPr>
          <p:cNvPr id="5" name="AutoShape 5">
            <a:extLst>
              <a:ext uri="{FF2B5EF4-FFF2-40B4-BE49-F238E27FC236}">
                <a16:creationId xmlns:a16="http://schemas.microsoft.com/office/drawing/2014/main" id="{95D0C19E-BD76-40A1-BB6D-078C17800DC0}"/>
              </a:ext>
            </a:extLst>
          </p:cNvPr>
          <p:cNvSpPr>
            <a:spLocks noGrp="1"/>
          </p:cNvSpPr>
          <p:nvPr/>
        </p:nvSpPr>
        <p:spPr>
          <a:xfrm flipV="1">
            <a:off x="1787402" y="0"/>
            <a:ext cx="0" cy="3383247"/>
          </a:xfrm>
          <a:prstGeom prst="line">
            <a:avLst/>
          </a:prstGeom>
          <a:ln w="76200">
            <a:solidFill>
              <a:srgbClr val="000000"/>
            </a:solidFill>
            <a:prstDash val="solid"/>
            <a:headEnd type="diamond" w="lg" len="lg"/>
            <a:tailEnd type="none" w="sm" len="sm"/>
          </a:ln>
        </p:spPr>
        <p:txBody>
          <a:bodyPr/>
          <a:lstStyle/>
          <a:p>
            <a:endParaRPr lang="en-EC"/>
          </a:p>
        </p:txBody>
      </p:sp>
      <p:sp>
        <p:nvSpPr>
          <p:cNvPr id="7" name="Freeform 7">
            <a:extLst>
              <a:ext uri="{FF2B5EF4-FFF2-40B4-BE49-F238E27FC236}">
                <a16:creationId xmlns:a16="http://schemas.microsoft.com/office/drawing/2014/main" id="{03EBD681-449A-4C8D-8A23-9BFA77FB88AD}"/>
              </a:ext>
            </a:extLst>
          </p:cNvPr>
          <p:cNvSpPr>
            <a:spLocks noGrp="1"/>
          </p:cNvSpPr>
          <p:nvPr/>
        </p:nvSpPr>
        <p:spPr>
          <a:xfrm>
            <a:off x="3388800" y="802595"/>
            <a:ext cx="2677712" cy="4134824"/>
          </a:xfrm>
          <a:custGeom>
            <a:avLst/>
            <a:gdLst/>
            <a:ahLst/>
            <a:cxnLst/>
            <a:rect l="l" t="t" r="r" b="b"/>
            <a:pathLst>
              <a:path w="4112260" h="635000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3"/>
            <a:stretch>
              <a:fillRect l="-6572" r="-6572"/>
            </a:stretch>
          </a:blipFill>
        </p:spPr>
        <p:txBody>
          <a:bodyPr/>
          <a:lstStyle/>
          <a:p>
            <a:endParaRPr lang="en-EC"/>
          </a:p>
        </p:txBody>
      </p:sp>
      <p:sp>
        <p:nvSpPr>
          <p:cNvPr id="8" name="Freeform 8">
            <a:extLst>
              <a:ext uri="{FF2B5EF4-FFF2-40B4-BE49-F238E27FC236}">
                <a16:creationId xmlns:a16="http://schemas.microsoft.com/office/drawing/2014/main" id="{5F51C978-3E8E-402F-9EC3-48754183C7EB}"/>
              </a:ext>
            </a:extLst>
          </p:cNvPr>
          <p:cNvSpPr>
            <a:spLocks noGrp="1"/>
          </p:cNvSpPr>
          <p:nvPr/>
        </p:nvSpPr>
        <p:spPr>
          <a:xfrm>
            <a:off x="7410245" y="282279"/>
            <a:ext cx="6786911" cy="4106295"/>
          </a:xfrm>
          <a:custGeom>
            <a:avLst/>
            <a:gdLst/>
            <a:ahLst/>
            <a:cxnLst/>
            <a:rect l="l" t="t" r="r" b="b"/>
            <a:pathLst>
              <a:path w="6786911" h="4106295">
                <a:moveTo>
                  <a:pt x="0" y="0"/>
                </a:moveTo>
                <a:lnTo>
                  <a:pt x="6786911" y="0"/>
                </a:lnTo>
                <a:lnTo>
                  <a:pt x="6786911" y="4106294"/>
                </a:lnTo>
                <a:lnTo>
                  <a:pt x="0" y="4106294"/>
                </a:lnTo>
                <a:lnTo>
                  <a:pt x="0" y="0"/>
                </a:lnTo>
                <a:close/>
              </a:path>
            </a:pathLst>
          </a:custGeom>
          <a:blipFill>
            <a:blip r:embed="rId4"/>
            <a:stretch>
              <a:fillRect/>
            </a:stretch>
          </a:blipFill>
        </p:spPr>
        <p:txBody>
          <a:bodyPr/>
          <a:lstStyle/>
          <a:p>
            <a:endParaRPr lang="en-EC"/>
          </a:p>
        </p:txBody>
      </p:sp>
      <p:sp>
        <p:nvSpPr>
          <p:cNvPr id="9" name="TextBox 9">
            <a:extLst>
              <a:ext uri="{FF2B5EF4-FFF2-40B4-BE49-F238E27FC236}">
                <a16:creationId xmlns:a16="http://schemas.microsoft.com/office/drawing/2014/main" id="{D2A22CD3-DCC8-48FF-BDC9-982DADD2D6DA}"/>
              </a:ext>
            </a:extLst>
          </p:cNvPr>
          <p:cNvSpPr>
            <a:spLocks noGrp="1"/>
          </p:cNvSpPr>
          <p:nvPr/>
        </p:nvSpPr>
        <p:spPr>
          <a:xfrm>
            <a:off x="1028700" y="3713472"/>
            <a:ext cx="191219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1950</a:t>
            </a:r>
          </a:p>
        </p:txBody>
      </p:sp>
      <p:sp>
        <p:nvSpPr>
          <p:cNvPr id="10" name="TextBox 10">
            <a:extLst>
              <a:ext uri="{FF2B5EF4-FFF2-40B4-BE49-F238E27FC236}">
                <a16:creationId xmlns:a16="http://schemas.microsoft.com/office/drawing/2014/main" id="{7AB8803F-EC83-4CA3-A552-35B4A7852CCD}"/>
              </a:ext>
            </a:extLst>
          </p:cNvPr>
          <p:cNvSpPr>
            <a:spLocks noGrp="1"/>
          </p:cNvSpPr>
          <p:nvPr/>
        </p:nvSpPr>
        <p:spPr>
          <a:xfrm>
            <a:off x="1583675" y="6015144"/>
            <a:ext cx="6021334" cy="461962"/>
          </a:xfrm>
          <a:prstGeom prst="rect">
            <a:avLst/>
          </a:prstGeom>
        </p:spPr>
        <p:txBody>
          <a:bodyPr lIns="0" tIns="0" rIns="0" bIns="0" anchor="t">
            <a:spAutoFit/>
          </a:bodyPr>
          <a:lstStyle/>
          <a:p>
            <a:pPr algn="l">
              <a:lnSpc>
                <a:spcPts val="3359"/>
              </a:lnSpc>
              <a:buNone/>
            </a:pPr>
            <a:r>
              <a:rPr sz="2799" b="1" i="1">
                <a:solidFill>
                  <a:srgbClr val="1B1B1B"/>
                </a:solidFill>
                <a:latin typeface="Helvetica World Bold Italics"/>
                <a:ea typeface="Helvetica World Bold Italics"/>
                <a:cs typeface="Helvetica World Bold Italics"/>
              </a:rPr>
              <a:t>Turing Test </a:t>
            </a:r>
          </a:p>
        </p:txBody>
      </p:sp>
      <p:sp>
        <p:nvSpPr>
          <p:cNvPr id="11" name="TextBox 11">
            <a:extLst>
              <a:ext uri="{FF2B5EF4-FFF2-40B4-BE49-F238E27FC236}">
                <a16:creationId xmlns:a16="http://schemas.microsoft.com/office/drawing/2014/main" id="{900D5B4E-3153-4D4F-92BD-D4CC2B06D829}"/>
              </a:ext>
            </a:extLst>
          </p:cNvPr>
          <p:cNvSpPr>
            <a:spLocks noGrp="1"/>
          </p:cNvSpPr>
          <p:nvPr/>
        </p:nvSpPr>
        <p:spPr>
          <a:xfrm>
            <a:off x="6696172" y="4474837"/>
            <a:ext cx="10089890" cy="5816349"/>
          </a:xfrm>
          <a:prstGeom prst="rect">
            <a:avLst/>
          </a:prstGeom>
        </p:spPr>
        <p:txBody>
          <a:bodyPr lIns="0" tIns="0" rIns="0" bIns="0" anchor="t">
            <a:spAutoFit/>
          </a:bodyPr>
          <a:lstStyle/>
          <a:p>
            <a:pPr>
              <a:lnSpc>
                <a:spcPts val="3843"/>
              </a:lnSpc>
              <a:buNone/>
            </a:pPr>
            <a:endParaRPr/>
          </a:p>
          <a:p>
            <a:pPr marL="605760" indent="-302880">
              <a:lnSpc>
                <a:spcPts val="3843"/>
              </a:lnSpc>
              <a:buFont typeface="Arial"/>
              <a:buChar char="•"/>
            </a:pPr>
            <a:r>
              <a:rPr sz="2805">
                <a:solidFill>
                  <a:srgbClr val="1B1B1B"/>
                </a:solidFill>
                <a:latin typeface="Helvetica World"/>
                <a:ea typeface="Helvetica World"/>
                <a:cs typeface="Helvetica World"/>
              </a:rPr>
              <a:t>Components: 2 humans and one computer.</a:t>
            </a:r>
          </a:p>
          <a:p>
            <a:pPr marL="605760" indent="-302880">
              <a:lnSpc>
                <a:spcPts val="3843"/>
              </a:lnSpc>
              <a:buFont typeface="Arial"/>
              <a:buChar char="•"/>
            </a:pPr>
            <a:r>
              <a:rPr sz="2805">
                <a:solidFill>
                  <a:srgbClr val="1B1B1B"/>
                </a:solidFill>
                <a:latin typeface="Helvetica World"/>
                <a:ea typeface="Helvetica World"/>
                <a:cs typeface="Helvetica World"/>
              </a:rPr>
              <a:t>The human interrogator is isolated from both the other human and the computer.</a:t>
            </a:r>
          </a:p>
          <a:p>
            <a:pPr marL="605760" indent="-302880">
              <a:lnSpc>
                <a:spcPts val="3843"/>
              </a:lnSpc>
              <a:buFont typeface="Arial"/>
              <a:buChar char="•"/>
            </a:pPr>
            <a:r>
              <a:rPr sz="2805">
                <a:solidFill>
                  <a:srgbClr val="1B1B1B"/>
                </a:solidFill>
                <a:latin typeface="Helvetica World"/>
                <a:ea typeface="Helvetica World"/>
                <a:cs typeface="Helvetica World"/>
              </a:rPr>
              <a:t>The test allows the interrogator to ask a series of questions through a text terminal and decide whether the conversation is with the computer or the human.</a:t>
            </a:r>
          </a:p>
          <a:p>
            <a:pPr marL="605760" indent="-302880">
              <a:lnSpc>
                <a:spcPts val="3843"/>
              </a:lnSpc>
              <a:buFont typeface="Arial"/>
              <a:buChar char="•"/>
            </a:pPr>
            <a:r>
              <a:rPr sz="2805">
                <a:solidFill>
                  <a:srgbClr val="1B1B1B"/>
                </a:solidFill>
                <a:latin typeface="Helvetica World"/>
                <a:ea typeface="Helvetica World"/>
                <a:cs typeface="Helvetica World"/>
              </a:rPr>
              <a:t>If the interrogator is interacting with the computer and fails to identify it as such, the machine is assumed to be intelligent.</a:t>
            </a:r>
          </a:p>
          <a:p>
            <a:pPr>
              <a:lnSpc>
                <a:spcPts val="3843"/>
              </a:lnSpc>
              <a:buNone/>
            </a:pPr>
            <a:endParaRPr sz="2805">
              <a:solidFill>
                <a:srgbClr val="1B1B1B"/>
              </a:solidFill>
              <a:latin typeface="Helvetica World"/>
              <a:ea typeface="Helvetica World"/>
              <a:cs typeface="Helvetica World"/>
            </a:endParaRPr>
          </a:p>
        </p:txBody>
      </p:sp>
      <p:sp>
        <p:nvSpPr>
          <p:cNvPr id="12" name="TextBox 12">
            <a:extLst>
              <a:ext uri="{FF2B5EF4-FFF2-40B4-BE49-F238E27FC236}">
                <a16:creationId xmlns:a16="http://schemas.microsoft.com/office/drawing/2014/main" id="{0F2D2C10-1CD4-4427-915F-0E1E6CA5A13A}"/>
              </a:ext>
            </a:extLst>
          </p:cNvPr>
          <p:cNvSpPr>
            <a:spLocks noGrp="1"/>
          </p:cNvSpPr>
          <p:nvPr/>
        </p:nvSpPr>
        <p:spPr>
          <a:xfrm>
            <a:off x="1028700" y="6839414"/>
            <a:ext cx="4710035" cy="1257300"/>
          </a:xfrm>
          <a:prstGeom prst="rect">
            <a:avLst/>
          </a:prstGeom>
        </p:spPr>
        <p:txBody>
          <a:bodyPr lIns="0" tIns="0" rIns="0" bIns="0" anchor="t">
            <a:spAutoFit/>
          </a:bodyPr>
          <a:lstStyle/>
          <a:p>
            <a:pPr marL="604513" indent="-302256">
              <a:lnSpc>
                <a:spcPts val="3359"/>
              </a:lnSpc>
              <a:buFont typeface="Arial"/>
              <a:buChar char="•"/>
            </a:pPr>
            <a:r>
              <a:rPr sz="2799">
                <a:solidFill>
                  <a:srgbClr val="1B1B1B"/>
                </a:solidFill>
                <a:latin typeface="Helvetica World"/>
                <a:ea typeface="Helvetica World"/>
                <a:cs typeface="Helvetica World"/>
              </a:rPr>
              <a:t>Attempts to provide an operational and satisfactory definition of intelligence.</a:t>
            </a:r>
          </a:p>
        </p:txBody>
      </p:sp>
    </p:spTree>
    <p:extLst>
      <p:ext uri="{BB962C8B-B14F-4D97-AF65-F5344CB8AC3E}">
        <p14:creationId xmlns:p14="http://schemas.microsoft.com/office/powerpoint/2010/main" val="1557181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FA8E3A33-7D59-4DED-A96C-FEF59BF678A2}"/>
              </a:ext>
            </a:extLst>
          </p:cNvPr>
          <p:cNvSpPr>
            <a:spLocks noGrp="1"/>
          </p:cNvSpPr>
          <p:nvPr/>
        </p:nvSpPr>
        <p:spPr>
          <a:xfrm>
            <a:off x="1028700" y="3113734"/>
            <a:ext cx="5781622" cy="6144566"/>
          </a:xfrm>
          <a:custGeom>
            <a:avLst/>
            <a:gdLst/>
            <a:ahLst/>
            <a:cxnLst/>
            <a:rect l="l" t="t" r="r" b="b"/>
            <a:pathLst>
              <a:path w="1522732" h="1618322">
                <a:moveTo>
                  <a:pt x="40172" y="0"/>
                </a:moveTo>
                <a:lnTo>
                  <a:pt x="1482560" y="0"/>
                </a:lnTo>
                <a:cubicBezTo>
                  <a:pt x="1493214" y="0"/>
                  <a:pt x="1503432" y="4232"/>
                  <a:pt x="1510966" y="11766"/>
                </a:cubicBezTo>
                <a:cubicBezTo>
                  <a:pt x="1518499" y="19300"/>
                  <a:pt x="1522732" y="29518"/>
                  <a:pt x="1522732" y="40172"/>
                </a:cubicBezTo>
                <a:lnTo>
                  <a:pt x="1522732" y="1578150"/>
                </a:lnTo>
                <a:cubicBezTo>
                  <a:pt x="1522732" y="1588804"/>
                  <a:pt x="1518499" y="1599022"/>
                  <a:pt x="1510966" y="1606556"/>
                </a:cubicBezTo>
                <a:cubicBezTo>
                  <a:pt x="1503432" y="1614090"/>
                  <a:pt x="1493214" y="1618322"/>
                  <a:pt x="1482560" y="1618322"/>
                </a:cubicBezTo>
                <a:lnTo>
                  <a:pt x="40172" y="1618322"/>
                </a:lnTo>
                <a:cubicBezTo>
                  <a:pt x="29518" y="1618322"/>
                  <a:pt x="19300" y="1614090"/>
                  <a:pt x="11766" y="1606556"/>
                </a:cubicBezTo>
                <a:cubicBezTo>
                  <a:pt x="4232" y="1599022"/>
                  <a:pt x="0" y="1588804"/>
                  <a:pt x="0" y="1578150"/>
                </a:cubicBezTo>
                <a:lnTo>
                  <a:pt x="0" y="40172"/>
                </a:lnTo>
                <a:cubicBezTo>
                  <a:pt x="0" y="29518"/>
                  <a:pt x="4232" y="19300"/>
                  <a:pt x="11766" y="11766"/>
                </a:cubicBezTo>
                <a:cubicBezTo>
                  <a:pt x="19300" y="4232"/>
                  <a:pt x="29518" y="0"/>
                  <a:pt x="40172"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601953BC-878F-43E9-82F3-41EB8FCE25F8}"/>
              </a:ext>
            </a:extLst>
          </p:cNvPr>
          <p:cNvSpPr>
            <a:spLocks noGrp="1"/>
          </p:cNvSpPr>
          <p:nvPr/>
        </p:nvSpPr>
        <p:spPr>
          <a:xfrm>
            <a:off x="1028700" y="2969074"/>
            <a:ext cx="5781622" cy="6289226"/>
          </a:xfrm>
          <a:prstGeom prst="rect">
            <a:avLst/>
          </a:prstGeom>
        </p:spPr>
        <p:txBody>
          <a:bodyPr lIns="50800" tIns="50800" rIns="50800" bIns="50800" anchor="ctr"/>
          <a:lstStyle/>
          <a:p>
            <a:pPr algn="ctr">
              <a:lnSpc>
                <a:spcPts val="2659"/>
              </a:lnSpc>
              <a:buNone/>
            </a:pPr>
            <a:endParaRPr/>
          </a:p>
        </p:txBody>
      </p:sp>
      <p:sp>
        <p:nvSpPr>
          <p:cNvPr id="5" name="AutoShape 5">
            <a:extLst>
              <a:ext uri="{FF2B5EF4-FFF2-40B4-BE49-F238E27FC236}">
                <a16:creationId xmlns:a16="http://schemas.microsoft.com/office/drawing/2014/main" id="{C90DD8BB-CF09-483A-9F29-B08A6EC708B7}"/>
              </a:ext>
            </a:extLst>
          </p:cNvPr>
          <p:cNvSpPr>
            <a:spLocks noGrp="1"/>
          </p:cNvSpPr>
          <p:nvPr/>
        </p:nvSpPr>
        <p:spPr>
          <a:xfrm flipV="1">
            <a:off x="8755402" y="0"/>
            <a:ext cx="0" cy="3383247"/>
          </a:xfrm>
          <a:prstGeom prst="line">
            <a:avLst/>
          </a:prstGeom>
          <a:ln w="76200">
            <a:solidFill>
              <a:srgbClr val="000000"/>
            </a:solidFill>
            <a:prstDash val="solid"/>
            <a:headEnd type="diamond" w="lg" len="lg"/>
            <a:tailEnd type="none" w="sm" len="sm"/>
          </a:ln>
        </p:spPr>
        <p:txBody>
          <a:bodyPr/>
          <a:lstStyle/>
          <a:p>
            <a:endParaRPr lang="en-EC"/>
          </a:p>
        </p:txBody>
      </p:sp>
      <p:sp>
        <p:nvSpPr>
          <p:cNvPr id="6" name="TextBox 6">
            <a:extLst>
              <a:ext uri="{FF2B5EF4-FFF2-40B4-BE49-F238E27FC236}">
                <a16:creationId xmlns:a16="http://schemas.microsoft.com/office/drawing/2014/main" id="{827B7D89-8127-454E-8CBD-E82F4E29CA70}"/>
              </a:ext>
            </a:extLst>
          </p:cNvPr>
          <p:cNvSpPr>
            <a:spLocks noGrp="1"/>
          </p:cNvSpPr>
          <p:nvPr/>
        </p:nvSpPr>
        <p:spPr>
          <a:xfrm>
            <a:off x="6732508" y="4433062"/>
            <a:ext cx="4454148" cy="862031"/>
          </a:xfrm>
          <a:prstGeom prst="rect">
            <a:avLst/>
          </a:prstGeom>
        </p:spPr>
        <p:txBody>
          <a:bodyPr wrap="square" lIns="0" tIns="0" rIns="0" bIns="0" anchor="t">
            <a:spAutoFit/>
          </a:bodyPr>
          <a:lstStyle/>
          <a:p>
            <a:pPr algn="ctr">
              <a:lnSpc>
                <a:spcPts val="3359"/>
              </a:lnSpc>
              <a:buNone/>
            </a:pPr>
            <a:r>
              <a:rPr sz="2799" b="1" i="1" dirty="0">
                <a:solidFill>
                  <a:srgbClr val="1B1B1B"/>
                </a:solidFill>
                <a:latin typeface="Helvetica World Bold Italics"/>
                <a:ea typeface="Helvetica World Bold Italics"/>
                <a:cs typeface="Helvetica World Bold Italics"/>
              </a:rPr>
              <a:t>Early Programming Languages</a:t>
            </a:r>
          </a:p>
        </p:txBody>
      </p:sp>
      <p:sp>
        <p:nvSpPr>
          <p:cNvPr id="8" name="Freeform 8">
            <a:extLst>
              <a:ext uri="{FF2B5EF4-FFF2-40B4-BE49-F238E27FC236}">
                <a16:creationId xmlns:a16="http://schemas.microsoft.com/office/drawing/2014/main" id="{3F5679C5-1280-462E-B88D-7F82FD35F871}"/>
              </a:ext>
            </a:extLst>
          </p:cNvPr>
          <p:cNvSpPr>
            <a:spLocks noGrp="1"/>
          </p:cNvSpPr>
          <p:nvPr/>
        </p:nvSpPr>
        <p:spPr>
          <a:xfrm>
            <a:off x="11414858" y="3113734"/>
            <a:ext cx="5844442" cy="6144566"/>
          </a:xfrm>
          <a:custGeom>
            <a:avLst/>
            <a:gdLst/>
            <a:ahLst/>
            <a:cxnLst/>
            <a:rect l="l" t="t" r="r" b="b"/>
            <a:pathLst>
              <a:path w="1539277" h="1618322">
                <a:moveTo>
                  <a:pt x="39740" y="0"/>
                </a:moveTo>
                <a:lnTo>
                  <a:pt x="1499537" y="0"/>
                </a:lnTo>
                <a:cubicBezTo>
                  <a:pt x="1510077" y="0"/>
                  <a:pt x="1520185" y="4187"/>
                  <a:pt x="1527637" y="11640"/>
                </a:cubicBezTo>
                <a:cubicBezTo>
                  <a:pt x="1535090" y="19092"/>
                  <a:pt x="1539277" y="29200"/>
                  <a:pt x="1539277" y="39740"/>
                </a:cubicBezTo>
                <a:lnTo>
                  <a:pt x="1539277" y="1578582"/>
                </a:lnTo>
                <a:cubicBezTo>
                  <a:pt x="1539277" y="1589122"/>
                  <a:pt x="1535090" y="1599230"/>
                  <a:pt x="1527637" y="1606682"/>
                </a:cubicBezTo>
                <a:cubicBezTo>
                  <a:pt x="1520185" y="1614135"/>
                  <a:pt x="1510077" y="1618322"/>
                  <a:pt x="1499537" y="1618322"/>
                </a:cubicBezTo>
                <a:lnTo>
                  <a:pt x="39740" y="1618322"/>
                </a:lnTo>
                <a:cubicBezTo>
                  <a:pt x="29200" y="1618322"/>
                  <a:pt x="19092" y="1614135"/>
                  <a:pt x="11640" y="1606682"/>
                </a:cubicBezTo>
                <a:cubicBezTo>
                  <a:pt x="4187" y="1599230"/>
                  <a:pt x="0" y="1589122"/>
                  <a:pt x="0" y="1578582"/>
                </a:cubicBezTo>
                <a:lnTo>
                  <a:pt x="0" y="39740"/>
                </a:lnTo>
                <a:cubicBezTo>
                  <a:pt x="0" y="29200"/>
                  <a:pt x="4187" y="19092"/>
                  <a:pt x="11640" y="11640"/>
                </a:cubicBezTo>
                <a:cubicBezTo>
                  <a:pt x="19092" y="4187"/>
                  <a:pt x="29200" y="0"/>
                  <a:pt x="39740" y="0"/>
                </a:cubicBezTo>
                <a:close/>
              </a:path>
            </a:pathLst>
          </a:custGeom>
          <a:solidFill>
            <a:srgbClr val="FFFFFF"/>
          </a:solidFill>
          <a:ln w="19050">
            <a:solidFill>
              <a:srgbClr val="A6A6A6"/>
            </a:solidFill>
            <a:prstDash val="solid"/>
          </a:ln>
        </p:spPr>
        <p:txBody>
          <a:bodyPr/>
          <a:lstStyle/>
          <a:p>
            <a:endParaRPr lang="en-EC"/>
          </a:p>
        </p:txBody>
      </p:sp>
      <p:sp>
        <p:nvSpPr>
          <p:cNvPr id="9" name="TextBox 9">
            <a:extLst>
              <a:ext uri="{FF2B5EF4-FFF2-40B4-BE49-F238E27FC236}">
                <a16:creationId xmlns:a16="http://schemas.microsoft.com/office/drawing/2014/main" id="{AB27054F-B94A-466B-86C9-7293F32CDDF2}"/>
              </a:ext>
            </a:extLst>
          </p:cNvPr>
          <p:cNvSpPr>
            <a:spLocks noGrp="1"/>
          </p:cNvSpPr>
          <p:nvPr/>
        </p:nvSpPr>
        <p:spPr>
          <a:xfrm>
            <a:off x="11414858" y="2969074"/>
            <a:ext cx="5844442" cy="6289226"/>
          </a:xfrm>
          <a:prstGeom prst="rect">
            <a:avLst/>
          </a:prstGeom>
        </p:spPr>
        <p:txBody>
          <a:bodyPr lIns="50800" tIns="50800" rIns="50800" bIns="50800" anchor="ctr"/>
          <a:lstStyle/>
          <a:p>
            <a:pPr algn="ctr">
              <a:lnSpc>
                <a:spcPts val="2659"/>
              </a:lnSpc>
              <a:buNone/>
            </a:pPr>
            <a:endParaRPr/>
          </a:p>
        </p:txBody>
      </p:sp>
      <p:sp>
        <p:nvSpPr>
          <p:cNvPr id="10" name="Freeform 10">
            <a:extLst>
              <a:ext uri="{FF2B5EF4-FFF2-40B4-BE49-F238E27FC236}">
                <a16:creationId xmlns:a16="http://schemas.microsoft.com/office/drawing/2014/main" id="{F945B555-9235-4ECB-923F-18E1A67F077C}"/>
              </a:ext>
            </a:extLst>
          </p:cNvPr>
          <p:cNvSpPr>
            <a:spLocks noGrp="1"/>
          </p:cNvSpPr>
          <p:nvPr/>
        </p:nvSpPr>
        <p:spPr>
          <a:xfrm>
            <a:off x="4845890" y="987893"/>
            <a:ext cx="1686688" cy="1686688"/>
          </a:xfrm>
          <a:custGeom>
            <a:avLst/>
            <a:gdLst/>
            <a:ahLst/>
            <a:cxnLst/>
            <a:rect l="l" t="t" r="r" b="b"/>
            <a:pathLst>
              <a:path w="1686688" h="1686688">
                <a:moveTo>
                  <a:pt x="0" y="0"/>
                </a:moveTo>
                <a:lnTo>
                  <a:pt x="1686688" y="0"/>
                </a:lnTo>
                <a:lnTo>
                  <a:pt x="1686688" y="1686689"/>
                </a:lnTo>
                <a:lnTo>
                  <a:pt x="0" y="16866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11" name="Freeform 11">
            <a:extLst>
              <a:ext uri="{FF2B5EF4-FFF2-40B4-BE49-F238E27FC236}">
                <a16:creationId xmlns:a16="http://schemas.microsoft.com/office/drawing/2014/main" id="{1F3AA83A-0D5D-4874-A18E-6402BD8BDA54}"/>
              </a:ext>
            </a:extLst>
          </p:cNvPr>
          <p:cNvSpPr>
            <a:spLocks noGrp="1"/>
          </p:cNvSpPr>
          <p:nvPr/>
        </p:nvSpPr>
        <p:spPr>
          <a:xfrm>
            <a:off x="11414858" y="1150739"/>
            <a:ext cx="1360998" cy="1360998"/>
          </a:xfrm>
          <a:custGeom>
            <a:avLst/>
            <a:gdLst/>
            <a:ahLst/>
            <a:cxnLst/>
            <a:rect l="l" t="t" r="r" b="b"/>
            <a:pathLst>
              <a:path w="1360998" h="1360998">
                <a:moveTo>
                  <a:pt x="0" y="0"/>
                </a:moveTo>
                <a:lnTo>
                  <a:pt x="1360998" y="0"/>
                </a:lnTo>
                <a:lnTo>
                  <a:pt x="1360998" y="1360997"/>
                </a:lnTo>
                <a:lnTo>
                  <a:pt x="0" y="13609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EC"/>
          </a:p>
        </p:txBody>
      </p:sp>
      <p:sp>
        <p:nvSpPr>
          <p:cNvPr id="12" name="TextBox 12">
            <a:extLst>
              <a:ext uri="{FF2B5EF4-FFF2-40B4-BE49-F238E27FC236}">
                <a16:creationId xmlns:a16="http://schemas.microsoft.com/office/drawing/2014/main" id="{49B8B74F-3A4B-45C5-A04A-CE3EC7226928}"/>
              </a:ext>
            </a:extLst>
          </p:cNvPr>
          <p:cNvSpPr>
            <a:spLocks noGrp="1"/>
          </p:cNvSpPr>
          <p:nvPr/>
        </p:nvSpPr>
        <p:spPr>
          <a:xfrm>
            <a:off x="7043833" y="3714875"/>
            <a:ext cx="4848025" cy="728213"/>
          </a:xfrm>
          <a:prstGeom prst="rect">
            <a:avLst/>
          </a:prstGeom>
        </p:spPr>
        <p:txBody>
          <a:bodyPr wrap="square" lIns="0" tIns="0" rIns="0" bIns="0" anchor="t">
            <a:spAutoFit/>
          </a:bodyPr>
          <a:lstStyle/>
          <a:p>
            <a:pPr algn="l">
              <a:lnSpc>
                <a:spcPts val="5600"/>
              </a:lnSpc>
              <a:buNone/>
            </a:pPr>
            <a:r>
              <a:rPr sz="5600" b="1" dirty="0">
                <a:solidFill>
                  <a:srgbClr val="1B1B1B"/>
                </a:solidFill>
                <a:latin typeface="Telegraf Medium"/>
                <a:ea typeface="Telegraf Medium"/>
                <a:cs typeface="Telegraf Medium"/>
              </a:rPr>
              <a:t>1955 - 1958</a:t>
            </a:r>
          </a:p>
        </p:txBody>
      </p:sp>
      <p:sp>
        <p:nvSpPr>
          <p:cNvPr id="13" name="TextBox 13">
            <a:extLst>
              <a:ext uri="{FF2B5EF4-FFF2-40B4-BE49-F238E27FC236}">
                <a16:creationId xmlns:a16="http://schemas.microsoft.com/office/drawing/2014/main" id="{D04B8C7E-9B9E-4983-A0E5-89E2D4EDF520}"/>
              </a:ext>
            </a:extLst>
          </p:cNvPr>
          <p:cNvSpPr>
            <a:spLocks noGrp="1"/>
          </p:cNvSpPr>
          <p:nvPr/>
        </p:nvSpPr>
        <p:spPr>
          <a:xfrm>
            <a:off x="2557983" y="1162012"/>
            <a:ext cx="1539694" cy="1512570"/>
          </a:xfrm>
          <a:prstGeom prst="rect">
            <a:avLst/>
          </a:prstGeom>
        </p:spPr>
        <p:txBody>
          <a:bodyPr lIns="0" tIns="0" rIns="0" bIns="0" anchor="t">
            <a:spAutoFit/>
          </a:bodyPr>
          <a:lstStyle/>
          <a:p>
            <a:pPr algn="ctr">
              <a:lnSpc>
                <a:spcPts val="5880"/>
              </a:lnSpc>
              <a:buNone/>
            </a:pPr>
            <a:r>
              <a:rPr sz="4200">
                <a:solidFill>
                  <a:srgbClr val="1B1B1B"/>
                </a:solidFill>
                <a:latin typeface="Telegraf"/>
                <a:ea typeface="Telegraf"/>
                <a:cs typeface="Telegraf"/>
              </a:rPr>
              <a:t>LISP</a:t>
            </a:r>
          </a:p>
          <a:p>
            <a:pPr algn="ctr">
              <a:lnSpc>
                <a:spcPts val="5880"/>
              </a:lnSpc>
              <a:spcBef>
                <a:spcPct val="0"/>
              </a:spcBef>
              <a:buNone/>
            </a:pPr>
            <a:r>
              <a:rPr sz="4200">
                <a:solidFill>
                  <a:srgbClr val="1B1B1B"/>
                </a:solidFill>
                <a:latin typeface="Telegraf"/>
                <a:ea typeface="Telegraf"/>
                <a:cs typeface="Telegraf"/>
              </a:rPr>
              <a:t>1958</a:t>
            </a:r>
          </a:p>
        </p:txBody>
      </p:sp>
      <p:sp>
        <p:nvSpPr>
          <p:cNvPr id="14" name="TextBox 14">
            <a:extLst>
              <a:ext uri="{FF2B5EF4-FFF2-40B4-BE49-F238E27FC236}">
                <a16:creationId xmlns:a16="http://schemas.microsoft.com/office/drawing/2014/main" id="{130A69E9-2FC8-4B24-AF88-DF77F1A93CC7}"/>
              </a:ext>
            </a:extLst>
          </p:cNvPr>
          <p:cNvSpPr>
            <a:spLocks noGrp="1"/>
          </p:cNvSpPr>
          <p:nvPr/>
        </p:nvSpPr>
        <p:spPr>
          <a:xfrm>
            <a:off x="13413126" y="1162012"/>
            <a:ext cx="2949817" cy="1512570"/>
          </a:xfrm>
          <a:prstGeom prst="rect">
            <a:avLst/>
          </a:prstGeom>
        </p:spPr>
        <p:txBody>
          <a:bodyPr wrap="square" lIns="0" tIns="0" rIns="0" bIns="0" anchor="t">
            <a:spAutoFit/>
          </a:bodyPr>
          <a:lstStyle/>
          <a:p>
            <a:pPr algn="l">
              <a:lnSpc>
                <a:spcPts val="5880"/>
              </a:lnSpc>
              <a:buNone/>
            </a:pPr>
            <a:r>
              <a:rPr sz="4200" dirty="0">
                <a:solidFill>
                  <a:srgbClr val="1B1B1B"/>
                </a:solidFill>
                <a:latin typeface="Telegraf"/>
                <a:ea typeface="Telegraf"/>
                <a:cs typeface="Telegraf"/>
              </a:rPr>
              <a:t>FORTRAN</a:t>
            </a:r>
          </a:p>
          <a:p>
            <a:pPr algn="ctr">
              <a:lnSpc>
                <a:spcPts val="5880"/>
              </a:lnSpc>
              <a:spcBef>
                <a:spcPct val="0"/>
              </a:spcBef>
              <a:buNone/>
            </a:pPr>
            <a:r>
              <a:rPr sz="4200" dirty="0">
                <a:solidFill>
                  <a:srgbClr val="1B1B1B"/>
                </a:solidFill>
                <a:latin typeface="Telegraf"/>
                <a:ea typeface="Telegraf"/>
                <a:cs typeface="Telegraf"/>
              </a:rPr>
              <a:t>1957</a:t>
            </a:r>
          </a:p>
        </p:txBody>
      </p:sp>
      <p:sp>
        <p:nvSpPr>
          <p:cNvPr id="15" name="TextBox 15">
            <a:extLst>
              <a:ext uri="{FF2B5EF4-FFF2-40B4-BE49-F238E27FC236}">
                <a16:creationId xmlns:a16="http://schemas.microsoft.com/office/drawing/2014/main" id="{66FE8F19-6007-4A95-9EC0-3924CD690BEC}"/>
              </a:ext>
            </a:extLst>
          </p:cNvPr>
          <p:cNvSpPr>
            <a:spLocks noGrp="1"/>
          </p:cNvSpPr>
          <p:nvPr/>
        </p:nvSpPr>
        <p:spPr>
          <a:xfrm>
            <a:off x="11414858" y="3056584"/>
            <a:ext cx="5533027" cy="5887212"/>
          </a:xfrm>
          <a:prstGeom prst="rect">
            <a:avLst/>
          </a:prstGeom>
        </p:spPr>
        <p:txBody>
          <a:bodyPr lIns="0" tIns="0" rIns="0" bIns="0" anchor="t">
            <a:spAutoFit/>
          </a:bodyPr>
          <a:lstStyle/>
          <a:p>
            <a:pPr>
              <a:lnSpc>
                <a:spcPts val="3947"/>
              </a:lnSpc>
              <a:buNone/>
            </a:pPr>
            <a:endParaRPr/>
          </a:p>
          <a:p>
            <a:pPr marL="604513" indent="-302256">
              <a:lnSpc>
                <a:spcPts val="3947"/>
              </a:lnSpc>
              <a:buFont typeface="Arial"/>
              <a:buChar char="•"/>
            </a:pPr>
            <a:r>
              <a:rPr sz="2799">
                <a:solidFill>
                  <a:srgbClr val="1B1B1B"/>
                </a:solidFill>
                <a:latin typeface="Helvetica World"/>
                <a:ea typeface="Helvetica World"/>
                <a:cs typeface="Helvetica World"/>
              </a:rPr>
              <a:t>Designed by IBM</a:t>
            </a:r>
          </a:p>
          <a:p>
            <a:pPr marL="604513" indent="-302256" algn="l">
              <a:lnSpc>
                <a:spcPts val="3947"/>
              </a:lnSpc>
              <a:buFont typeface="Arial"/>
              <a:buChar char="•"/>
            </a:pPr>
            <a:r>
              <a:rPr sz="2799">
                <a:solidFill>
                  <a:srgbClr val="1B1B1B"/>
                </a:solidFill>
                <a:latin typeface="Helvetica World"/>
                <a:ea typeface="Helvetica World"/>
                <a:cs typeface="Helvetica World"/>
              </a:rPr>
              <a:t>Scientific problems involving large amounts of numerical computation</a:t>
            </a:r>
          </a:p>
          <a:p>
            <a:pPr marL="604513" indent="-302256">
              <a:lnSpc>
                <a:spcPts val="3947"/>
              </a:lnSpc>
              <a:buFont typeface="Arial"/>
              <a:buChar char="•"/>
            </a:pPr>
            <a:r>
              <a:rPr sz="2799">
                <a:solidFill>
                  <a:srgbClr val="1B1B1B"/>
                </a:solidFill>
                <a:latin typeface="Helvetica World"/>
                <a:ea typeface="Helvetica World"/>
                <a:cs typeface="Helvetica World"/>
              </a:rPr>
              <a:t>One of the first imperative programming languages.</a:t>
            </a:r>
          </a:p>
          <a:p>
            <a:pPr marL="604513" indent="-302256">
              <a:lnSpc>
                <a:spcPts val="3947"/>
              </a:lnSpc>
              <a:buFont typeface="Arial"/>
              <a:buChar char="•"/>
            </a:pPr>
            <a:r>
              <a:rPr sz="2799">
                <a:solidFill>
                  <a:srgbClr val="1B1B1B"/>
                </a:solidFill>
                <a:latin typeface="Helvetica World"/>
                <a:ea typeface="Helvetica World"/>
                <a:cs typeface="Helvetica World"/>
              </a:rPr>
              <a:t>Manages state (variables).</a:t>
            </a:r>
          </a:p>
          <a:p>
            <a:pPr marL="604513" indent="-302256">
              <a:lnSpc>
                <a:spcPts val="3947"/>
              </a:lnSpc>
              <a:buFont typeface="Arial"/>
              <a:buChar char="•"/>
            </a:pPr>
            <a:r>
              <a:rPr sz="2799">
                <a:solidFill>
                  <a:srgbClr val="1B1B1B"/>
                </a:solidFill>
                <a:latin typeface="Helvetica World"/>
                <a:ea typeface="Helvetica World"/>
                <a:cs typeface="Helvetica World"/>
              </a:rPr>
              <a:t>Decision-making (conditionals).</a:t>
            </a:r>
          </a:p>
          <a:p>
            <a:pPr marL="604513" indent="-302256">
              <a:lnSpc>
                <a:spcPts val="3947"/>
              </a:lnSpc>
              <a:buFont typeface="Arial"/>
              <a:buChar char="•"/>
            </a:pPr>
            <a:r>
              <a:rPr sz="2799">
                <a:solidFill>
                  <a:srgbClr val="1B1B1B"/>
                </a:solidFill>
                <a:latin typeface="Helvetica World"/>
                <a:ea typeface="Helvetica World"/>
                <a:cs typeface="Helvetica World"/>
              </a:rPr>
              <a:t>Loops (repetitive actions).</a:t>
            </a:r>
          </a:p>
          <a:p>
            <a:pPr>
              <a:lnSpc>
                <a:spcPts val="3359"/>
              </a:lnSpc>
              <a:buNone/>
            </a:pPr>
            <a:endParaRPr sz="2799">
              <a:solidFill>
                <a:srgbClr val="1B1B1B"/>
              </a:solidFill>
              <a:latin typeface="Helvetica World"/>
              <a:ea typeface="Helvetica World"/>
              <a:cs typeface="Helvetica World"/>
            </a:endParaRPr>
          </a:p>
        </p:txBody>
      </p:sp>
      <p:sp>
        <p:nvSpPr>
          <p:cNvPr id="16" name="TextBox 16">
            <a:extLst>
              <a:ext uri="{FF2B5EF4-FFF2-40B4-BE49-F238E27FC236}">
                <a16:creationId xmlns:a16="http://schemas.microsoft.com/office/drawing/2014/main" id="{CD3CEB0B-3CF9-4663-91E4-C8E53D6EE84F}"/>
              </a:ext>
            </a:extLst>
          </p:cNvPr>
          <p:cNvSpPr>
            <a:spLocks noGrp="1"/>
          </p:cNvSpPr>
          <p:nvPr/>
        </p:nvSpPr>
        <p:spPr>
          <a:xfrm>
            <a:off x="1028700" y="3618222"/>
            <a:ext cx="5307794" cy="5477637"/>
          </a:xfrm>
          <a:prstGeom prst="rect">
            <a:avLst/>
          </a:prstGeom>
        </p:spPr>
        <p:txBody>
          <a:bodyPr lIns="0" tIns="0" rIns="0" bIns="0" anchor="t">
            <a:spAutoFit/>
          </a:bodyPr>
          <a:lstStyle/>
          <a:p>
            <a:pPr marL="604513" indent="-302256">
              <a:lnSpc>
                <a:spcPts val="3947"/>
              </a:lnSpc>
              <a:buFont typeface="Arial"/>
              <a:buChar char="•"/>
            </a:pPr>
            <a:r>
              <a:rPr sz="2799">
                <a:solidFill>
                  <a:srgbClr val="1B1B1B"/>
                </a:solidFill>
                <a:latin typeface="Helvetica World"/>
                <a:ea typeface="Helvetica World"/>
                <a:cs typeface="Helvetica World"/>
              </a:rPr>
              <a:t>Designed by John McCarthy</a:t>
            </a:r>
          </a:p>
          <a:p>
            <a:pPr marL="604513" indent="-302256">
              <a:lnSpc>
                <a:spcPts val="3947"/>
              </a:lnSpc>
              <a:buFont typeface="Arial"/>
              <a:buChar char="•"/>
            </a:pPr>
            <a:r>
              <a:rPr sz="2799">
                <a:solidFill>
                  <a:srgbClr val="1B1B1B"/>
                </a:solidFill>
                <a:latin typeface="Helvetica World"/>
                <a:ea typeface="Helvetica World"/>
                <a:cs typeface="Helvetica World"/>
              </a:rPr>
              <a:t>Based on Lambda Calculus and recursion</a:t>
            </a:r>
          </a:p>
          <a:p>
            <a:pPr marL="604513" indent="-302256">
              <a:lnSpc>
                <a:spcPts val="3947"/>
              </a:lnSpc>
              <a:buFont typeface="Arial"/>
              <a:buChar char="•"/>
            </a:pPr>
            <a:r>
              <a:rPr sz="2799">
                <a:solidFill>
                  <a:srgbClr val="1B1B1B"/>
                </a:solidFill>
                <a:latin typeface="Helvetica World"/>
                <a:ea typeface="Helvetica World"/>
                <a:cs typeface="Helvetica World"/>
              </a:rPr>
              <a:t>Dynamic data types and functions.</a:t>
            </a:r>
          </a:p>
          <a:p>
            <a:pPr marL="604513" indent="-302256">
              <a:lnSpc>
                <a:spcPts val="3947"/>
              </a:lnSpc>
              <a:buFont typeface="Arial"/>
              <a:buChar char="•"/>
            </a:pPr>
            <a:r>
              <a:rPr sz="2799">
                <a:solidFill>
                  <a:srgbClr val="1B1B1B"/>
                </a:solidFill>
                <a:latin typeface="Helvetica World"/>
                <a:ea typeface="Helvetica World"/>
                <a:cs typeface="Helvetica World"/>
              </a:rPr>
              <a:t>Main data structure: list processing</a:t>
            </a:r>
          </a:p>
          <a:p>
            <a:pPr marL="604513" indent="-302256">
              <a:lnSpc>
                <a:spcPts val="3947"/>
              </a:lnSpc>
              <a:buFont typeface="Arial"/>
              <a:buChar char="•"/>
            </a:pPr>
            <a:r>
              <a:rPr sz="2799">
                <a:solidFill>
                  <a:srgbClr val="1B1B1B"/>
                </a:solidFill>
                <a:latin typeface="Helvetica World"/>
                <a:ea typeface="Helvetica World"/>
                <a:cs typeface="Helvetica World"/>
              </a:rPr>
              <a:t>Supports prefix function calls: (f a1 a2 a3).</a:t>
            </a:r>
          </a:p>
          <a:p>
            <a:pPr>
              <a:lnSpc>
                <a:spcPts val="3947"/>
              </a:lnSpc>
              <a:buNone/>
            </a:pPr>
            <a:endParaRPr sz="2799">
              <a:solidFill>
                <a:srgbClr val="1B1B1B"/>
              </a:solidFill>
              <a:latin typeface="Helvetica World"/>
              <a:ea typeface="Helvetica World"/>
              <a:cs typeface="Helvetica World"/>
            </a:endParaRPr>
          </a:p>
          <a:p>
            <a:pPr>
              <a:lnSpc>
                <a:spcPts val="3359"/>
              </a:lnSpc>
              <a:buNone/>
            </a:pPr>
            <a:endParaRPr sz="2799">
              <a:solidFill>
                <a:srgbClr val="1B1B1B"/>
              </a:solidFill>
              <a:latin typeface="Helvetica World"/>
              <a:ea typeface="Helvetica World"/>
              <a:cs typeface="Helvetica World"/>
            </a:endParaRPr>
          </a:p>
        </p:txBody>
      </p:sp>
    </p:spTree>
    <p:extLst>
      <p:ext uri="{BB962C8B-B14F-4D97-AF65-F5344CB8AC3E}">
        <p14:creationId xmlns:p14="http://schemas.microsoft.com/office/powerpoint/2010/main" val="1207225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F82EC1F-7AF9-4ABC-AAE9-4506B5267D68}"/>
              </a:ext>
            </a:extLst>
          </p:cNvPr>
          <p:cNvSpPr>
            <a:spLocks noGrp="1"/>
          </p:cNvSpPr>
          <p:nvPr/>
        </p:nvSpPr>
        <p:spPr>
          <a:xfrm>
            <a:off x="3961275" y="528419"/>
            <a:ext cx="6855715" cy="4114800"/>
          </a:xfrm>
          <a:custGeom>
            <a:avLst/>
            <a:gdLst/>
            <a:ahLst/>
            <a:cxnLst/>
            <a:rect l="l" t="t" r="r" b="b"/>
            <a:pathLst>
              <a:path w="6350000" h="3811270">
                <a:moveTo>
                  <a:pt x="1648460" y="0"/>
                </a:moveTo>
                <a:lnTo>
                  <a:pt x="5812790" y="0"/>
                </a:lnTo>
                <a:cubicBezTo>
                  <a:pt x="6109970" y="0"/>
                  <a:pt x="6350000" y="240030"/>
                  <a:pt x="6350000" y="537210"/>
                </a:cubicBezTo>
                <a:lnTo>
                  <a:pt x="6350000" y="2466340"/>
                </a:lnTo>
                <a:cubicBezTo>
                  <a:pt x="6350000" y="2763520"/>
                  <a:pt x="6109970" y="3003550"/>
                  <a:pt x="5812790" y="3003550"/>
                </a:cubicBezTo>
                <a:lnTo>
                  <a:pt x="4751070" y="3003550"/>
                </a:lnTo>
                <a:cubicBezTo>
                  <a:pt x="4587240" y="3003550"/>
                  <a:pt x="4431030" y="3078480"/>
                  <a:pt x="4329430" y="3208020"/>
                </a:cubicBezTo>
                <a:lnTo>
                  <a:pt x="4013200" y="3606800"/>
                </a:lnTo>
                <a:cubicBezTo>
                  <a:pt x="3911600" y="3735070"/>
                  <a:pt x="3756660" y="3811270"/>
                  <a:pt x="3591560" y="3811270"/>
                </a:cubicBezTo>
                <a:lnTo>
                  <a:pt x="537210" y="3811270"/>
                </a:lnTo>
                <a:cubicBezTo>
                  <a:pt x="240030" y="3811270"/>
                  <a:pt x="0" y="3571240"/>
                  <a:pt x="0" y="3274060"/>
                </a:cubicBezTo>
                <a:lnTo>
                  <a:pt x="0" y="1375410"/>
                </a:lnTo>
                <a:cubicBezTo>
                  <a:pt x="0" y="1206500"/>
                  <a:pt x="78740" y="1047750"/>
                  <a:pt x="213360" y="946150"/>
                </a:cubicBezTo>
                <a:lnTo>
                  <a:pt x="1324610" y="107950"/>
                </a:lnTo>
                <a:cubicBezTo>
                  <a:pt x="1417320" y="38100"/>
                  <a:pt x="1531620" y="0"/>
                  <a:pt x="1648460" y="0"/>
                </a:cubicBezTo>
                <a:close/>
              </a:path>
            </a:pathLst>
          </a:custGeom>
          <a:blipFill>
            <a:blip r:embed="rId3"/>
            <a:stretch>
              <a:fillRect l="-2565" r="-2565"/>
            </a:stretch>
          </a:blipFill>
        </p:spPr>
        <p:txBody>
          <a:bodyPr/>
          <a:lstStyle/>
          <a:p>
            <a:endParaRPr lang="en-EC"/>
          </a:p>
        </p:txBody>
      </p:sp>
      <p:sp>
        <p:nvSpPr>
          <p:cNvPr id="5" name="Freeform 5">
            <a:extLst>
              <a:ext uri="{FF2B5EF4-FFF2-40B4-BE49-F238E27FC236}">
                <a16:creationId xmlns:a16="http://schemas.microsoft.com/office/drawing/2014/main" id="{1F35B704-D257-439B-BA15-3B63BEFFC1B6}"/>
              </a:ext>
            </a:extLst>
          </p:cNvPr>
          <p:cNvSpPr>
            <a:spLocks noGrp="1"/>
          </p:cNvSpPr>
          <p:nvPr/>
        </p:nvSpPr>
        <p:spPr>
          <a:xfrm>
            <a:off x="1028700" y="2229715"/>
            <a:ext cx="4987483" cy="7028585"/>
          </a:xfrm>
          <a:custGeom>
            <a:avLst/>
            <a:gdLst/>
            <a:ahLst/>
            <a:cxnLst/>
            <a:rect l="l" t="t" r="r" b="b"/>
            <a:pathLst>
              <a:path w="4505960" h="6350000">
                <a:moveTo>
                  <a:pt x="0" y="561340"/>
                </a:moveTo>
                <a:lnTo>
                  <a:pt x="0" y="3961130"/>
                </a:lnTo>
                <a:cubicBezTo>
                  <a:pt x="0" y="4272280"/>
                  <a:pt x="252730" y="4523740"/>
                  <a:pt x="562610" y="4522470"/>
                </a:cubicBezTo>
                <a:cubicBezTo>
                  <a:pt x="873760" y="4521200"/>
                  <a:pt x="1126490" y="4773930"/>
                  <a:pt x="1125220" y="5085080"/>
                </a:cubicBezTo>
                <a:lnTo>
                  <a:pt x="1123950" y="5787390"/>
                </a:lnTo>
                <a:cubicBezTo>
                  <a:pt x="1123950" y="6098540"/>
                  <a:pt x="1375410" y="6350000"/>
                  <a:pt x="1685290" y="6350000"/>
                </a:cubicBezTo>
                <a:lnTo>
                  <a:pt x="3944620" y="6350000"/>
                </a:lnTo>
                <a:cubicBezTo>
                  <a:pt x="4254500" y="6350000"/>
                  <a:pt x="4505960" y="6098540"/>
                  <a:pt x="4505960" y="5788660"/>
                </a:cubicBezTo>
                <a:lnTo>
                  <a:pt x="4505960" y="2679700"/>
                </a:lnTo>
                <a:cubicBezTo>
                  <a:pt x="4505960" y="2494280"/>
                  <a:pt x="4414520" y="2321560"/>
                  <a:pt x="4262120" y="2217420"/>
                </a:cubicBezTo>
                <a:lnTo>
                  <a:pt x="1184910" y="99060"/>
                </a:lnTo>
                <a:cubicBezTo>
                  <a:pt x="1090930" y="34290"/>
                  <a:pt x="980440" y="0"/>
                  <a:pt x="866140" y="0"/>
                </a:cubicBezTo>
                <a:lnTo>
                  <a:pt x="561340" y="0"/>
                </a:lnTo>
                <a:cubicBezTo>
                  <a:pt x="251460" y="0"/>
                  <a:pt x="0" y="251460"/>
                  <a:pt x="0" y="561340"/>
                </a:cubicBezTo>
                <a:close/>
              </a:path>
            </a:pathLst>
          </a:custGeom>
          <a:blipFill>
            <a:blip r:embed="rId4"/>
            <a:stretch>
              <a:fillRect l="-56467" r="-56467"/>
            </a:stretch>
          </a:blipFill>
        </p:spPr>
        <p:txBody>
          <a:bodyPr/>
          <a:lstStyle/>
          <a:p>
            <a:endParaRPr lang="en-EC"/>
          </a:p>
        </p:txBody>
      </p:sp>
      <p:sp>
        <p:nvSpPr>
          <p:cNvPr id="6" name="Freeform 6">
            <a:extLst>
              <a:ext uri="{FF2B5EF4-FFF2-40B4-BE49-F238E27FC236}">
                <a16:creationId xmlns:a16="http://schemas.microsoft.com/office/drawing/2014/main" id="{69A36BA1-9B36-4F7F-B3A6-88EE717FC3D8}"/>
              </a:ext>
            </a:extLst>
          </p:cNvPr>
          <p:cNvSpPr>
            <a:spLocks noGrp="1"/>
          </p:cNvSpPr>
          <p:nvPr/>
        </p:nvSpPr>
        <p:spPr>
          <a:xfrm>
            <a:off x="1028700" y="9085866"/>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A1CC6652-9E85-44EB-9E3C-FA99DAA35E1A}"/>
              </a:ext>
            </a:extLst>
          </p:cNvPr>
          <p:cNvSpPr>
            <a:spLocks noGrp="1"/>
          </p:cNvSpPr>
          <p:nvPr/>
        </p:nvSpPr>
        <p:spPr>
          <a:xfrm>
            <a:off x="8716009" y="4249682"/>
            <a:ext cx="8543291" cy="3800493"/>
          </a:xfrm>
          <a:custGeom>
            <a:avLst/>
            <a:gdLst/>
            <a:ahLst/>
            <a:cxnLst/>
            <a:rect l="l" t="t" r="r" b="b"/>
            <a:pathLst>
              <a:path w="2250085" h="1000953">
                <a:moveTo>
                  <a:pt x="27186" y="0"/>
                </a:moveTo>
                <a:lnTo>
                  <a:pt x="2222899" y="0"/>
                </a:lnTo>
                <a:cubicBezTo>
                  <a:pt x="2230109" y="0"/>
                  <a:pt x="2237024" y="2864"/>
                  <a:pt x="2242122" y="7963"/>
                </a:cubicBezTo>
                <a:cubicBezTo>
                  <a:pt x="2247221" y="13061"/>
                  <a:pt x="2250085" y="19976"/>
                  <a:pt x="2250085" y="27186"/>
                </a:cubicBezTo>
                <a:lnTo>
                  <a:pt x="2250085" y="973767"/>
                </a:lnTo>
                <a:cubicBezTo>
                  <a:pt x="2250085" y="980977"/>
                  <a:pt x="2247221" y="987892"/>
                  <a:pt x="2242122" y="992990"/>
                </a:cubicBezTo>
                <a:cubicBezTo>
                  <a:pt x="2237024" y="998089"/>
                  <a:pt x="2230109" y="1000953"/>
                  <a:pt x="2222899" y="1000953"/>
                </a:cubicBezTo>
                <a:lnTo>
                  <a:pt x="27186" y="1000953"/>
                </a:lnTo>
                <a:cubicBezTo>
                  <a:pt x="12172" y="1000953"/>
                  <a:pt x="0" y="988781"/>
                  <a:pt x="0" y="973767"/>
                </a:cubicBezTo>
                <a:lnTo>
                  <a:pt x="0" y="27186"/>
                </a:lnTo>
                <a:cubicBezTo>
                  <a:pt x="0" y="19976"/>
                  <a:pt x="2864" y="13061"/>
                  <a:pt x="7963" y="7963"/>
                </a:cubicBezTo>
                <a:cubicBezTo>
                  <a:pt x="13061" y="2864"/>
                  <a:pt x="19976" y="0"/>
                  <a:pt x="27186" y="0"/>
                </a:cubicBezTo>
                <a:close/>
              </a:path>
            </a:pathLst>
          </a:custGeom>
          <a:solidFill>
            <a:srgbClr val="FFFFFF"/>
          </a:solidFill>
          <a:ln w="19050">
            <a:solidFill>
              <a:srgbClr val="A6A6A6"/>
            </a:solidFill>
            <a:prstDash val="solid"/>
          </a:ln>
        </p:spPr>
        <p:txBody>
          <a:bodyPr/>
          <a:lstStyle/>
          <a:p>
            <a:endParaRPr lang="en-EC"/>
          </a:p>
        </p:txBody>
      </p:sp>
      <p:sp>
        <p:nvSpPr>
          <p:cNvPr id="9" name="TextBox 9">
            <a:extLst>
              <a:ext uri="{FF2B5EF4-FFF2-40B4-BE49-F238E27FC236}">
                <a16:creationId xmlns:a16="http://schemas.microsoft.com/office/drawing/2014/main" id="{4D48E373-6F25-45E4-86CE-B7EA7B5F38A4}"/>
              </a:ext>
            </a:extLst>
          </p:cNvPr>
          <p:cNvSpPr>
            <a:spLocks noGrp="1"/>
          </p:cNvSpPr>
          <p:nvPr/>
        </p:nvSpPr>
        <p:spPr>
          <a:xfrm>
            <a:off x="8716009" y="4105022"/>
            <a:ext cx="8543291" cy="3945153"/>
          </a:xfrm>
          <a:prstGeom prst="rect">
            <a:avLst/>
          </a:prstGeom>
        </p:spPr>
        <p:txBody>
          <a:bodyPr lIns="50800" tIns="50800" rIns="50800" bIns="50800" anchor="ctr"/>
          <a:lstStyle/>
          <a:p>
            <a:pPr algn="ctr">
              <a:lnSpc>
                <a:spcPts val="2659"/>
              </a:lnSpc>
              <a:buNone/>
            </a:pPr>
            <a:endParaRPr/>
          </a:p>
        </p:txBody>
      </p:sp>
      <p:sp>
        <p:nvSpPr>
          <p:cNvPr id="10" name="TextBox 10">
            <a:extLst>
              <a:ext uri="{FF2B5EF4-FFF2-40B4-BE49-F238E27FC236}">
                <a16:creationId xmlns:a16="http://schemas.microsoft.com/office/drawing/2014/main" id="{97480182-8A84-4B44-96CF-6EB438A6B712}"/>
              </a:ext>
            </a:extLst>
          </p:cNvPr>
          <p:cNvSpPr>
            <a:spLocks noGrp="1"/>
          </p:cNvSpPr>
          <p:nvPr/>
        </p:nvSpPr>
        <p:spPr>
          <a:xfrm>
            <a:off x="9025542" y="4447335"/>
            <a:ext cx="7924225" cy="3395663"/>
          </a:xfrm>
          <a:prstGeom prst="rect">
            <a:avLst/>
          </a:prstGeom>
        </p:spPr>
        <p:txBody>
          <a:bodyPr lIns="0" tIns="0" rIns="0" bIns="0" anchor="t">
            <a:spAutoFit/>
          </a:bodyPr>
          <a:lstStyle/>
          <a:p>
            <a:pPr>
              <a:lnSpc>
                <a:spcPts val="2759"/>
              </a:lnSpc>
              <a:buNone/>
            </a:pPr>
            <a:r>
              <a:rPr sz="2299" i="1">
                <a:solidFill>
                  <a:srgbClr val="1B1B1B"/>
                </a:solidFill>
                <a:latin typeface="Helvetica World Italics"/>
                <a:ea typeface="Helvetica World Italics"/>
                <a:cs typeface="Helvetica World Italics"/>
              </a:rPr>
              <a:t>“The study is to proceed on the basis of the conjecture that </a:t>
            </a:r>
            <a:r>
              <a:rPr sz="2299" b="1" i="1">
                <a:solidFill>
                  <a:srgbClr val="1B1B1B"/>
                </a:solidFill>
                <a:latin typeface="Helvetica World Bold Italics"/>
                <a:ea typeface="Helvetica World Bold Italics"/>
                <a:cs typeface="Helvetica World Bold Italics"/>
              </a:rPr>
              <a:t>every aspect of learning or any other feature of intelligence can in principle be so  precisely described that a machine can be made to simulate it</a:t>
            </a:r>
            <a:r>
              <a:rPr sz="2299" i="1">
                <a:solidFill>
                  <a:srgbClr val="1B1B1B"/>
                </a:solidFill>
                <a:latin typeface="Helvetica World Italics"/>
                <a:ea typeface="Helvetica World Italics"/>
                <a:cs typeface="Helvetica World Italics"/>
              </a:rPr>
              <a:t>. An attempt will be made to find how to make machines </a:t>
            </a:r>
            <a:r>
              <a:rPr sz="2299" b="1" i="1">
                <a:solidFill>
                  <a:srgbClr val="1B1B1B"/>
                </a:solidFill>
                <a:latin typeface="Helvetica World Bold Italics"/>
                <a:ea typeface="Helvetica World Bold Italics"/>
                <a:cs typeface="Helvetica World Bold Italics"/>
              </a:rPr>
              <a:t>use language, form abstractions and concepts,  solve  kinds of problems now reserved for humans, and improve themselves</a:t>
            </a:r>
            <a:r>
              <a:rPr sz="2299" i="1">
                <a:solidFill>
                  <a:srgbClr val="1B1B1B"/>
                </a:solidFill>
                <a:latin typeface="Helvetica World Italics"/>
                <a:ea typeface="Helvetica World Italics"/>
                <a:cs typeface="Helvetica World Italics"/>
              </a:rPr>
              <a:t>. We think that a significant advance can be made in one or more of these problems if a carefully selected group of scientists </a:t>
            </a:r>
            <a:r>
              <a:rPr sz="2299" i="1" u="sng">
                <a:solidFill>
                  <a:srgbClr val="1B1B1B"/>
                </a:solidFill>
                <a:latin typeface="Helvetica World Italics"/>
                <a:ea typeface="Helvetica World Italics"/>
                <a:cs typeface="Helvetica World Italics"/>
              </a:rPr>
              <a:t>work on it together for a summer.</a:t>
            </a:r>
            <a:r>
              <a:rPr sz="2299" i="1">
                <a:solidFill>
                  <a:srgbClr val="1B1B1B"/>
                </a:solidFill>
                <a:latin typeface="Helvetica World Italics"/>
                <a:ea typeface="Helvetica World Italics"/>
                <a:cs typeface="Helvetica World Italics"/>
              </a:rPr>
              <a:t>”</a:t>
            </a:r>
          </a:p>
        </p:txBody>
      </p:sp>
      <p:sp>
        <p:nvSpPr>
          <p:cNvPr id="12" name="Freeform 12">
            <a:extLst>
              <a:ext uri="{FF2B5EF4-FFF2-40B4-BE49-F238E27FC236}">
                <a16:creationId xmlns:a16="http://schemas.microsoft.com/office/drawing/2014/main" id="{E071697D-F6D2-4426-90BF-652E960F5B30}"/>
              </a:ext>
            </a:extLst>
          </p:cNvPr>
          <p:cNvSpPr>
            <a:spLocks noGrp="1"/>
          </p:cNvSpPr>
          <p:nvPr/>
        </p:nvSpPr>
        <p:spPr>
          <a:xfrm>
            <a:off x="4092464" y="6557222"/>
            <a:ext cx="4266265" cy="3189814"/>
          </a:xfrm>
          <a:custGeom>
            <a:avLst/>
            <a:gdLst/>
            <a:ahLst/>
            <a:cxnLst/>
            <a:rect l="l" t="t" r="r" b="b"/>
            <a:pathLst>
              <a:path w="1123625" h="840116">
                <a:moveTo>
                  <a:pt x="54440" y="0"/>
                </a:moveTo>
                <a:lnTo>
                  <a:pt x="1069185" y="0"/>
                </a:lnTo>
                <a:cubicBezTo>
                  <a:pt x="1083623" y="0"/>
                  <a:pt x="1097471" y="5736"/>
                  <a:pt x="1107680" y="15945"/>
                </a:cubicBezTo>
                <a:cubicBezTo>
                  <a:pt x="1117890" y="26155"/>
                  <a:pt x="1123625" y="40002"/>
                  <a:pt x="1123625" y="54440"/>
                </a:cubicBezTo>
                <a:lnTo>
                  <a:pt x="1123625" y="785675"/>
                </a:lnTo>
                <a:cubicBezTo>
                  <a:pt x="1123625" y="815742"/>
                  <a:pt x="1099252" y="840116"/>
                  <a:pt x="1069185" y="840116"/>
                </a:cubicBezTo>
                <a:lnTo>
                  <a:pt x="54440" y="840116"/>
                </a:lnTo>
                <a:cubicBezTo>
                  <a:pt x="24374" y="840116"/>
                  <a:pt x="0" y="815742"/>
                  <a:pt x="0" y="785675"/>
                </a:cubicBezTo>
                <a:lnTo>
                  <a:pt x="0" y="54440"/>
                </a:lnTo>
                <a:cubicBezTo>
                  <a:pt x="0" y="24374"/>
                  <a:pt x="24374" y="0"/>
                  <a:pt x="54440" y="0"/>
                </a:cubicBezTo>
                <a:close/>
              </a:path>
            </a:pathLst>
          </a:custGeom>
          <a:solidFill>
            <a:srgbClr val="FFFFFF"/>
          </a:solidFill>
          <a:ln w="19050">
            <a:solidFill>
              <a:srgbClr val="A6A6A6"/>
            </a:solidFill>
            <a:prstDash val="solid"/>
          </a:ln>
        </p:spPr>
        <p:txBody>
          <a:bodyPr/>
          <a:lstStyle/>
          <a:p>
            <a:endParaRPr lang="en-EC"/>
          </a:p>
        </p:txBody>
      </p:sp>
      <p:sp>
        <p:nvSpPr>
          <p:cNvPr id="13" name="TextBox 13">
            <a:extLst>
              <a:ext uri="{FF2B5EF4-FFF2-40B4-BE49-F238E27FC236}">
                <a16:creationId xmlns:a16="http://schemas.microsoft.com/office/drawing/2014/main" id="{AE316539-DA59-4656-BF3D-8B0593470994}"/>
              </a:ext>
            </a:extLst>
          </p:cNvPr>
          <p:cNvSpPr>
            <a:spLocks noGrp="1"/>
          </p:cNvSpPr>
          <p:nvPr/>
        </p:nvSpPr>
        <p:spPr>
          <a:xfrm>
            <a:off x="4092464" y="6412562"/>
            <a:ext cx="4266265" cy="3334474"/>
          </a:xfrm>
          <a:prstGeom prst="rect">
            <a:avLst/>
          </a:prstGeom>
        </p:spPr>
        <p:txBody>
          <a:bodyPr lIns="50800" tIns="50800" rIns="50800" bIns="50800" anchor="ctr"/>
          <a:lstStyle/>
          <a:p>
            <a:pPr algn="ctr">
              <a:lnSpc>
                <a:spcPts val="2659"/>
              </a:lnSpc>
              <a:buNone/>
            </a:pPr>
            <a:endParaRPr/>
          </a:p>
        </p:txBody>
      </p:sp>
      <p:sp>
        <p:nvSpPr>
          <p:cNvPr id="14" name="TextBox 14">
            <a:extLst>
              <a:ext uri="{FF2B5EF4-FFF2-40B4-BE49-F238E27FC236}">
                <a16:creationId xmlns:a16="http://schemas.microsoft.com/office/drawing/2014/main" id="{972508F0-F542-4925-B122-7D9BC2C7D123}"/>
              </a:ext>
            </a:extLst>
          </p:cNvPr>
          <p:cNvSpPr>
            <a:spLocks noGrp="1"/>
          </p:cNvSpPr>
          <p:nvPr/>
        </p:nvSpPr>
        <p:spPr>
          <a:xfrm>
            <a:off x="9354546" y="8535950"/>
            <a:ext cx="9338377" cy="1148374"/>
          </a:xfrm>
          <a:prstGeom prst="rect">
            <a:avLst/>
          </a:prstGeom>
        </p:spPr>
        <p:txBody>
          <a:bodyPr lIns="0" tIns="0" rIns="0" bIns="0" anchor="t">
            <a:spAutoFit/>
          </a:bodyPr>
          <a:lstStyle/>
          <a:p>
            <a:pPr algn="l">
              <a:lnSpc>
                <a:spcPts val="8086"/>
              </a:lnSpc>
              <a:buNone/>
            </a:pPr>
            <a:r>
              <a:rPr sz="8086" b="1" dirty="0">
                <a:solidFill>
                  <a:srgbClr val="1B1B1B"/>
                </a:solidFill>
                <a:latin typeface="Telegraf Medium"/>
                <a:ea typeface="Telegraf Medium"/>
                <a:cs typeface="Telegraf Medium"/>
              </a:rPr>
              <a:t>The Birth of AI</a:t>
            </a:r>
          </a:p>
        </p:txBody>
      </p:sp>
      <p:sp>
        <p:nvSpPr>
          <p:cNvPr id="15" name="TextBox 15">
            <a:extLst>
              <a:ext uri="{FF2B5EF4-FFF2-40B4-BE49-F238E27FC236}">
                <a16:creationId xmlns:a16="http://schemas.microsoft.com/office/drawing/2014/main" id="{D5B5096D-1300-462D-BF4C-2DAB559EDBA9}"/>
              </a:ext>
            </a:extLst>
          </p:cNvPr>
          <p:cNvSpPr>
            <a:spLocks noGrp="1"/>
          </p:cNvSpPr>
          <p:nvPr/>
        </p:nvSpPr>
        <p:spPr>
          <a:xfrm>
            <a:off x="4550731" y="7219458"/>
            <a:ext cx="3127627" cy="2085975"/>
          </a:xfrm>
          <a:prstGeom prst="rect">
            <a:avLst/>
          </a:prstGeom>
        </p:spPr>
        <p:txBody>
          <a:bodyPr lIns="0" tIns="0" rIns="0" bIns="0" anchor="t">
            <a:spAutoFit/>
          </a:bodyPr>
          <a:lstStyle/>
          <a:p>
            <a:pPr algn="l">
              <a:lnSpc>
                <a:spcPts val="3119"/>
              </a:lnSpc>
              <a:buNone/>
            </a:pPr>
            <a:endParaRPr/>
          </a:p>
          <a:p>
            <a:pPr marL="561334" indent="-280667" algn="l">
              <a:lnSpc>
                <a:spcPts val="3119"/>
              </a:lnSpc>
              <a:buFont typeface="Arial"/>
              <a:buChar char="•"/>
            </a:pPr>
            <a:r>
              <a:rPr sz="2599" b="1">
                <a:solidFill>
                  <a:srgbClr val="1B1B1B"/>
                </a:solidFill>
                <a:latin typeface="Helvetica World Bold"/>
                <a:ea typeface="Helvetica World Bold"/>
                <a:cs typeface="Helvetica World Bold"/>
              </a:rPr>
              <a:t>Shannon</a:t>
            </a:r>
          </a:p>
          <a:p>
            <a:pPr marL="561334" indent="-280667" algn="l">
              <a:lnSpc>
                <a:spcPts val="3119"/>
              </a:lnSpc>
              <a:buFont typeface="Arial"/>
              <a:buChar char="•"/>
            </a:pPr>
            <a:r>
              <a:rPr sz="2599" b="1">
                <a:solidFill>
                  <a:srgbClr val="1B1B1B"/>
                </a:solidFill>
                <a:latin typeface="Helvetica World Bold"/>
                <a:ea typeface="Helvetica World Bold"/>
                <a:cs typeface="Helvetica World Bold"/>
              </a:rPr>
              <a:t>Minsky</a:t>
            </a:r>
          </a:p>
          <a:p>
            <a:pPr marL="561334" indent="-280667" algn="l">
              <a:lnSpc>
                <a:spcPts val="3119"/>
              </a:lnSpc>
              <a:buFont typeface="Arial"/>
              <a:buChar char="•"/>
            </a:pPr>
            <a:r>
              <a:rPr sz="2599" b="1">
                <a:solidFill>
                  <a:srgbClr val="1B1B1B"/>
                </a:solidFill>
                <a:latin typeface="Helvetica World Bold"/>
                <a:ea typeface="Helvetica World Bold"/>
                <a:cs typeface="Helvetica World Bold"/>
              </a:rPr>
              <a:t>Rochester</a:t>
            </a:r>
          </a:p>
          <a:p>
            <a:pPr marL="561334" indent="-280667" algn="l">
              <a:lnSpc>
                <a:spcPts val="3119"/>
              </a:lnSpc>
              <a:buFont typeface="Arial"/>
              <a:buChar char="•"/>
            </a:pPr>
            <a:r>
              <a:rPr sz="2599" b="1">
                <a:solidFill>
                  <a:srgbClr val="1B1B1B"/>
                </a:solidFill>
                <a:latin typeface="Helvetica World Bold"/>
                <a:ea typeface="Helvetica World Bold"/>
                <a:cs typeface="Helvetica World Bold"/>
              </a:rPr>
              <a:t>McCarthy</a:t>
            </a:r>
          </a:p>
        </p:txBody>
      </p:sp>
      <p:sp>
        <p:nvSpPr>
          <p:cNvPr id="16" name="TextBox 16">
            <a:extLst>
              <a:ext uri="{FF2B5EF4-FFF2-40B4-BE49-F238E27FC236}">
                <a16:creationId xmlns:a16="http://schemas.microsoft.com/office/drawing/2014/main" id="{CAAE9D6C-83BE-42A2-BDBC-59AB76F8ED6A}"/>
              </a:ext>
            </a:extLst>
          </p:cNvPr>
          <p:cNvSpPr>
            <a:spLocks noGrp="1"/>
          </p:cNvSpPr>
          <p:nvPr/>
        </p:nvSpPr>
        <p:spPr>
          <a:xfrm>
            <a:off x="4550731" y="6988477"/>
            <a:ext cx="3697891" cy="410369"/>
          </a:xfrm>
          <a:prstGeom prst="rect">
            <a:avLst/>
          </a:prstGeom>
        </p:spPr>
        <p:txBody>
          <a:bodyPr wrap="square" lIns="0" tIns="0" rIns="0" bIns="0" anchor="t">
            <a:spAutoFit/>
          </a:bodyPr>
          <a:lstStyle/>
          <a:p>
            <a:pPr algn="l">
              <a:lnSpc>
                <a:spcPts val="3239"/>
              </a:lnSpc>
              <a:buNone/>
            </a:pPr>
            <a:r>
              <a:rPr sz="2699" b="1" i="1" dirty="0">
                <a:solidFill>
                  <a:srgbClr val="1B1B1B"/>
                </a:solidFill>
                <a:latin typeface="Helvetica World Bold Italics"/>
                <a:ea typeface="Helvetica World Bold Italics"/>
                <a:cs typeface="Helvetica World Bold Italics"/>
              </a:rPr>
              <a:t>Darthmouth College </a:t>
            </a:r>
          </a:p>
        </p:txBody>
      </p:sp>
      <p:sp>
        <p:nvSpPr>
          <p:cNvPr id="17" name="AutoShape 17">
            <a:extLst>
              <a:ext uri="{FF2B5EF4-FFF2-40B4-BE49-F238E27FC236}">
                <a16:creationId xmlns:a16="http://schemas.microsoft.com/office/drawing/2014/main" id="{30E3742B-42D2-4609-89F1-7D5632B2A4E8}"/>
              </a:ext>
            </a:extLst>
          </p:cNvPr>
          <p:cNvSpPr>
            <a:spLocks noGrp="1"/>
          </p:cNvSpPr>
          <p:nvPr/>
        </p:nvSpPr>
        <p:spPr>
          <a:xfrm flipH="1" flipV="1">
            <a:off x="2831895" y="-304559"/>
            <a:ext cx="38090" cy="1665956"/>
          </a:xfrm>
          <a:prstGeom prst="line">
            <a:avLst/>
          </a:prstGeom>
          <a:ln w="76200">
            <a:solidFill>
              <a:srgbClr val="000000"/>
            </a:solidFill>
            <a:prstDash val="solid"/>
            <a:headEnd type="diamond" w="lg" len="lg"/>
            <a:tailEnd type="none" w="sm" len="sm"/>
          </a:ln>
        </p:spPr>
        <p:txBody>
          <a:bodyPr/>
          <a:lstStyle/>
          <a:p>
            <a:endParaRPr lang="en-EC"/>
          </a:p>
        </p:txBody>
      </p:sp>
      <p:sp>
        <p:nvSpPr>
          <p:cNvPr id="18" name="TextBox 18">
            <a:extLst>
              <a:ext uri="{FF2B5EF4-FFF2-40B4-BE49-F238E27FC236}">
                <a16:creationId xmlns:a16="http://schemas.microsoft.com/office/drawing/2014/main" id="{ECF3774E-32EE-48CA-9678-9B6806B29D01}"/>
              </a:ext>
            </a:extLst>
          </p:cNvPr>
          <p:cNvSpPr>
            <a:spLocks noGrp="1"/>
          </p:cNvSpPr>
          <p:nvPr/>
        </p:nvSpPr>
        <p:spPr>
          <a:xfrm>
            <a:off x="926245" y="857837"/>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1956</a:t>
            </a:r>
          </a:p>
        </p:txBody>
      </p:sp>
      <p:sp>
        <p:nvSpPr>
          <p:cNvPr id="19" name="Freeform 19">
            <a:hlinkClick r:id="rId6"/>
            <a:extLst>
              <a:ext uri="{FF2B5EF4-FFF2-40B4-BE49-F238E27FC236}">
                <a16:creationId xmlns:a16="http://schemas.microsoft.com/office/drawing/2014/main" id="{1B3B5F34-FA98-45EB-8AF2-3E5D98DFC8C7}"/>
              </a:ext>
            </a:extLst>
          </p:cNvPr>
          <p:cNvSpPr>
            <a:spLocks noGrp="1"/>
          </p:cNvSpPr>
          <p:nvPr/>
        </p:nvSpPr>
        <p:spPr>
          <a:xfrm>
            <a:off x="1028700" y="7752167"/>
            <a:ext cx="831325" cy="831325"/>
          </a:xfrm>
          <a:custGeom>
            <a:avLst/>
            <a:gdLst/>
            <a:ahLst/>
            <a:cxnLst/>
            <a:rect l="l" t="t" r="r" b="b"/>
            <a:pathLst>
              <a:path w="831325" h="831325">
                <a:moveTo>
                  <a:pt x="0" y="0"/>
                </a:moveTo>
                <a:lnTo>
                  <a:pt x="831325" y="0"/>
                </a:lnTo>
                <a:lnTo>
                  <a:pt x="831325" y="831326"/>
                </a:lnTo>
                <a:lnTo>
                  <a:pt x="0" y="831326"/>
                </a:lnTo>
                <a:lnTo>
                  <a:pt x="0" y="0"/>
                </a:lnTo>
                <a:close/>
              </a:path>
            </a:pathLst>
          </a:custGeom>
          <a:blipFill>
            <a:blip r:embed="rId7"/>
            <a:stretch>
              <a:fillRect/>
            </a:stretch>
          </a:blipFill>
        </p:spPr>
        <p:txBody>
          <a:bodyPr/>
          <a:lstStyle/>
          <a:p>
            <a:endParaRPr lang="en-EC"/>
          </a:p>
        </p:txBody>
      </p:sp>
      <p:sp>
        <p:nvSpPr>
          <p:cNvPr id="21" name="Freeform 21">
            <a:extLst>
              <a:ext uri="{FF2B5EF4-FFF2-40B4-BE49-F238E27FC236}">
                <a16:creationId xmlns:a16="http://schemas.microsoft.com/office/drawing/2014/main" id="{F3BD94A0-952B-4D83-8461-748C3439A80E}"/>
              </a:ext>
            </a:extLst>
          </p:cNvPr>
          <p:cNvSpPr>
            <a:spLocks noGrp="1"/>
          </p:cNvSpPr>
          <p:nvPr/>
        </p:nvSpPr>
        <p:spPr>
          <a:xfrm>
            <a:off x="11381052" y="500228"/>
            <a:ext cx="6289230" cy="3458975"/>
          </a:xfrm>
          <a:custGeom>
            <a:avLst/>
            <a:gdLst/>
            <a:ahLst/>
            <a:cxnLst/>
            <a:rect l="l" t="t" r="r" b="b"/>
            <a:pathLst>
              <a:path w="1656423" h="911006">
                <a:moveTo>
                  <a:pt x="36929" y="0"/>
                </a:moveTo>
                <a:lnTo>
                  <a:pt x="1619493" y="0"/>
                </a:lnTo>
                <a:cubicBezTo>
                  <a:pt x="1639889" y="0"/>
                  <a:pt x="1656423" y="16534"/>
                  <a:pt x="1656423" y="36929"/>
                </a:cubicBezTo>
                <a:lnTo>
                  <a:pt x="1656423" y="874076"/>
                </a:lnTo>
                <a:cubicBezTo>
                  <a:pt x="1656423" y="883870"/>
                  <a:pt x="1652532" y="893264"/>
                  <a:pt x="1645606" y="900189"/>
                </a:cubicBezTo>
                <a:cubicBezTo>
                  <a:pt x="1638681" y="907115"/>
                  <a:pt x="1629288" y="911006"/>
                  <a:pt x="1619493" y="911006"/>
                </a:cubicBezTo>
                <a:lnTo>
                  <a:pt x="36929" y="911006"/>
                </a:lnTo>
                <a:cubicBezTo>
                  <a:pt x="27135" y="911006"/>
                  <a:pt x="17742" y="907115"/>
                  <a:pt x="10816" y="900189"/>
                </a:cubicBezTo>
                <a:cubicBezTo>
                  <a:pt x="3891" y="893264"/>
                  <a:pt x="0" y="883870"/>
                  <a:pt x="0" y="874076"/>
                </a:cubicBezTo>
                <a:lnTo>
                  <a:pt x="0" y="36929"/>
                </a:lnTo>
                <a:cubicBezTo>
                  <a:pt x="0" y="27135"/>
                  <a:pt x="3891" y="17742"/>
                  <a:pt x="10816" y="10816"/>
                </a:cubicBezTo>
                <a:cubicBezTo>
                  <a:pt x="17742" y="3891"/>
                  <a:pt x="27135" y="0"/>
                  <a:pt x="36929" y="0"/>
                </a:cubicBezTo>
                <a:close/>
              </a:path>
            </a:pathLst>
          </a:custGeom>
          <a:solidFill>
            <a:srgbClr val="FFFFFF"/>
          </a:solidFill>
          <a:ln w="19050">
            <a:solidFill>
              <a:srgbClr val="A6A6A6"/>
            </a:solidFill>
            <a:prstDash val="solid"/>
          </a:ln>
        </p:spPr>
        <p:txBody>
          <a:bodyPr/>
          <a:lstStyle/>
          <a:p>
            <a:endParaRPr lang="en-EC"/>
          </a:p>
        </p:txBody>
      </p:sp>
      <p:sp>
        <p:nvSpPr>
          <p:cNvPr id="22" name="TextBox 22">
            <a:extLst>
              <a:ext uri="{FF2B5EF4-FFF2-40B4-BE49-F238E27FC236}">
                <a16:creationId xmlns:a16="http://schemas.microsoft.com/office/drawing/2014/main" id="{252695AC-9C8C-4852-9030-6F4A4B3E77FF}"/>
              </a:ext>
            </a:extLst>
          </p:cNvPr>
          <p:cNvSpPr>
            <a:spLocks noGrp="1"/>
          </p:cNvSpPr>
          <p:nvPr/>
        </p:nvSpPr>
        <p:spPr>
          <a:xfrm>
            <a:off x="11381052" y="355568"/>
            <a:ext cx="6289230" cy="3603635"/>
          </a:xfrm>
          <a:prstGeom prst="rect">
            <a:avLst/>
          </a:prstGeom>
        </p:spPr>
        <p:txBody>
          <a:bodyPr lIns="50800" tIns="50800" rIns="50800" bIns="50800" anchor="ctr"/>
          <a:lstStyle/>
          <a:p>
            <a:pPr algn="ctr">
              <a:lnSpc>
                <a:spcPts val="2659"/>
              </a:lnSpc>
              <a:buNone/>
            </a:pPr>
            <a:endParaRPr/>
          </a:p>
        </p:txBody>
      </p:sp>
      <p:sp>
        <p:nvSpPr>
          <p:cNvPr id="23" name="TextBox 23">
            <a:extLst>
              <a:ext uri="{FF2B5EF4-FFF2-40B4-BE49-F238E27FC236}">
                <a16:creationId xmlns:a16="http://schemas.microsoft.com/office/drawing/2014/main" id="{263ED868-27B1-4B7C-A646-E128A3E094F4}"/>
              </a:ext>
            </a:extLst>
          </p:cNvPr>
          <p:cNvSpPr>
            <a:spLocks noGrp="1"/>
          </p:cNvSpPr>
          <p:nvPr/>
        </p:nvSpPr>
        <p:spPr>
          <a:xfrm>
            <a:off x="11618871" y="658090"/>
            <a:ext cx="5813593" cy="3152775"/>
          </a:xfrm>
          <a:prstGeom prst="rect">
            <a:avLst/>
          </a:prstGeom>
        </p:spPr>
        <p:txBody>
          <a:bodyPr lIns="0" tIns="0" rIns="0" bIns="0" anchor="t">
            <a:spAutoFit/>
          </a:bodyPr>
          <a:lstStyle/>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Automatic Computers </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How can a Computer be Programmed to use language</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Neuron Nets</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Theory of the Size of a Calculation</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Self-Improvement</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Abstractions</a:t>
            </a:r>
          </a:p>
          <a:p>
            <a:pPr marL="518155" indent="-259078">
              <a:lnSpc>
                <a:spcPts val="2879"/>
              </a:lnSpc>
              <a:buAutoNum type="arabicPeriod"/>
            </a:pPr>
            <a:r>
              <a:rPr sz="2399" b="1" i="1">
                <a:solidFill>
                  <a:srgbClr val="1B1B1B"/>
                </a:solidFill>
                <a:latin typeface="Helvetica World Bold Italics"/>
                <a:ea typeface="Helvetica World Bold Italics"/>
                <a:cs typeface="Helvetica World Bold Italics"/>
              </a:rPr>
              <a:t> Randomness and Creativity</a:t>
            </a:r>
          </a:p>
        </p:txBody>
      </p:sp>
    </p:spTree>
    <p:extLst>
      <p:ext uri="{BB962C8B-B14F-4D97-AF65-F5344CB8AC3E}">
        <p14:creationId xmlns:p14="http://schemas.microsoft.com/office/powerpoint/2010/main" val="1415555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525BAADA-432E-467D-BD82-95E4F3BEE909}"/>
              </a:ext>
            </a:extLst>
          </p:cNvPr>
          <p:cNvSpPr>
            <a:spLocks noGrp="1"/>
          </p:cNvSpPr>
          <p:nvPr/>
        </p:nvSpPr>
        <p:spPr>
          <a:xfrm>
            <a:off x="1028700" y="2120937"/>
            <a:ext cx="7197754" cy="7366792"/>
          </a:xfrm>
          <a:custGeom>
            <a:avLst/>
            <a:gdLst/>
            <a:ahLst/>
            <a:cxnLst/>
            <a:rect l="l" t="t" r="r" b="b"/>
            <a:pathLst>
              <a:path w="1895705" h="1940225">
                <a:moveTo>
                  <a:pt x="32268" y="0"/>
                </a:moveTo>
                <a:lnTo>
                  <a:pt x="1863437" y="0"/>
                </a:lnTo>
                <a:cubicBezTo>
                  <a:pt x="1881258" y="0"/>
                  <a:pt x="1895705" y="14447"/>
                  <a:pt x="1895705" y="32268"/>
                </a:cubicBezTo>
                <a:lnTo>
                  <a:pt x="1895705" y="1907957"/>
                </a:lnTo>
                <a:cubicBezTo>
                  <a:pt x="1895705" y="1916515"/>
                  <a:pt x="1892305" y="1924722"/>
                  <a:pt x="1886254" y="1930774"/>
                </a:cubicBezTo>
                <a:cubicBezTo>
                  <a:pt x="1880202" y="1936825"/>
                  <a:pt x="1871995" y="1940225"/>
                  <a:pt x="1863437" y="1940225"/>
                </a:cubicBezTo>
                <a:lnTo>
                  <a:pt x="32268" y="1940225"/>
                </a:lnTo>
                <a:cubicBezTo>
                  <a:pt x="23710" y="1940225"/>
                  <a:pt x="15503" y="1936825"/>
                  <a:pt x="9451" y="1930774"/>
                </a:cubicBezTo>
                <a:cubicBezTo>
                  <a:pt x="3400" y="1924722"/>
                  <a:pt x="0" y="1916515"/>
                  <a:pt x="0" y="1907957"/>
                </a:cubicBezTo>
                <a:lnTo>
                  <a:pt x="0" y="32268"/>
                </a:lnTo>
                <a:cubicBezTo>
                  <a:pt x="0" y="23710"/>
                  <a:pt x="3400" y="15503"/>
                  <a:pt x="9451" y="9451"/>
                </a:cubicBezTo>
                <a:cubicBezTo>
                  <a:pt x="15503" y="3400"/>
                  <a:pt x="23710" y="0"/>
                  <a:pt x="32268"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EBAC47F4-CCDC-407B-BC15-6FBCB7C9F79B}"/>
              </a:ext>
            </a:extLst>
          </p:cNvPr>
          <p:cNvSpPr>
            <a:spLocks noGrp="1"/>
          </p:cNvSpPr>
          <p:nvPr/>
        </p:nvSpPr>
        <p:spPr>
          <a:xfrm>
            <a:off x="1028700" y="1976277"/>
            <a:ext cx="7197754" cy="7511452"/>
          </a:xfrm>
          <a:prstGeom prst="rect">
            <a:avLst/>
          </a:prstGeom>
        </p:spPr>
        <p:txBody>
          <a:bodyPr lIns="50800" tIns="50800" rIns="50800" bIns="50800" anchor="ctr"/>
          <a:lstStyle/>
          <a:p>
            <a:pPr algn="ctr">
              <a:lnSpc>
                <a:spcPts val="2659"/>
              </a:lnSpc>
              <a:buNone/>
            </a:pPr>
            <a:endParaRPr/>
          </a:p>
        </p:txBody>
      </p:sp>
      <p:sp>
        <p:nvSpPr>
          <p:cNvPr id="5" name="Freeform 5">
            <a:extLst>
              <a:ext uri="{FF2B5EF4-FFF2-40B4-BE49-F238E27FC236}">
                <a16:creationId xmlns:a16="http://schemas.microsoft.com/office/drawing/2014/main" id="{ABEE02D2-E634-48EB-912B-B469B0C14B23}"/>
              </a:ext>
            </a:extLst>
          </p:cNvPr>
          <p:cNvSpPr>
            <a:spLocks noGrp="1"/>
          </p:cNvSpPr>
          <p:nvPr/>
        </p:nvSpPr>
        <p:spPr>
          <a:xfrm>
            <a:off x="1250805" y="8926589"/>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6" name="Freeform 6">
            <a:extLst>
              <a:ext uri="{FF2B5EF4-FFF2-40B4-BE49-F238E27FC236}">
                <a16:creationId xmlns:a16="http://schemas.microsoft.com/office/drawing/2014/main" id="{56BDB733-1F77-4F42-B309-5B90C4C73F82}"/>
              </a:ext>
            </a:extLst>
          </p:cNvPr>
          <p:cNvSpPr>
            <a:spLocks noGrp="1"/>
          </p:cNvSpPr>
          <p:nvPr/>
        </p:nvSpPr>
        <p:spPr>
          <a:xfrm flipH="1">
            <a:off x="7643249" y="8926589"/>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E913A243-EE9D-4817-BABD-E943A26BCC48}"/>
              </a:ext>
            </a:extLst>
          </p:cNvPr>
          <p:cNvSpPr>
            <a:spLocks noGrp="1"/>
          </p:cNvSpPr>
          <p:nvPr/>
        </p:nvSpPr>
        <p:spPr>
          <a:xfrm flipV="1">
            <a:off x="1250805" y="2428523"/>
            <a:ext cx="222105" cy="172434"/>
          </a:xfrm>
          <a:custGeom>
            <a:avLst/>
            <a:gdLst/>
            <a:ahLst/>
            <a:cxnLst/>
            <a:rect l="l" t="t" r="r" b="b"/>
            <a:pathLst>
              <a:path w="222105" h="172434">
                <a:moveTo>
                  <a:pt x="0" y="172435"/>
                </a:moveTo>
                <a:lnTo>
                  <a:pt x="222105" y="172435"/>
                </a:lnTo>
                <a:lnTo>
                  <a:pt x="222105" y="0"/>
                </a:lnTo>
                <a:lnTo>
                  <a:pt x="0" y="0"/>
                </a:lnTo>
                <a:lnTo>
                  <a:pt x="0"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4228C6B2-0D11-4536-B023-369DADC42B13}"/>
              </a:ext>
            </a:extLst>
          </p:cNvPr>
          <p:cNvSpPr>
            <a:spLocks noGrp="1"/>
          </p:cNvSpPr>
          <p:nvPr/>
        </p:nvSpPr>
        <p:spPr>
          <a:xfrm flipH="1" flipV="1">
            <a:off x="7643249" y="2428523"/>
            <a:ext cx="222105" cy="172434"/>
          </a:xfrm>
          <a:custGeom>
            <a:avLst/>
            <a:gdLst/>
            <a:ahLst/>
            <a:cxnLst/>
            <a:rect l="l" t="t" r="r" b="b"/>
            <a:pathLst>
              <a:path w="222105" h="172434">
                <a:moveTo>
                  <a:pt x="222105" y="172435"/>
                </a:moveTo>
                <a:lnTo>
                  <a:pt x="0" y="172435"/>
                </a:lnTo>
                <a:lnTo>
                  <a:pt x="0" y="0"/>
                </a:lnTo>
                <a:lnTo>
                  <a:pt x="222105" y="0"/>
                </a:lnTo>
                <a:lnTo>
                  <a:pt x="222105"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AutoShape 9">
            <a:extLst>
              <a:ext uri="{FF2B5EF4-FFF2-40B4-BE49-F238E27FC236}">
                <a16:creationId xmlns:a16="http://schemas.microsoft.com/office/drawing/2014/main" id="{35DBFB88-AEC0-4918-B0D0-574504191043}"/>
              </a:ext>
            </a:extLst>
          </p:cNvPr>
          <p:cNvSpPr>
            <a:spLocks noGrp="1"/>
          </p:cNvSpPr>
          <p:nvPr/>
        </p:nvSpPr>
        <p:spPr>
          <a:xfrm flipH="1" flipV="1">
            <a:off x="3523145" y="0"/>
            <a:ext cx="38090" cy="1665956"/>
          </a:xfrm>
          <a:prstGeom prst="line">
            <a:avLst/>
          </a:prstGeom>
          <a:ln w="76200">
            <a:solidFill>
              <a:srgbClr val="000000"/>
            </a:solidFill>
            <a:prstDash val="solid"/>
            <a:headEnd type="diamond" w="lg" len="lg"/>
            <a:tailEnd type="none" w="sm" len="sm"/>
          </a:ln>
        </p:spPr>
        <p:txBody>
          <a:bodyPr/>
          <a:lstStyle/>
          <a:p>
            <a:endParaRPr lang="en-EC"/>
          </a:p>
        </p:txBody>
      </p:sp>
      <p:sp>
        <p:nvSpPr>
          <p:cNvPr id="10" name="Freeform 10">
            <a:extLst>
              <a:ext uri="{FF2B5EF4-FFF2-40B4-BE49-F238E27FC236}">
                <a16:creationId xmlns:a16="http://schemas.microsoft.com/office/drawing/2014/main" id="{CF5CC7DB-0FF0-4806-8194-4EC5EC75CD6C}"/>
              </a:ext>
            </a:extLst>
          </p:cNvPr>
          <p:cNvSpPr>
            <a:spLocks noGrp="1"/>
          </p:cNvSpPr>
          <p:nvPr/>
        </p:nvSpPr>
        <p:spPr>
          <a:xfrm>
            <a:off x="9144000" y="392951"/>
            <a:ext cx="5801181" cy="3118135"/>
          </a:xfrm>
          <a:custGeom>
            <a:avLst/>
            <a:gdLst/>
            <a:ahLst/>
            <a:cxnLst/>
            <a:rect l="l" t="t" r="r" b="b"/>
            <a:pathLst>
              <a:path w="5801181" h="3118135">
                <a:moveTo>
                  <a:pt x="0" y="0"/>
                </a:moveTo>
                <a:lnTo>
                  <a:pt x="5801181" y="0"/>
                </a:lnTo>
                <a:lnTo>
                  <a:pt x="5801181" y="3118135"/>
                </a:lnTo>
                <a:lnTo>
                  <a:pt x="0" y="3118135"/>
                </a:lnTo>
                <a:lnTo>
                  <a:pt x="0" y="0"/>
                </a:lnTo>
                <a:close/>
              </a:path>
            </a:pathLst>
          </a:custGeom>
          <a:blipFill>
            <a:blip r:embed="rId4"/>
            <a:stretch>
              <a:fillRect/>
            </a:stretch>
          </a:blipFill>
        </p:spPr>
        <p:txBody>
          <a:bodyPr/>
          <a:lstStyle/>
          <a:p>
            <a:endParaRPr lang="en-EC"/>
          </a:p>
        </p:txBody>
      </p:sp>
      <p:sp>
        <p:nvSpPr>
          <p:cNvPr id="11" name="Freeform 11">
            <a:extLst>
              <a:ext uri="{FF2B5EF4-FFF2-40B4-BE49-F238E27FC236}">
                <a16:creationId xmlns:a16="http://schemas.microsoft.com/office/drawing/2014/main" id="{1C72531C-C22E-4521-8936-E47A919D1936}"/>
              </a:ext>
            </a:extLst>
          </p:cNvPr>
          <p:cNvSpPr>
            <a:spLocks noGrp="1"/>
          </p:cNvSpPr>
          <p:nvPr/>
        </p:nvSpPr>
        <p:spPr>
          <a:xfrm>
            <a:off x="9144000" y="3740804"/>
            <a:ext cx="7323290" cy="4476361"/>
          </a:xfrm>
          <a:custGeom>
            <a:avLst/>
            <a:gdLst/>
            <a:ahLst/>
            <a:cxnLst/>
            <a:rect l="l" t="t" r="r" b="b"/>
            <a:pathLst>
              <a:path w="7323290" h="4476361">
                <a:moveTo>
                  <a:pt x="0" y="0"/>
                </a:moveTo>
                <a:lnTo>
                  <a:pt x="7323290" y="0"/>
                </a:lnTo>
                <a:lnTo>
                  <a:pt x="7323290" y="4476360"/>
                </a:lnTo>
                <a:lnTo>
                  <a:pt x="0" y="4476360"/>
                </a:lnTo>
                <a:lnTo>
                  <a:pt x="0" y="0"/>
                </a:lnTo>
                <a:close/>
              </a:path>
            </a:pathLst>
          </a:custGeom>
          <a:blipFill>
            <a:blip r:embed="rId5"/>
            <a:stretch>
              <a:fillRect/>
            </a:stretch>
          </a:blipFill>
        </p:spPr>
        <p:txBody>
          <a:bodyPr/>
          <a:lstStyle/>
          <a:p>
            <a:endParaRPr lang="en-EC"/>
          </a:p>
        </p:txBody>
      </p:sp>
      <p:sp>
        <p:nvSpPr>
          <p:cNvPr id="12" name="TextBox 12">
            <a:extLst>
              <a:ext uri="{FF2B5EF4-FFF2-40B4-BE49-F238E27FC236}">
                <a16:creationId xmlns:a16="http://schemas.microsoft.com/office/drawing/2014/main" id="{C977B680-1544-453A-96E1-43339CB21BB7}"/>
              </a:ext>
            </a:extLst>
          </p:cNvPr>
          <p:cNvSpPr>
            <a:spLocks noGrp="1"/>
          </p:cNvSpPr>
          <p:nvPr/>
        </p:nvSpPr>
        <p:spPr>
          <a:xfrm>
            <a:off x="9144000" y="8691884"/>
            <a:ext cx="6304547" cy="1118319"/>
          </a:xfrm>
          <a:prstGeom prst="rect">
            <a:avLst/>
          </a:prstGeom>
        </p:spPr>
        <p:txBody>
          <a:bodyPr wrap="square" lIns="0" tIns="0" rIns="0" bIns="0" anchor="t">
            <a:spAutoFit/>
          </a:bodyPr>
          <a:lstStyle/>
          <a:p>
            <a:pPr algn="l">
              <a:lnSpc>
                <a:spcPts val="8599"/>
              </a:lnSpc>
              <a:buNone/>
            </a:pPr>
            <a:r>
              <a:rPr sz="8599" b="1" dirty="0">
                <a:solidFill>
                  <a:srgbClr val="1B1B1B"/>
                </a:solidFill>
                <a:latin typeface="Telegraf Medium"/>
                <a:ea typeface="Telegraf Medium"/>
                <a:cs typeface="Telegraf Medium"/>
              </a:rPr>
              <a:t>Perceptron</a:t>
            </a:r>
          </a:p>
        </p:txBody>
      </p:sp>
      <p:sp>
        <p:nvSpPr>
          <p:cNvPr id="13" name="TextBox 13">
            <a:extLst>
              <a:ext uri="{FF2B5EF4-FFF2-40B4-BE49-F238E27FC236}">
                <a16:creationId xmlns:a16="http://schemas.microsoft.com/office/drawing/2014/main" id="{98E03342-20D5-47E8-B7DD-EC3EC88069F9}"/>
              </a:ext>
            </a:extLst>
          </p:cNvPr>
          <p:cNvSpPr>
            <a:spLocks noGrp="1"/>
          </p:cNvSpPr>
          <p:nvPr/>
        </p:nvSpPr>
        <p:spPr>
          <a:xfrm>
            <a:off x="1091943" y="2572383"/>
            <a:ext cx="6662359" cy="7434199"/>
          </a:xfrm>
          <a:prstGeom prst="rect">
            <a:avLst/>
          </a:prstGeom>
        </p:spPr>
        <p:txBody>
          <a:bodyPr lIns="0" tIns="0" rIns="0" bIns="0" anchor="t">
            <a:spAutoFit/>
          </a:bodyPr>
          <a:lstStyle/>
          <a:p>
            <a:pPr marL="561341" indent="-280670" algn="l">
              <a:lnSpc>
                <a:spcPts val="3458"/>
              </a:lnSpc>
              <a:buFont typeface="Arial"/>
              <a:buChar char="•"/>
            </a:pPr>
            <a:r>
              <a:rPr sz="2600">
                <a:solidFill>
                  <a:srgbClr val="1B1B1B"/>
                </a:solidFill>
                <a:latin typeface="Helvetica World"/>
                <a:ea typeface="Helvetica World"/>
                <a:cs typeface="Helvetica World"/>
              </a:rPr>
              <a:t>A computational model inspired by the biological operation of neurons in the brain (proposed by Frank Rosenblatt).</a:t>
            </a:r>
          </a:p>
          <a:p>
            <a:pPr marL="561341" indent="-280670" algn="l">
              <a:lnSpc>
                <a:spcPts val="3458"/>
              </a:lnSpc>
              <a:buFont typeface="Arial"/>
              <a:buChar char="•"/>
            </a:pPr>
            <a:r>
              <a:rPr sz="2600">
                <a:solidFill>
                  <a:srgbClr val="1B1B1B"/>
                </a:solidFill>
                <a:latin typeface="Helvetica World"/>
                <a:ea typeface="Helvetica World"/>
                <a:cs typeface="Helvetica World"/>
              </a:rPr>
              <a:t>A neural network is a distributed parallel processor made up of simple processing units that can store knowledge based on experience and make it available for use.</a:t>
            </a:r>
          </a:p>
          <a:p>
            <a:pPr marL="1122681" indent="-374227" algn="l">
              <a:lnSpc>
                <a:spcPts val="3458"/>
              </a:lnSpc>
              <a:buFont typeface="Arial"/>
              <a:buChar char="⚬"/>
            </a:pPr>
            <a:r>
              <a:rPr sz="2600">
                <a:solidFill>
                  <a:srgbClr val="1B1B1B"/>
                </a:solidFill>
                <a:latin typeface="Helvetica World"/>
                <a:ea typeface="Helvetica World"/>
                <a:cs typeface="Helvetica World"/>
              </a:rPr>
              <a:t>The network acquires knowledge from the environment through a learning process.</a:t>
            </a:r>
          </a:p>
          <a:p>
            <a:pPr marL="1122681" indent="-374227" algn="l">
              <a:lnSpc>
                <a:spcPts val="3458"/>
              </a:lnSpc>
              <a:buFont typeface="Arial"/>
              <a:buChar char="⚬"/>
            </a:pPr>
            <a:r>
              <a:rPr sz="2600">
                <a:solidFill>
                  <a:srgbClr val="1B1B1B"/>
                </a:solidFill>
                <a:latin typeface="Helvetica World"/>
                <a:ea typeface="Helvetica World"/>
                <a:cs typeface="Helvetica World"/>
              </a:rPr>
              <a:t>Connections between neurons, or synaptic weights, are used to store the acquired knowledge.</a:t>
            </a:r>
          </a:p>
          <a:p>
            <a:pPr algn="l">
              <a:lnSpc>
                <a:spcPts val="3458"/>
              </a:lnSpc>
              <a:buNone/>
            </a:pPr>
            <a:endParaRPr sz="2600">
              <a:solidFill>
                <a:srgbClr val="1B1B1B"/>
              </a:solidFill>
              <a:latin typeface="Helvetica World"/>
              <a:ea typeface="Helvetica World"/>
              <a:cs typeface="Helvetica World"/>
            </a:endParaRPr>
          </a:p>
          <a:p>
            <a:pPr algn="l">
              <a:lnSpc>
                <a:spcPts val="3458"/>
              </a:lnSpc>
              <a:buNone/>
            </a:pPr>
            <a:endParaRPr sz="2600">
              <a:solidFill>
                <a:srgbClr val="1B1B1B"/>
              </a:solidFill>
              <a:latin typeface="Helvetica World"/>
              <a:ea typeface="Helvetica World"/>
              <a:cs typeface="Helvetica World"/>
            </a:endParaRPr>
          </a:p>
        </p:txBody>
      </p:sp>
      <p:sp>
        <p:nvSpPr>
          <p:cNvPr id="14" name="TextBox 14">
            <a:extLst>
              <a:ext uri="{FF2B5EF4-FFF2-40B4-BE49-F238E27FC236}">
                <a16:creationId xmlns:a16="http://schemas.microsoft.com/office/drawing/2014/main" id="{E8F9CFC6-0E62-4948-854A-789682832A48}"/>
              </a:ext>
            </a:extLst>
          </p:cNvPr>
          <p:cNvSpPr>
            <a:spLocks noGrp="1"/>
          </p:cNvSpPr>
          <p:nvPr/>
        </p:nvSpPr>
        <p:spPr>
          <a:xfrm>
            <a:off x="1250805" y="856966"/>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1958</a:t>
            </a:r>
          </a:p>
        </p:txBody>
      </p:sp>
    </p:spTree>
    <p:extLst>
      <p:ext uri="{BB962C8B-B14F-4D97-AF65-F5344CB8AC3E}">
        <p14:creationId xmlns:p14="http://schemas.microsoft.com/office/powerpoint/2010/main" val="197417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BDA79BC8-8AB4-4C9D-B77D-678EEA65B2A5}"/>
              </a:ext>
            </a:extLst>
          </p:cNvPr>
          <p:cNvSpPr>
            <a:spLocks noGrp="1"/>
          </p:cNvSpPr>
          <p:nvPr/>
        </p:nvSpPr>
        <p:spPr>
          <a:xfrm>
            <a:off x="1028700" y="3113734"/>
            <a:ext cx="6593536" cy="6144566"/>
          </a:xfrm>
          <a:custGeom>
            <a:avLst/>
            <a:gdLst/>
            <a:ahLst/>
            <a:cxnLst/>
            <a:rect l="l" t="t" r="r" b="b"/>
            <a:pathLst>
              <a:path w="1736569" h="1618322">
                <a:moveTo>
                  <a:pt x="35225" y="0"/>
                </a:moveTo>
                <a:lnTo>
                  <a:pt x="1701344" y="0"/>
                </a:lnTo>
                <a:cubicBezTo>
                  <a:pt x="1720798" y="0"/>
                  <a:pt x="1736569" y="15771"/>
                  <a:pt x="1736569" y="35225"/>
                </a:cubicBezTo>
                <a:lnTo>
                  <a:pt x="1736569" y="1583097"/>
                </a:lnTo>
                <a:cubicBezTo>
                  <a:pt x="1736569" y="1602551"/>
                  <a:pt x="1720798" y="1618322"/>
                  <a:pt x="1701344" y="1618322"/>
                </a:cubicBezTo>
                <a:lnTo>
                  <a:pt x="35225" y="1618322"/>
                </a:lnTo>
                <a:cubicBezTo>
                  <a:pt x="15771" y="1618322"/>
                  <a:pt x="0" y="1602551"/>
                  <a:pt x="0" y="1583097"/>
                </a:cubicBezTo>
                <a:lnTo>
                  <a:pt x="0" y="35225"/>
                </a:lnTo>
                <a:cubicBezTo>
                  <a:pt x="0" y="15771"/>
                  <a:pt x="15771" y="0"/>
                  <a:pt x="35225"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D50C0EEA-D172-41C7-92EA-55E0AEC23188}"/>
              </a:ext>
            </a:extLst>
          </p:cNvPr>
          <p:cNvSpPr>
            <a:spLocks noGrp="1"/>
          </p:cNvSpPr>
          <p:nvPr/>
        </p:nvSpPr>
        <p:spPr>
          <a:xfrm>
            <a:off x="1028700" y="2969074"/>
            <a:ext cx="6593536" cy="6289226"/>
          </a:xfrm>
          <a:prstGeom prst="rect">
            <a:avLst/>
          </a:prstGeom>
        </p:spPr>
        <p:txBody>
          <a:bodyPr lIns="50800" tIns="50800" rIns="50800" bIns="50800" anchor="ctr"/>
          <a:lstStyle/>
          <a:p>
            <a:pPr algn="ctr">
              <a:lnSpc>
                <a:spcPts val="2659"/>
              </a:lnSpc>
              <a:buNone/>
            </a:pPr>
            <a:endParaRPr/>
          </a:p>
        </p:txBody>
      </p:sp>
      <p:sp>
        <p:nvSpPr>
          <p:cNvPr id="5" name="AutoShape 5">
            <a:extLst>
              <a:ext uri="{FF2B5EF4-FFF2-40B4-BE49-F238E27FC236}">
                <a16:creationId xmlns:a16="http://schemas.microsoft.com/office/drawing/2014/main" id="{25949870-9947-4F1B-8180-55380F9F58E5}"/>
              </a:ext>
            </a:extLst>
          </p:cNvPr>
          <p:cNvSpPr>
            <a:spLocks noGrp="1"/>
          </p:cNvSpPr>
          <p:nvPr/>
        </p:nvSpPr>
        <p:spPr>
          <a:xfrm flipH="1" flipV="1">
            <a:off x="8755402" y="0"/>
            <a:ext cx="0" cy="1613497"/>
          </a:xfrm>
          <a:prstGeom prst="line">
            <a:avLst/>
          </a:prstGeom>
          <a:ln w="76200">
            <a:solidFill>
              <a:srgbClr val="000000"/>
            </a:solidFill>
            <a:prstDash val="solid"/>
            <a:headEnd type="diamond" w="lg" len="lg"/>
            <a:tailEnd type="none" w="sm" len="sm"/>
          </a:ln>
        </p:spPr>
        <p:txBody>
          <a:bodyPr/>
          <a:lstStyle/>
          <a:p>
            <a:endParaRPr lang="en-EC"/>
          </a:p>
        </p:txBody>
      </p:sp>
      <p:sp>
        <p:nvSpPr>
          <p:cNvPr id="7" name="Freeform 7">
            <a:extLst>
              <a:ext uri="{FF2B5EF4-FFF2-40B4-BE49-F238E27FC236}">
                <a16:creationId xmlns:a16="http://schemas.microsoft.com/office/drawing/2014/main" id="{7DC17FA4-50A6-4AE0-A0EB-31E3E945A1AB}"/>
              </a:ext>
            </a:extLst>
          </p:cNvPr>
          <p:cNvSpPr>
            <a:spLocks noGrp="1"/>
          </p:cNvSpPr>
          <p:nvPr/>
        </p:nvSpPr>
        <p:spPr>
          <a:xfrm>
            <a:off x="10700483" y="3113734"/>
            <a:ext cx="6558817" cy="6144566"/>
          </a:xfrm>
          <a:custGeom>
            <a:avLst/>
            <a:gdLst/>
            <a:ahLst/>
            <a:cxnLst/>
            <a:rect l="l" t="t" r="r" b="b"/>
            <a:pathLst>
              <a:path w="1727425" h="1618322">
                <a:moveTo>
                  <a:pt x="35412" y="0"/>
                </a:moveTo>
                <a:lnTo>
                  <a:pt x="1692013" y="0"/>
                </a:lnTo>
                <a:cubicBezTo>
                  <a:pt x="1711571" y="0"/>
                  <a:pt x="1727425" y="15854"/>
                  <a:pt x="1727425" y="35412"/>
                </a:cubicBezTo>
                <a:lnTo>
                  <a:pt x="1727425" y="1582910"/>
                </a:lnTo>
                <a:cubicBezTo>
                  <a:pt x="1727425" y="1592302"/>
                  <a:pt x="1723694" y="1601309"/>
                  <a:pt x="1717053" y="1607950"/>
                </a:cubicBezTo>
                <a:cubicBezTo>
                  <a:pt x="1710412" y="1614591"/>
                  <a:pt x="1701405" y="1618322"/>
                  <a:pt x="1692013" y="1618322"/>
                </a:cubicBezTo>
                <a:lnTo>
                  <a:pt x="35412" y="1618322"/>
                </a:lnTo>
                <a:cubicBezTo>
                  <a:pt x="26020" y="1618322"/>
                  <a:pt x="17013" y="1614591"/>
                  <a:pt x="10372" y="1607950"/>
                </a:cubicBezTo>
                <a:cubicBezTo>
                  <a:pt x="3731" y="1601309"/>
                  <a:pt x="0" y="1592302"/>
                  <a:pt x="0" y="1582910"/>
                </a:cubicBezTo>
                <a:lnTo>
                  <a:pt x="0" y="35412"/>
                </a:lnTo>
                <a:cubicBezTo>
                  <a:pt x="0" y="26020"/>
                  <a:pt x="3731" y="17013"/>
                  <a:pt x="10372" y="10372"/>
                </a:cubicBezTo>
                <a:cubicBezTo>
                  <a:pt x="17013" y="3731"/>
                  <a:pt x="26020" y="0"/>
                  <a:pt x="35412" y="0"/>
                </a:cubicBezTo>
                <a:close/>
              </a:path>
            </a:pathLst>
          </a:custGeom>
          <a:solidFill>
            <a:srgbClr val="FFFFFF"/>
          </a:solidFill>
          <a:ln w="19050">
            <a:solidFill>
              <a:srgbClr val="A6A6A6"/>
            </a:solidFill>
            <a:prstDash val="solid"/>
          </a:ln>
        </p:spPr>
        <p:txBody>
          <a:bodyPr/>
          <a:lstStyle/>
          <a:p>
            <a:endParaRPr lang="en-EC"/>
          </a:p>
        </p:txBody>
      </p:sp>
      <p:sp>
        <p:nvSpPr>
          <p:cNvPr id="8" name="TextBox 8">
            <a:extLst>
              <a:ext uri="{FF2B5EF4-FFF2-40B4-BE49-F238E27FC236}">
                <a16:creationId xmlns:a16="http://schemas.microsoft.com/office/drawing/2014/main" id="{2D90E77A-8740-4799-AB88-5FCAD51557C8}"/>
              </a:ext>
            </a:extLst>
          </p:cNvPr>
          <p:cNvSpPr>
            <a:spLocks noGrp="1"/>
          </p:cNvSpPr>
          <p:nvPr/>
        </p:nvSpPr>
        <p:spPr>
          <a:xfrm>
            <a:off x="10700483" y="2969074"/>
            <a:ext cx="6558817" cy="6289226"/>
          </a:xfrm>
          <a:prstGeom prst="rect">
            <a:avLst/>
          </a:prstGeom>
        </p:spPr>
        <p:txBody>
          <a:bodyPr lIns="50800" tIns="50800" rIns="50800" bIns="50800" anchor="ctr"/>
          <a:lstStyle/>
          <a:p>
            <a:pPr algn="ctr">
              <a:lnSpc>
                <a:spcPts val="2659"/>
              </a:lnSpc>
              <a:buNone/>
            </a:pPr>
            <a:endParaRPr/>
          </a:p>
        </p:txBody>
      </p:sp>
      <p:sp>
        <p:nvSpPr>
          <p:cNvPr id="9" name="Freeform 9">
            <a:extLst>
              <a:ext uri="{FF2B5EF4-FFF2-40B4-BE49-F238E27FC236}">
                <a16:creationId xmlns:a16="http://schemas.microsoft.com/office/drawing/2014/main" id="{47B7692E-756E-4DD3-90D7-C44F3E4FB415}"/>
              </a:ext>
            </a:extLst>
          </p:cNvPr>
          <p:cNvSpPr>
            <a:spLocks noGrp="1"/>
          </p:cNvSpPr>
          <p:nvPr/>
        </p:nvSpPr>
        <p:spPr>
          <a:xfrm>
            <a:off x="13095408" y="1179673"/>
            <a:ext cx="1336815" cy="1503917"/>
          </a:xfrm>
          <a:custGeom>
            <a:avLst/>
            <a:gdLst/>
            <a:ahLst/>
            <a:cxnLst/>
            <a:rect l="l" t="t" r="r" b="b"/>
            <a:pathLst>
              <a:path w="1336815" h="1503917">
                <a:moveTo>
                  <a:pt x="0" y="0"/>
                </a:moveTo>
                <a:lnTo>
                  <a:pt x="1336815" y="0"/>
                </a:lnTo>
                <a:lnTo>
                  <a:pt x="1336815" y="1503917"/>
                </a:lnTo>
                <a:lnTo>
                  <a:pt x="0" y="1503917"/>
                </a:lnTo>
                <a:lnTo>
                  <a:pt x="0" y="0"/>
                </a:lnTo>
                <a:close/>
              </a:path>
            </a:pathLst>
          </a:custGeom>
          <a:blipFill>
            <a:blip r:embed="rId3"/>
            <a:stretch>
              <a:fillRect/>
            </a:stretch>
          </a:blipFill>
        </p:spPr>
        <p:txBody>
          <a:bodyPr/>
          <a:lstStyle/>
          <a:p>
            <a:endParaRPr lang="en-EC"/>
          </a:p>
        </p:txBody>
      </p:sp>
      <p:sp>
        <p:nvSpPr>
          <p:cNvPr id="10" name="TextBox 10">
            <a:extLst>
              <a:ext uri="{FF2B5EF4-FFF2-40B4-BE49-F238E27FC236}">
                <a16:creationId xmlns:a16="http://schemas.microsoft.com/office/drawing/2014/main" id="{4DC5233B-37D9-41F9-9539-0D207B8E844C}"/>
              </a:ext>
            </a:extLst>
          </p:cNvPr>
          <p:cNvSpPr>
            <a:spLocks noGrp="1"/>
          </p:cNvSpPr>
          <p:nvPr/>
        </p:nvSpPr>
        <p:spPr>
          <a:xfrm>
            <a:off x="6810322" y="1864322"/>
            <a:ext cx="3890162" cy="808990"/>
          </a:xfrm>
          <a:prstGeom prst="rect">
            <a:avLst/>
          </a:prstGeom>
        </p:spPr>
        <p:txBody>
          <a:bodyPr lIns="0" tIns="0" rIns="0" bIns="0" anchor="t">
            <a:spAutoFit/>
          </a:bodyPr>
          <a:lstStyle/>
          <a:p>
            <a:pPr algn="ctr">
              <a:lnSpc>
                <a:spcPts val="5600"/>
              </a:lnSpc>
              <a:buNone/>
            </a:pPr>
            <a:r>
              <a:rPr sz="5600" b="1">
                <a:solidFill>
                  <a:srgbClr val="1B1B1B"/>
                </a:solidFill>
                <a:latin typeface="Telegraf Medium"/>
                <a:ea typeface="Telegraf Medium"/>
                <a:cs typeface="Telegraf Medium"/>
              </a:rPr>
              <a:t>1970</a:t>
            </a:r>
          </a:p>
        </p:txBody>
      </p:sp>
      <p:sp>
        <p:nvSpPr>
          <p:cNvPr id="11" name="TextBox 11">
            <a:extLst>
              <a:ext uri="{FF2B5EF4-FFF2-40B4-BE49-F238E27FC236}">
                <a16:creationId xmlns:a16="http://schemas.microsoft.com/office/drawing/2014/main" id="{4EE2D301-7042-4A68-BECF-3DAA0AA24359}"/>
              </a:ext>
            </a:extLst>
          </p:cNvPr>
          <p:cNvSpPr>
            <a:spLocks noGrp="1"/>
          </p:cNvSpPr>
          <p:nvPr/>
        </p:nvSpPr>
        <p:spPr>
          <a:xfrm>
            <a:off x="2557982" y="1480147"/>
            <a:ext cx="2110243" cy="709681"/>
          </a:xfrm>
          <a:prstGeom prst="rect">
            <a:avLst/>
          </a:prstGeom>
        </p:spPr>
        <p:txBody>
          <a:bodyPr wrap="square" lIns="0" tIns="0" rIns="0" bIns="0" anchor="t">
            <a:spAutoFit/>
          </a:bodyPr>
          <a:lstStyle/>
          <a:p>
            <a:pPr algn="ctr">
              <a:lnSpc>
                <a:spcPts val="5880"/>
              </a:lnSpc>
              <a:spcBef>
                <a:spcPct val="0"/>
              </a:spcBef>
              <a:buNone/>
            </a:pPr>
            <a:r>
              <a:rPr sz="4200" dirty="0">
                <a:solidFill>
                  <a:srgbClr val="1B1B1B"/>
                </a:solidFill>
                <a:latin typeface="Telegraf"/>
                <a:ea typeface="Telegraf"/>
                <a:cs typeface="Telegraf"/>
              </a:rPr>
              <a:t>Prolog</a:t>
            </a:r>
          </a:p>
        </p:txBody>
      </p:sp>
      <p:sp>
        <p:nvSpPr>
          <p:cNvPr id="12" name="TextBox 12">
            <a:extLst>
              <a:ext uri="{FF2B5EF4-FFF2-40B4-BE49-F238E27FC236}">
                <a16:creationId xmlns:a16="http://schemas.microsoft.com/office/drawing/2014/main" id="{8ACA7C4C-2AD0-462E-9833-DA5879C4EA32}"/>
              </a:ext>
            </a:extLst>
          </p:cNvPr>
          <p:cNvSpPr>
            <a:spLocks noGrp="1"/>
          </p:cNvSpPr>
          <p:nvPr/>
        </p:nvSpPr>
        <p:spPr>
          <a:xfrm>
            <a:off x="10997302" y="3326097"/>
            <a:ext cx="5533027" cy="6382512"/>
          </a:xfrm>
          <a:prstGeom prst="rect">
            <a:avLst/>
          </a:prstGeom>
        </p:spPr>
        <p:txBody>
          <a:bodyPr lIns="0" tIns="0" rIns="0" bIns="0" anchor="t">
            <a:spAutoFit/>
          </a:bodyPr>
          <a:lstStyle/>
          <a:p>
            <a:pPr>
              <a:lnSpc>
                <a:spcPts val="3947"/>
              </a:lnSpc>
              <a:buNone/>
            </a:pPr>
            <a:endParaRPr/>
          </a:p>
          <a:p>
            <a:pPr marL="604513" indent="-302256">
              <a:lnSpc>
                <a:spcPts val="3947"/>
              </a:lnSpc>
              <a:buFont typeface="Arial"/>
              <a:buChar char="•"/>
            </a:pPr>
            <a:r>
              <a:rPr sz="2799">
                <a:solidFill>
                  <a:srgbClr val="1B1B1B"/>
                </a:solidFill>
                <a:latin typeface="Helvetica World"/>
                <a:ea typeface="Helvetica World"/>
                <a:cs typeface="Helvetica World"/>
              </a:rPr>
              <a:t>General-purpose programming language.</a:t>
            </a:r>
          </a:p>
          <a:p>
            <a:pPr marL="604513" indent="-302256">
              <a:lnSpc>
                <a:spcPts val="3947"/>
              </a:lnSpc>
              <a:buFont typeface="Arial"/>
              <a:buChar char="•"/>
            </a:pPr>
            <a:r>
              <a:rPr sz="2799">
                <a:solidFill>
                  <a:srgbClr val="1B1B1B"/>
                </a:solidFill>
                <a:latin typeface="Helvetica World"/>
                <a:ea typeface="Helvetica World"/>
                <a:cs typeface="Helvetica World"/>
              </a:rPr>
              <a:t>Created by Dennis Ritchie at Bell Labs.</a:t>
            </a:r>
          </a:p>
          <a:p>
            <a:pPr marL="604513" indent="-302256">
              <a:lnSpc>
                <a:spcPts val="3947"/>
              </a:lnSpc>
              <a:buFont typeface="Arial"/>
              <a:buChar char="•"/>
            </a:pPr>
            <a:r>
              <a:rPr sz="2799">
                <a:solidFill>
                  <a:srgbClr val="1B1B1B"/>
                </a:solidFill>
                <a:latin typeface="Helvetica World"/>
                <a:ea typeface="Helvetica World"/>
                <a:cs typeface="Helvetica World"/>
              </a:rPr>
              <a:t>It is an imperative, compiled language that provides control statements for:</a:t>
            </a:r>
          </a:p>
          <a:p>
            <a:pPr marL="1209026" indent="-403009">
              <a:lnSpc>
                <a:spcPts val="3947"/>
              </a:lnSpc>
              <a:buFont typeface="Arial"/>
              <a:buChar char="⚬"/>
            </a:pPr>
            <a:r>
              <a:rPr sz="2799">
                <a:solidFill>
                  <a:srgbClr val="1B1B1B"/>
                </a:solidFill>
                <a:latin typeface="Helvetica World"/>
                <a:ea typeface="Helvetica World"/>
                <a:cs typeface="Helvetica World"/>
              </a:rPr>
              <a:t>State Management</a:t>
            </a:r>
          </a:p>
          <a:p>
            <a:pPr marL="1209026" indent="-403009">
              <a:lnSpc>
                <a:spcPts val="3947"/>
              </a:lnSpc>
              <a:buFont typeface="Arial"/>
              <a:buChar char="⚬"/>
            </a:pPr>
            <a:r>
              <a:rPr sz="2799">
                <a:solidFill>
                  <a:srgbClr val="1B1B1B"/>
                </a:solidFill>
                <a:latin typeface="Helvetica World"/>
                <a:ea typeface="Helvetica World"/>
                <a:cs typeface="Helvetica World"/>
              </a:rPr>
              <a:t>Decision-Making</a:t>
            </a:r>
          </a:p>
          <a:p>
            <a:pPr marL="1209026" indent="-403009">
              <a:lnSpc>
                <a:spcPts val="3947"/>
              </a:lnSpc>
              <a:buFont typeface="Arial"/>
              <a:buChar char="⚬"/>
            </a:pPr>
            <a:r>
              <a:rPr sz="2799">
                <a:solidFill>
                  <a:srgbClr val="1B1B1B"/>
                </a:solidFill>
                <a:latin typeface="Helvetica World"/>
                <a:ea typeface="Helvetica World"/>
                <a:cs typeface="Helvetica World"/>
              </a:rPr>
              <a:t>Repetitive Tasks</a:t>
            </a:r>
          </a:p>
          <a:p>
            <a:pPr>
              <a:lnSpc>
                <a:spcPts val="3947"/>
              </a:lnSpc>
              <a:buNone/>
            </a:pPr>
            <a:endParaRPr sz="2799">
              <a:solidFill>
                <a:srgbClr val="1B1B1B"/>
              </a:solidFill>
              <a:latin typeface="Helvetica World"/>
              <a:ea typeface="Helvetica World"/>
              <a:cs typeface="Helvetica World"/>
            </a:endParaRPr>
          </a:p>
          <a:p>
            <a:pPr>
              <a:lnSpc>
                <a:spcPts val="3359"/>
              </a:lnSpc>
              <a:buNone/>
            </a:pPr>
            <a:endParaRPr sz="2799">
              <a:solidFill>
                <a:srgbClr val="1B1B1B"/>
              </a:solidFill>
              <a:latin typeface="Helvetica World"/>
              <a:ea typeface="Helvetica World"/>
              <a:cs typeface="Helvetica World"/>
            </a:endParaRPr>
          </a:p>
        </p:txBody>
      </p:sp>
      <p:sp>
        <p:nvSpPr>
          <p:cNvPr id="13" name="TextBox 13">
            <a:extLst>
              <a:ext uri="{FF2B5EF4-FFF2-40B4-BE49-F238E27FC236}">
                <a16:creationId xmlns:a16="http://schemas.microsoft.com/office/drawing/2014/main" id="{4C93A9B1-1D12-4BA4-8C41-69E0F282D0BE}"/>
              </a:ext>
            </a:extLst>
          </p:cNvPr>
          <p:cNvSpPr>
            <a:spLocks noGrp="1"/>
          </p:cNvSpPr>
          <p:nvPr/>
        </p:nvSpPr>
        <p:spPr>
          <a:xfrm>
            <a:off x="968231" y="3056584"/>
            <a:ext cx="6258893" cy="5972937"/>
          </a:xfrm>
          <a:prstGeom prst="rect">
            <a:avLst/>
          </a:prstGeom>
        </p:spPr>
        <p:txBody>
          <a:bodyPr lIns="0" tIns="0" rIns="0" bIns="0" anchor="t">
            <a:spAutoFit/>
          </a:bodyPr>
          <a:lstStyle/>
          <a:p>
            <a:pPr>
              <a:lnSpc>
                <a:spcPts val="3947"/>
              </a:lnSpc>
              <a:buNone/>
            </a:pPr>
            <a:endParaRPr/>
          </a:p>
          <a:p>
            <a:pPr marL="604513" indent="-302256">
              <a:lnSpc>
                <a:spcPts val="3947"/>
              </a:lnSpc>
              <a:buFont typeface="Arial"/>
              <a:buChar char="•"/>
            </a:pPr>
            <a:r>
              <a:rPr sz="2799">
                <a:solidFill>
                  <a:srgbClr val="1B1B1B"/>
                </a:solidFill>
                <a:latin typeface="Helvetica World"/>
                <a:ea typeface="Helvetica World"/>
                <a:cs typeface="Helvetica World"/>
              </a:rPr>
              <a:t>Logic programming:</a:t>
            </a:r>
          </a:p>
          <a:p>
            <a:pPr marL="1209026" indent="-403009">
              <a:lnSpc>
                <a:spcPts val="3947"/>
              </a:lnSpc>
              <a:buFont typeface="Arial"/>
              <a:buChar char="⚬"/>
            </a:pPr>
            <a:r>
              <a:rPr sz="2799" b="1">
                <a:solidFill>
                  <a:srgbClr val="1B1B1B"/>
                </a:solidFill>
                <a:latin typeface="Helvetica World Bold"/>
                <a:ea typeface="Helvetica World Bold"/>
                <a:cs typeface="Helvetica World Bold"/>
              </a:rPr>
              <a:t>Algorithm = Logic + Control</a:t>
            </a:r>
          </a:p>
          <a:p>
            <a:pPr marL="604513" indent="-302256">
              <a:lnSpc>
                <a:spcPts val="3947"/>
              </a:lnSpc>
              <a:buFont typeface="Arial"/>
              <a:buChar char="•"/>
            </a:pPr>
            <a:r>
              <a:rPr sz="2799">
                <a:solidFill>
                  <a:srgbClr val="1B1B1B"/>
                </a:solidFill>
                <a:latin typeface="Helvetica World"/>
                <a:ea typeface="Helvetica World"/>
                <a:cs typeface="Helvetica World"/>
              </a:rPr>
              <a:t>Many expert systems have been written in Prolog for legal, medical, financial, and other domains.</a:t>
            </a:r>
          </a:p>
          <a:p>
            <a:pPr marL="604513" indent="-302256">
              <a:lnSpc>
                <a:spcPts val="3947"/>
              </a:lnSpc>
              <a:buFont typeface="Arial"/>
              <a:buChar char="•"/>
            </a:pPr>
            <a:r>
              <a:rPr sz="2799">
                <a:solidFill>
                  <a:srgbClr val="1B1B1B"/>
                </a:solidFill>
                <a:latin typeface="Helvetica World"/>
                <a:ea typeface="Helvetica World"/>
                <a:cs typeface="Helvetica World"/>
              </a:rPr>
              <a:t>Prolog programs are sets of positive clauses written in a notation similar to first-order logic.</a:t>
            </a:r>
          </a:p>
          <a:p>
            <a:pPr>
              <a:lnSpc>
                <a:spcPts val="3359"/>
              </a:lnSpc>
              <a:buNone/>
            </a:pPr>
            <a:endParaRPr sz="2799">
              <a:solidFill>
                <a:srgbClr val="1B1B1B"/>
              </a:solidFill>
              <a:latin typeface="Helvetica World"/>
              <a:ea typeface="Helvetica World"/>
              <a:cs typeface="Helvetica World"/>
            </a:endParaRPr>
          </a:p>
        </p:txBody>
      </p:sp>
    </p:spTree>
    <p:extLst>
      <p:ext uri="{BB962C8B-B14F-4D97-AF65-F5344CB8AC3E}">
        <p14:creationId xmlns:p14="http://schemas.microsoft.com/office/powerpoint/2010/main" val="1261793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40BC159-6A96-4D60-AE3B-13A63FE1E67D}"/>
              </a:ext>
            </a:extLst>
          </p:cNvPr>
          <p:cNvSpPr>
            <a:spLocks noGrp="1"/>
          </p:cNvSpPr>
          <p:nvPr/>
        </p:nvSpPr>
        <p:spPr>
          <a:xfrm>
            <a:off x="6873318" y="441556"/>
            <a:ext cx="10385982" cy="4107545"/>
          </a:xfrm>
          <a:custGeom>
            <a:avLst/>
            <a:gdLst/>
            <a:ahLst/>
            <a:cxnLst/>
            <a:rect l="l" t="t" r="r" b="b"/>
            <a:pathLst>
              <a:path w="2735403" h="1081823">
                <a:moveTo>
                  <a:pt x="22363" y="0"/>
                </a:moveTo>
                <a:lnTo>
                  <a:pt x="2713040" y="0"/>
                </a:lnTo>
                <a:cubicBezTo>
                  <a:pt x="2725391" y="0"/>
                  <a:pt x="2735403" y="10012"/>
                  <a:pt x="2735403" y="22363"/>
                </a:cubicBezTo>
                <a:lnTo>
                  <a:pt x="2735403" y="1059460"/>
                </a:lnTo>
                <a:cubicBezTo>
                  <a:pt x="2735403" y="1071811"/>
                  <a:pt x="2725391" y="1081823"/>
                  <a:pt x="2713040" y="1081823"/>
                </a:cubicBezTo>
                <a:lnTo>
                  <a:pt x="22363" y="1081823"/>
                </a:lnTo>
                <a:cubicBezTo>
                  <a:pt x="10012" y="1081823"/>
                  <a:pt x="0" y="1071811"/>
                  <a:pt x="0" y="1059460"/>
                </a:cubicBezTo>
                <a:lnTo>
                  <a:pt x="0" y="22363"/>
                </a:lnTo>
                <a:cubicBezTo>
                  <a:pt x="0" y="10012"/>
                  <a:pt x="10012" y="0"/>
                  <a:pt x="22363"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4E5C09E7-1CCF-4D1B-80B3-C88B64BAB51F}"/>
              </a:ext>
            </a:extLst>
          </p:cNvPr>
          <p:cNvSpPr>
            <a:spLocks noGrp="1"/>
          </p:cNvSpPr>
          <p:nvPr/>
        </p:nvSpPr>
        <p:spPr>
          <a:xfrm>
            <a:off x="6873318" y="296896"/>
            <a:ext cx="10385982" cy="4252205"/>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EC561DEE-5E5C-4CAC-900D-7E85AC9EB9CA}"/>
              </a:ext>
            </a:extLst>
          </p:cNvPr>
          <p:cNvSpPr>
            <a:spLocks noGrp="1"/>
          </p:cNvSpPr>
          <p:nvPr/>
        </p:nvSpPr>
        <p:spPr>
          <a:xfrm>
            <a:off x="329629" y="3570754"/>
            <a:ext cx="5189924" cy="5687546"/>
          </a:xfrm>
          <a:custGeom>
            <a:avLst/>
            <a:gdLst/>
            <a:ahLst/>
            <a:cxnLst/>
            <a:rect l="l" t="t" r="r" b="b"/>
            <a:pathLst>
              <a:path w="1366894" h="1497954">
                <a:moveTo>
                  <a:pt x="44752" y="0"/>
                </a:moveTo>
                <a:lnTo>
                  <a:pt x="1322142" y="0"/>
                </a:lnTo>
                <a:cubicBezTo>
                  <a:pt x="1346858" y="0"/>
                  <a:pt x="1366894" y="20036"/>
                  <a:pt x="1366894" y="44752"/>
                </a:cubicBezTo>
                <a:lnTo>
                  <a:pt x="1366894" y="1453203"/>
                </a:lnTo>
                <a:cubicBezTo>
                  <a:pt x="1366894" y="1477918"/>
                  <a:pt x="1346858" y="1497954"/>
                  <a:pt x="1322142" y="1497954"/>
                </a:cubicBezTo>
                <a:lnTo>
                  <a:pt x="44752" y="1497954"/>
                </a:lnTo>
                <a:cubicBezTo>
                  <a:pt x="20036" y="1497954"/>
                  <a:pt x="0" y="1477918"/>
                  <a:pt x="0" y="1453203"/>
                </a:cubicBezTo>
                <a:lnTo>
                  <a:pt x="0" y="44752"/>
                </a:lnTo>
                <a:cubicBezTo>
                  <a:pt x="0" y="20036"/>
                  <a:pt x="20036" y="0"/>
                  <a:pt x="44752" y="0"/>
                </a:cubicBezTo>
                <a:close/>
              </a:path>
            </a:pathLst>
          </a:custGeom>
          <a:solidFill>
            <a:srgbClr val="FFFFFF"/>
          </a:solidFill>
          <a:ln w="19050">
            <a:solidFill>
              <a:srgbClr val="A6A6A6"/>
            </a:solidFill>
            <a:prstDash val="solid"/>
          </a:ln>
        </p:spPr>
        <p:txBody>
          <a:bodyPr/>
          <a:lstStyle/>
          <a:p>
            <a:endParaRPr lang="en-EC"/>
          </a:p>
        </p:txBody>
      </p:sp>
      <p:sp>
        <p:nvSpPr>
          <p:cNvPr id="7" name="TextBox 7">
            <a:extLst>
              <a:ext uri="{FF2B5EF4-FFF2-40B4-BE49-F238E27FC236}">
                <a16:creationId xmlns:a16="http://schemas.microsoft.com/office/drawing/2014/main" id="{3C8CB6B0-C679-484E-B677-33EAEF1EF687}"/>
              </a:ext>
            </a:extLst>
          </p:cNvPr>
          <p:cNvSpPr>
            <a:spLocks noGrp="1"/>
          </p:cNvSpPr>
          <p:nvPr/>
        </p:nvSpPr>
        <p:spPr>
          <a:xfrm>
            <a:off x="329629" y="3426094"/>
            <a:ext cx="5189924" cy="5832206"/>
          </a:xfrm>
          <a:prstGeom prst="rect">
            <a:avLst/>
          </a:prstGeom>
        </p:spPr>
        <p:txBody>
          <a:bodyPr lIns="50800" tIns="50800" rIns="50800" bIns="50800" anchor="ctr"/>
          <a:lstStyle/>
          <a:p>
            <a:pPr algn="ctr">
              <a:lnSpc>
                <a:spcPts val="2659"/>
              </a:lnSpc>
              <a:buNone/>
            </a:pPr>
            <a:endParaRPr/>
          </a:p>
        </p:txBody>
      </p:sp>
      <p:sp>
        <p:nvSpPr>
          <p:cNvPr id="8" name="Freeform 8">
            <a:extLst>
              <a:ext uri="{FF2B5EF4-FFF2-40B4-BE49-F238E27FC236}">
                <a16:creationId xmlns:a16="http://schemas.microsoft.com/office/drawing/2014/main" id="{DDE7CE7E-2213-4C5E-8992-0C8CFEC3C94F}"/>
              </a:ext>
            </a:extLst>
          </p:cNvPr>
          <p:cNvSpPr>
            <a:spLocks noGrp="1"/>
          </p:cNvSpPr>
          <p:nvPr/>
        </p:nvSpPr>
        <p:spPr>
          <a:xfrm>
            <a:off x="5600054" y="4711663"/>
            <a:ext cx="6178966" cy="3405729"/>
          </a:xfrm>
          <a:custGeom>
            <a:avLst/>
            <a:gdLst/>
            <a:ahLst/>
            <a:cxnLst/>
            <a:rect l="l" t="t" r="r" b="b"/>
            <a:pathLst>
              <a:path w="6178966" h="3405729">
                <a:moveTo>
                  <a:pt x="0" y="0"/>
                </a:moveTo>
                <a:lnTo>
                  <a:pt x="6178966" y="0"/>
                </a:lnTo>
                <a:lnTo>
                  <a:pt x="6178966" y="3405729"/>
                </a:lnTo>
                <a:lnTo>
                  <a:pt x="0" y="3405729"/>
                </a:lnTo>
                <a:lnTo>
                  <a:pt x="0" y="0"/>
                </a:lnTo>
                <a:close/>
              </a:path>
            </a:pathLst>
          </a:custGeom>
          <a:blipFill>
            <a:blip r:embed="rId3"/>
            <a:stretch>
              <a:fillRect/>
            </a:stretch>
          </a:blipFill>
        </p:spPr>
        <p:txBody>
          <a:bodyPr/>
          <a:lstStyle/>
          <a:p>
            <a:endParaRPr lang="en-EC"/>
          </a:p>
        </p:txBody>
      </p:sp>
      <p:sp>
        <p:nvSpPr>
          <p:cNvPr id="9" name="Freeform 9">
            <a:extLst>
              <a:ext uri="{FF2B5EF4-FFF2-40B4-BE49-F238E27FC236}">
                <a16:creationId xmlns:a16="http://schemas.microsoft.com/office/drawing/2014/main" id="{3F6271B9-1F26-4FD1-8020-CC43444ED78E}"/>
              </a:ext>
            </a:extLst>
          </p:cNvPr>
          <p:cNvSpPr>
            <a:spLocks noGrp="1"/>
          </p:cNvSpPr>
          <p:nvPr/>
        </p:nvSpPr>
        <p:spPr>
          <a:xfrm>
            <a:off x="11779020" y="6911828"/>
            <a:ext cx="6190939" cy="2834798"/>
          </a:xfrm>
          <a:custGeom>
            <a:avLst/>
            <a:gdLst/>
            <a:ahLst/>
            <a:cxnLst/>
            <a:rect l="l" t="t" r="r" b="b"/>
            <a:pathLst>
              <a:path w="6190939" h="2834798">
                <a:moveTo>
                  <a:pt x="0" y="0"/>
                </a:moveTo>
                <a:lnTo>
                  <a:pt x="6190939" y="0"/>
                </a:lnTo>
                <a:lnTo>
                  <a:pt x="6190939" y="2834798"/>
                </a:lnTo>
                <a:lnTo>
                  <a:pt x="0" y="2834798"/>
                </a:lnTo>
                <a:lnTo>
                  <a:pt x="0" y="0"/>
                </a:lnTo>
                <a:close/>
              </a:path>
            </a:pathLst>
          </a:custGeom>
          <a:blipFill>
            <a:blip r:embed="rId4"/>
            <a:stretch>
              <a:fillRect/>
            </a:stretch>
          </a:blipFill>
        </p:spPr>
        <p:txBody>
          <a:bodyPr/>
          <a:lstStyle/>
          <a:p>
            <a:endParaRPr lang="en-EC"/>
          </a:p>
        </p:txBody>
      </p:sp>
      <p:sp>
        <p:nvSpPr>
          <p:cNvPr id="10" name="TextBox 10">
            <a:extLst>
              <a:ext uri="{FF2B5EF4-FFF2-40B4-BE49-F238E27FC236}">
                <a16:creationId xmlns:a16="http://schemas.microsoft.com/office/drawing/2014/main" id="{575348DF-35E6-42BB-AEDA-B0F46A90E583}"/>
              </a:ext>
            </a:extLst>
          </p:cNvPr>
          <p:cNvSpPr>
            <a:spLocks noGrp="1"/>
          </p:cNvSpPr>
          <p:nvPr/>
        </p:nvSpPr>
        <p:spPr>
          <a:xfrm>
            <a:off x="493241" y="895350"/>
            <a:ext cx="5189924" cy="769620"/>
          </a:xfrm>
          <a:prstGeom prst="rect">
            <a:avLst/>
          </a:prstGeom>
        </p:spPr>
        <p:txBody>
          <a:bodyPr lIns="0" tIns="0" rIns="0" bIns="0" anchor="t">
            <a:spAutoFit/>
          </a:bodyPr>
          <a:lstStyle/>
          <a:p>
            <a:pPr algn="ctr">
              <a:lnSpc>
                <a:spcPts val="5880"/>
              </a:lnSpc>
              <a:spcBef>
                <a:spcPct val="0"/>
              </a:spcBef>
              <a:buNone/>
            </a:pPr>
            <a:r>
              <a:rPr sz="4200" b="1">
                <a:solidFill>
                  <a:srgbClr val="1B1B1B"/>
                </a:solidFill>
                <a:latin typeface="Telegraf Bold"/>
                <a:ea typeface="Telegraf Bold"/>
                <a:cs typeface="Telegraf Bold"/>
              </a:rPr>
              <a:t>What Is a Model?</a:t>
            </a:r>
          </a:p>
        </p:txBody>
      </p:sp>
      <p:sp>
        <p:nvSpPr>
          <p:cNvPr id="11" name="TextBox 11">
            <a:extLst>
              <a:ext uri="{FF2B5EF4-FFF2-40B4-BE49-F238E27FC236}">
                <a16:creationId xmlns:a16="http://schemas.microsoft.com/office/drawing/2014/main" id="{9DB493DA-C49F-4D2A-981D-11080FCAAF27}"/>
              </a:ext>
            </a:extLst>
          </p:cNvPr>
          <p:cNvSpPr>
            <a:spLocks noGrp="1"/>
          </p:cNvSpPr>
          <p:nvPr/>
        </p:nvSpPr>
        <p:spPr>
          <a:xfrm>
            <a:off x="6873318" y="227283"/>
            <a:ext cx="10385982" cy="4487037"/>
          </a:xfrm>
          <a:prstGeom prst="rect">
            <a:avLst/>
          </a:prstGeom>
        </p:spPr>
        <p:txBody>
          <a:bodyPr lIns="0" tIns="0" rIns="0" bIns="0" anchor="t">
            <a:spAutoFit/>
          </a:bodyPr>
          <a:lstStyle/>
          <a:p>
            <a:pPr algn="l">
              <a:lnSpc>
                <a:spcPts val="3947"/>
              </a:lnSpc>
              <a:buNone/>
            </a:pPr>
            <a:r>
              <a:rPr sz="2799">
                <a:solidFill>
                  <a:srgbClr val="1B1B1B"/>
                </a:solidFill>
                <a:latin typeface="Helvetica World"/>
                <a:ea typeface="Helvetica World"/>
                <a:cs typeface="Helvetica World"/>
              </a:rPr>
              <a:t> </a:t>
            </a:r>
          </a:p>
          <a:p>
            <a:pPr marL="604513" indent="-302256" algn="l">
              <a:lnSpc>
                <a:spcPts val="3947"/>
              </a:lnSpc>
              <a:buFont typeface="Arial"/>
              <a:buChar char="•"/>
            </a:pPr>
            <a:r>
              <a:rPr sz="2799">
                <a:solidFill>
                  <a:srgbClr val="1B1B1B"/>
                </a:solidFill>
                <a:latin typeface="Helvetica World"/>
                <a:ea typeface="Helvetica World"/>
                <a:cs typeface="Helvetica World"/>
              </a:rPr>
              <a:t>They are mathematical models.</a:t>
            </a:r>
          </a:p>
          <a:p>
            <a:pPr marL="604513" indent="-302256" algn="l">
              <a:lnSpc>
                <a:spcPts val="3947"/>
              </a:lnSpc>
              <a:buFont typeface="Arial"/>
              <a:buChar char="•"/>
            </a:pPr>
            <a:r>
              <a:rPr sz="2799">
                <a:solidFill>
                  <a:srgbClr val="1B1B1B"/>
                </a:solidFill>
                <a:latin typeface="Helvetica World"/>
                <a:ea typeface="Helvetica World"/>
                <a:cs typeface="Helvetica World"/>
              </a:rPr>
              <a:t>A description of a system or phenomenon using mathematical concepts and languages.</a:t>
            </a:r>
          </a:p>
          <a:p>
            <a:pPr marL="604513" indent="-302256" algn="l">
              <a:lnSpc>
                <a:spcPts val="3947"/>
              </a:lnSpc>
              <a:buFont typeface="Arial"/>
              <a:buChar char="•"/>
            </a:pPr>
            <a:r>
              <a:rPr sz="2799">
                <a:solidFill>
                  <a:srgbClr val="1B1B1B"/>
                </a:solidFill>
                <a:latin typeface="Helvetica World"/>
                <a:ea typeface="Helvetica World"/>
                <a:cs typeface="Helvetica World"/>
              </a:rPr>
              <a:t>A hypothesis for explaining a phenomenon.</a:t>
            </a:r>
          </a:p>
          <a:p>
            <a:pPr marL="604513" indent="-302256" algn="l">
              <a:lnSpc>
                <a:spcPts val="3947"/>
              </a:lnSpc>
              <a:buFont typeface="Arial"/>
              <a:buChar char="•"/>
            </a:pPr>
            <a:r>
              <a:rPr sz="2799" b="1">
                <a:solidFill>
                  <a:srgbClr val="1B1B1B"/>
                </a:solidFill>
                <a:latin typeface="Helvetica World Bold"/>
                <a:ea typeface="Helvetica World Bold"/>
                <a:cs typeface="Helvetica World Bold"/>
              </a:rPr>
              <a:t>Something we construct, assume, believe, or trust based on a set of rules defined a priori or on observations of the event.</a:t>
            </a:r>
          </a:p>
          <a:p>
            <a:pPr algn="l">
              <a:lnSpc>
                <a:spcPts val="3359"/>
              </a:lnSpc>
              <a:buNone/>
            </a:pPr>
            <a:endParaRPr sz="2799" b="1">
              <a:solidFill>
                <a:srgbClr val="1B1B1B"/>
              </a:solidFill>
              <a:latin typeface="Helvetica World Bold"/>
              <a:ea typeface="Helvetica World Bold"/>
              <a:cs typeface="Helvetica World Bold"/>
            </a:endParaRPr>
          </a:p>
        </p:txBody>
      </p:sp>
      <p:sp>
        <p:nvSpPr>
          <p:cNvPr id="12" name="TextBox 12">
            <a:extLst>
              <a:ext uri="{FF2B5EF4-FFF2-40B4-BE49-F238E27FC236}">
                <a16:creationId xmlns:a16="http://schemas.microsoft.com/office/drawing/2014/main" id="{E87BCFA2-8B80-48CC-A356-91173EAF3098}"/>
              </a:ext>
            </a:extLst>
          </p:cNvPr>
          <p:cNvSpPr>
            <a:spLocks noGrp="1"/>
          </p:cNvSpPr>
          <p:nvPr/>
        </p:nvSpPr>
        <p:spPr>
          <a:xfrm>
            <a:off x="393076" y="2361979"/>
            <a:ext cx="5687683" cy="769620"/>
          </a:xfrm>
          <a:prstGeom prst="rect">
            <a:avLst/>
          </a:prstGeom>
        </p:spPr>
        <p:txBody>
          <a:bodyPr lIns="0" tIns="0" rIns="0" bIns="0" anchor="t">
            <a:spAutoFit/>
          </a:bodyPr>
          <a:lstStyle/>
          <a:p>
            <a:pPr algn="ctr">
              <a:lnSpc>
                <a:spcPts val="5880"/>
              </a:lnSpc>
              <a:spcBef>
                <a:spcPct val="0"/>
              </a:spcBef>
              <a:buNone/>
            </a:pPr>
            <a:r>
              <a:rPr sz="4200" b="1">
                <a:solidFill>
                  <a:srgbClr val="1B1B1B"/>
                </a:solidFill>
                <a:latin typeface="Telegraf Bold"/>
                <a:ea typeface="Telegraf Bold"/>
                <a:cs typeface="Telegraf Bold"/>
              </a:rPr>
              <a:t>How Are They Built?</a:t>
            </a:r>
          </a:p>
        </p:txBody>
      </p:sp>
      <p:sp>
        <p:nvSpPr>
          <p:cNvPr id="13" name="TextBox 13">
            <a:extLst>
              <a:ext uri="{FF2B5EF4-FFF2-40B4-BE49-F238E27FC236}">
                <a16:creationId xmlns:a16="http://schemas.microsoft.com/office/drawing/2014/main" id="{A62FB2C7-76AF-4069-A80B-844EDCDE5D94}"/>
              </a:ext>
            </a:extLst>
          </p:cNvPr>
          <p:cNvSpPr>
            <a:spLocks noGrp="1"/>
          </p:cNvSpPr>
          <p:nvPr/>
        </p:nvSpPr>
        <p:spPr>
          <a:xfrm>
            <a:off x="493241" y="3723192"/>
            <a:ext cx="5487352" cy="5701027"/>
          </a:xfrm>
          <a:prstGeom prst="rect">
            <a:avLst/>
          </a:prstGeom>
        </p:spPr>
        <p:txBody>
          <a:bodyPr lIns="0" tIns="0" rIns="0" bIns="0" anchor="t">
            <a:spAutoFit/>
          </a:bodyPr>
          <a:lstStyle/>
          <a:p>
            <a:pPr>
              <a:lnSpc>
                <a:spcPts val="3443"/>
              </a:lnSpc>
              <a:buNone/>
            </a:pPr>
            <a:r>
              <a:rPr sz="2776" b="1">
                <a:solidFill>
                  <a:srgbClr val="1B1B1B"/>
                </a:solidFill>
                <a:latin typeface="Helvetica World Bold"/>
                <a:ea typeface="Helvetica World Bold"/>
                <a:cs typeface="Helvetica World Bold"/>
              </a:rPr>
              <a:t>Formal Methods</a:t>
            </a:r>
          </a:p>
          <a:p>
            <a:pPr marL="599523" indent="-299761">
              <a:lnSpc>
                <a:spcPts val="3443"/>
              </a:lnSpc>
              <a:buFont typeface="Arial"/>
              <a:buChar char="•"/>
            </a:pPr>
            <a:r>
              <a:rPr sz="2776">
                <a:solidFill>
                  <a:srgbClr val="1B1B1B"/>
                </a:solidFill>
                <a:latin typeface="Helvetica World"/>
                <a:ea typeface="Helvetica World"/>
                <a:cs typeface="Helvetica World"/>
              </a:rPr>
              <a:t>First-Order Calculus</a:t>
            </a:r>
          </a:p>
          <a:p>
            <a:pPr marL="599523" indent="-299761">
              <a:lnSpc>
                <a:spcPts val="3443"/>
              </a:lnSpc>
              <a:buFont typeface="Arial"/>
              <a:buChar char="•"/>
            </a:pPr>
            <a:r>
              <a:rPr sz="2776">
                <a:solidFill>
                  <a:srgbClr val="1B1B1B"/>
                </a:solidFill>
                <a:latin typeface="Helvetica World"/>
                <a:ea typeface="Helvetica World"/>
                <a:cs typeface="Helvetica World"/>
              </a:rPr>
              <a:t>Lambda Calculus</a:t>
            </a:r>
          </a:p>
          <a:p>
            <a:pPr marL="599523" indent="-299761">
              <a:lnSpc>
                <a:spcPts val="6692"/>
              </a:lnSpc>
              <a:buFont typeface="Arial"/>
              <a:buChar char="•"/>
            </a:pPr>
            <a:r>
              <a:rPr sz="2776">
                <a:solidFill>
                  <a:srgbClr val="1B1B1B"/>
                </a:solidFill>
                <a:latin typeface="Helvetica World"/>
                <a:ea typeface="Helvetica World"/>
                <a:cs typeface="Helvetica World"/>
              </a:rPr>
              <a:t>Temporal Logic</a:t>
            </a:r>
          </a:p>
          <a:p>
            <a:pPr marL="599523" indent="-299761">
              <a:lnSpc>
                <a:spcPts val="3443"/>
              </a:lnSpc>
              <a:buFont typeface="Arial"/>
              <a:buChar char="•"/>
            </a:pPr>
            <a:r>
              <a:rPr sz="2776">
                <a:solidFill>
                  <a:srgbClr val="1B1B1B"/>
                </a:solidFill>
                <a:latin typeface="Helvetica World"/>
                <a:ea typeface="Helvetica World"/>
                <a:cs typeface="Helvetica World"/>
              </a:rPr>
              <a:t>Rewriting Systems</a:t>
            </a:r>
          </a:p>
          <a:p>
            <a:pPr marL="599523" indent="-299761">
              <a:lnSpc>
                <a:spcPts val="3443"/>
              </a:lnSpc>
              <a:buFont typeface="Arial"/>
              <a:buChar char="•"/>
            </a:pPr>
            <a:r>
              <a:rPr sz="2776">
                <a:solidFill>
                  <a:srgbClr val="1B1B1B"/>
                </a:solidFill>
                <a:latin typeface="Helvetica World"/>
                <a:ea typeface="Helvetica World"/>
                <a:cs typeface="Helvetica World"/>
              </a:rPr>
              <a:t>Causal Calculus</a:t>
            </a:r>
          </a:p>
          <a:p>
            <a:pPr>
              <a:lnSpc>
                <a:spcPts val="3443"/>
              </a:lnSpc>
              <a:buNone/>
            </a:pPr>
            <a:r>
              <a:rPr sz="2776" b="1">
                <a:solidFill>
                  <a:srgbClr val="1B1B1B"/>
                </a:solidFill>
                <a:latin typeface="Helvetica World Bold"/>
                <a:ea typeface="Helvetica World Bold"/>
                <a:cs typeface="Helvetica World Bold"/>
              </a:rPr>
              <a:t>Statistical Methods</a:t>
            </a:r>
          </a:p>
          <a:p>
            <a:pPr marL="599523" indent="-299761">
              <a:lnSpc>
                <a:spcPts val="3443"/>
              </a:lnSpc>
              <a:buFont typeface="Arial"/>
              <a:buChar char="•"/>
            </a:pPr>
            <a:r>
              <a:rPr sz="2776">
                <a:solidFill>
                  <a:srgbClr val="1B1B1B"/>
                </a:solidFill>
                <a:latin typeface="Helvetica World"/>
                <a:ea typeface="Helvetica World"/>
                <a:cs typeface="Helvetica World"/>
              </a:rPr>
              <a:t>Regression Techniques</a:t>
            </a:r>
          </a:p>
          <a:p>
            <a:pPr marL="599523" indent="-299761">
              <a:lnSpc>
                <a:spcPts val="3443"/>
              </a:lnSpc>
              <a:buFont typeface="Arial"/>
              <a:buChar char="•"/>
            </a:pPr>
            <a:r>
              <a:rPr sz="2776">
                <a:solidFill>
                  <a:srgbClr val="1B1B1B"/>
                </a:solidFill>
                <a:latin typeface="Helvetica World"/>
                <a:ea typeface="Helvetica World"/>
                <a:cs typeface="Helvetica World"/>
              </a:rPr>
              <a:t>Classification Techniques</a:t>
            </a:r>
          </a:p>
          <a:p>
            <a:pPr marL="599523" indent="-299761">
              <a:lnSpc>
                <a:spcPts val="3443"/>
              </a:lnSpc>
              <a:buFont typeface="Arial"/>
              <a:buChar char="•"/>
            </a:pPr>
            <a:r>
              <a:rPr sz="2776">
                <a:solidFill>
                  <a:srgbClr val="1B1B1B"/>
                </a:solidFill>
                <a:latin typeface="Helvetica World"/>
                <a:ea typeface="Helvetica World"/>
                <a:cs typeface="Helvetica World"/>
              </a:rPr>
              <a:t>Bayesian Networks</a:t>
            </a:r>
          </a:p>
          <a:p>
            <a:pPr marL="599523" indent="-299761">
              <a:lnSpc>
                <a:spcPts val="3443"/>
              </a:lnSpc>
              <a:buFont typeface="Arial"/>
              <a:buChar char="•"/>
            </a:pPr>
            <a:r>
              <a:rPr sz="2776">
                <a:solidFill>
                  <a:srgbClr val="1B1B1B"/>
                </a:solidFill>
                <a:latin typeface="Helvetica World"/>
                <a:ea typeface="Helvetica World"/>
                <a:cs typeface="Helvetica World"/>
              </a:rPr>
              <a:t>Markov Networks</a:t>
            </a:r>
          </a:p>
          <a:p>
            <a:pPr>
              <a:lnSpc>
                <a:spcPts val="3443"/>
              </a:lnSpc>
              <a:buNone/>
            </a:pPr>
            <a:endParaRPr sz="2776">
              <a:solidFill>
                <a:srgbClr val="1B1B1B"/>
              </a:solidFill>
              <a:latin typeface="Helvetica World"/>
              <a:ea typeface="Helvetica World"/>
              <a:cs typeface="Helvetica World"/>
            </a:endParaRPr>
          </a:p>
        </p:txBody>
      </p:sp>
    </p:spTree>
    <p:extLst>
      <p:ext uri="{BB962C8B-B14F-4D97-AF65-F5344CB8AC3E}">
        <p14:creationId xmlns:p14="http://schemas.microsoft.com/office/powerpoint/2010/main" val="1173292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A668AC63-2A53-4F66-B893-947E873DA3CF}"/>
              </a:ext>
            </a:extLst>
          </p:cNvPr>
          <p:cNvSpPr>
            <a:spLocks noGrp="1"/>
          </p:cNvSpPr>
          <p:nvPr/>
        </p:nvSpPr>
        <p:spPr>
          <a:xfrm>
            <a:off x="1028700" y="2428523"/>
            <a:ext cx="7196139" cy="5468402"/>
          </a:xfrm>
          <a:custGeom>
            <a:avLst/>
            <a:gdLst/>
            <a:ahLst/>
            <a:cxnLst/>
            <a:rect l="l" t="t" r="r" b="b"/>
            <a:pathLst>
              <a:path w="1895279" h="1440237">
                <a:moveTo>
                  <a:pt x="32275" y="0"/>
                </a:moveTo>
                <a:lnTo>
                  <a:pt x="1863004" y="0"/>
                </a:lnTo>
                <a:cubicBezTo>
                  <a:pt x="1880829" y="0"/>
                  <a:pt x="1895279" y="14450"/>
                  <a:pt x="1895279" y="32275"/>
                </a:cubicBezTo>
                <a:lnTo>
                  <a:pt x="1895279" y="1407962"/>
                </a:lnTo>
                <a:cubicBezTo>
                  <a:pt x="1895279" y="1416522"/>
                  <a:pt x="1891879" y="1424731"/>
                  <a:pt x="1885826" y="1430784"/>
                </a:cubicBezTo>
                <a:cubicBezTo>
                  <a:pt x="1879773" y="1436837"/>
                  <a:pt x="1871564" y="1440237"/>
                  <a:pt x="1863004" y="1440237"/>
                </a:cubicBezTo>
                <a:lnTo>
                  <a:pt x="32275" y="1440237"/>
                </a:lnTo>
                <a:cubicBezTo>
                  <a:pt x="14450" y="1440237"/>
                  <a:pt x="0" y="1425787"/>
                  <a:pt x="0" y="1407962"/>
                </a:cubicBezTo>
                <a:lnTo>
                  <a:pt x="0" y="32275"/>
                </a:lnTo>
                <a:cubicBezTo>
                  <a:pt x="0" y="14450"/>
                  <a:pt x="14450" y="0"/>
                  <a:pt x="32275"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58FA6FB5-110E-4645-82C9-E9DF5752B4B8}"/>
              </a:ext>
            </a:extLst>
          </p:cNvPr>
          <p:cNvSpPr>
            <a:spLocks noGrp="1"/>
          </p:cNvSpPr>
          <p:nvPr/>
        </p:nvSpPr>
        <p:spPr>
          <a:xfrm>
            <a:off x="1028700" y="2283863"/>
            <a:ext cx="7196139" cy="5613062"/>
          </a:xfrm>
          <a:prstGeom prst="rect">
            <a:avLst/>
          </a:prstGeom>
        </p:spPr>
        <p:txBody>
          <a:bodyPr lIns="50800" tIns="50800" rIns="50800" bIns="50800" anchor="ctr"/>
          <a:lstStyle/>
          <a:p>
            <a:pPr algn="ctr">
              <a:lnSpc>
                <a:spcPts val="2659"/>
              </a:lnSpc>
              <a:buNone/>
            </a:pPr>
            <a:endParaRPr/>
          </a:p>
        </p:txBody>
      </p:sp>
      <p:sp>
        <p:nvSpPr>
          <p:cNvPr id="5" name="Freeform 5">
            <a:extLst>
              <a:ext uri="{FF2B5EF4-FFF2-40B4-BE49-F238E27FC236}">
                <a16:creationId xmlns:a16="http://schemas.microsoft.com/office/drawing/2014/main" id="{DFF96883-BDDE-46F7-AD4A-C717805F54E0}"/>
              </a:ext>
            </a:extLst>
          </p:cNvPr>
          <p:cNvSpPr>
            <a:spLocks noGrp="1"/>
          </p:cNvSpPr>
          <p:nvPr/>
        </p:nvSpPr>
        <p:spPr>
          <a:xfrm>
            <a:off x="1250805" y="7496348"/>
            <a:ext cx="222105" cy="172434"/>
          </a:xfrm>
          <a:custGeom>
            <a:avLst/>
            <a:gdLst/>
            <a:ahLst/>
            <a:cxnLst/>
            <a:rect l="l" t="t" r="r" b="b"/>
            <a:pathLst>
              <a:path w="222105" h="172434">
                <a:moveTo>
                  <a:pt x="0" y="0"/>
                </a:moveTo>
                <a:lnTo>
                  <a:pt x="222105" y="0"/>
                </a:lnTo>
                <a:lnTo>
                  <a:pt x="222105" y="172435"/>
                </a:lnTo>
                <a:lnTo>
                  <a:pt x="0" y="1724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6" name="Freeform 6">
            <a:extLst>
              <a:ext uri="{FF2B5EF4-FFF2-40B4-BE49-F238E27FC236}">
                <a16:creationId xmlns:a16="http://schemas.microsoft.com/office/drawing/2014/main" id="{D160B00D-E162-4C11-9272-1FCA55CC64CA}"/>
              </a:ext>
            </a:extLst>
          </p:cNvPr>
          <p:cNvSpPr>
            <a:spLocks noGrp="1"/>
          </p:cNvSpPr>
          <p:nvPr/>
        </p:nvSpPr>
        <p:spPr>
          <a:xfrm flipH="1">
            <a:off x="7754302" y="7496348"/>
            <a:ext cx="222105" cy="172434"/>
          </a:xfrm>
          <a:custGeom>
            <a:avLst/>
            <a:gdLst/>
            <a:ahLst/>
            <a:cxnLst/>
            <a:rect l="l" t="t" r="r" b="b"/>
            <a:pathLst>
              <a:path w="222105" h="172434">
                <a:moveTo>
                  <a:pt x="222105" y="0"/>
                </a:moveTo>
                <a:lnTo>
                  <a:pt x="0" y="0"/>
                </a:lnTo>
                <a:lnTo>
                  <a:pt x="0" y="172435"/>
                </a:lnTo>
                <a:lnTo>
                  <a:pt x="222105" y="172435"/>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33BC79AC-C8D5-4145-9049-F6F93B97C031}"/>
              </a:ext>
            </a:extLst>
          </p:cNvPr>
          <p:cNvSpPr>
            <a:spLocks noGrp="1"/>
          </p:cNvSpPr>
          <p:nvPr/>
        </p:nvSpPr>
        <p:spPr>
          <a:xfrm flipV="1">
            <a:off x="1250805" y="2736109"/>
            <a:ext cx="222105" cy="172434"/>
          </a:xfrm>
          <a:custGeom>
            <a:avLst/>
            <a:gdLst/>
            <a:ahLst/>
            <a:cxnLst/>
            <a:rect l="l" t="t" r="r" b="b"/>
            <a:pathLst>
              <a:path w="222105" h="172434">
                <a:moveTo>
                  <a:pt x="0" y="172435"/>
                </a:moveTo>
                <a:lnTo>
                  <a:pt x="222105" y="172435"/>
                </a:lnTo>
                <a:lnTo>
                  <a:pt x="222105" y="0"/>
                </a:lnTo>
                <a:lnTo>
                  <a:pt x="0" y="0"/>
                </a:lnTo>
                <a:lnTo>
                  <a:pt x="0"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66779C9E-D52F-4490-9A9F-DFEA1E9E58C9}"/>
              </a:ext>
            </a:extLst>
          </p:cNvPr>
          <p:cNvSpPr>
            <a:spLocks noGrp="1"/>
          </p:cNvSpPr>
          <p:nvPr/>
        </p:nvSpPr>
        <p:spPr>
          <a:xfrm flipH="1" flipV="1">
            <a:off x="7643249" y="2736109"/>
            <a:ext cx="222105" cy="172434"/>
          </a:xfrm>
          <a:custGeom>
            <a:avLst/>
            <a:gdLst/>
            <a:ahLst/>
            <a:cxnLst/>
            <a:rect l="l" t="t" r="r" b="b"/>
            <a:pathLst>
              <a:path w="222105" h="172434">
                <a:moveTo>
                  <a:pt x="222105" y="172435"/>
                </a:moveTo>
                <a:lnTo>
                  <a:pt x="0" y="172435"/>
                </a:lnTo>
                <a:lnTo>
                  <a:pt x="0" y="0"/>
                </a:lnTo>
                <a:lnTo>
                  <a:pt x="222105" y="0"/>
                </a:lnTo>
                <a:lnTo>
                  <a:pt x="222105"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AutoShape 9">
            <a:extLst>
              <a:ext uri="{FF2B5EF4-FFF2-40B4-BE49-F238E27FC236}">
                <a16:creationId xmlns:a16="http://schemas.microsoft.com/office/drawing/2014/main" id="{D04BA22B-F09A-4341-B2B7-A531A8B9CF25}"/>
              </a:ext>
            </a:extLst>
          </p:cNvPr>
          <p:cNvSpPr>
            <a:spLocks noGrp="1"/>
          </p:cNvSpPr>
          <p:nvPr/>
        </p:nvSpPr>
        <p:spPr>
          <a:xfrm flipH="1" flipV="1">
            <a:off x="3523145" y="0"/>
            <a:ext cx="38090" cy="1665956"/>
          </a:xfrm>
          <a:prstGeom prst="line">
            <a:avLst/>
          </a:prstGeom>
          <a:ln w="76200">
            <a:solidFill>
              <a:srgbClr val="000000"/>
            </a:solidFill>
            <a:prstDash val="solid"/>
            <a:headEnd type="diamond" w="lg" len="lg"/>
            <a:tailEnd type="none" w="sm" len="sm"/>
          </a:ln>
        </p:spPr>
        <p:txBody>
          <a:bodyPr/>
          <a:lstStyle/>
          <a:p>
            <a:endParaRPr lang="en-EC"/>
          </a:p>
        </p:txBody>
      </p:sp>
      <p:sp>
        <p:nvSpPr>
          <p:cNvPr id="10" name="Freeform 10">
            <a:hlinkClick r:id="rId4"/>
            <a:extLst>
              <a:ext uri="{FF2B5EF4-FFF2-40B4-BE49-F238E27FC236}">
                <a16:creationId xmlns:a16="http://schemas.microsoft.com/office/drawing/2014/main" id="{DC6AFF3E-5F9A-41BC-B473-7684C4F24BD9}"/>
              </a:ext>
            </a:extLst>
          </p:cNvPr>
          <p:cNvSpPr>
            <a:spLocks noGrp="1"/>
          </p:cNvSpPr>
          <p:nvPr/>
        </p:nvSpPr>
        <p:spPr>
          <a:xfrm>
            <a:off x="16350986" y="3740804"/>
            <a:ext cx="831325" cy="831325"/>
          </a:xfrm>
          <a:custGeom>
            <a:avLst/>
            <a:gdLst/>
            <a:ahLst/>
            <a:cxnLst/>
            <a:rect l="l" t="t" r="r" b="b"/>
            <a:pathLst>
              <a:path w="831325" h="831325">
                <a:moveTo>
                  <a:pt x="0" y="0"/>
                </a:moveTo>
                <a:lnTo>
                  <a:pt x="831325" y="0"/>
                </a:lnTo>
                <a:lnTo>
                  <a:pt x="831325" y="831325"/>
                </a:lnTo>
                <a:lnTo>
                  <a:pt x="0" y="831325"/>
                </a:lnTo>
                <a:lnTo>
                  <a:pt x="0" y="0"/>
                </a:lnTo>
                <a:close/>
              </a:path>
            </a:pathLst>
          </a:custGeom>
          <a:blipFill>
            <a:blip r:embed="rId5"/>
            <a:stretch>
              <a:fillRect/>
            </a:stretch>
          </a:blipFill>
        </p:spPr>
        <p:txBody>
          <a:bodyPr/>
          <a:lstStyle/>
          <a:p>
            <a:endParaRPr lang="en-EC"/>
          </a:p>
        </p:txBody>
      </p:sp>
      <p:sp>
        <p:nvSpPr>
          <p:cNvPr id="11" name="Freeform 11">
            <a:extLst>
              <a:ext uri="{FF2B5EF4-FFF2-40B4-BE49-F238E27FC236}">
                <a16:creationId xmlns:a16="http://schemas.microsoft.com/office/drawing/2014/main" id="{36044AAC-EC8E-4836-B24A-0A372903154C}"/>
              </a:ext>
            </a:extLst>
          </p:cNvPr>
          <p:cNvSpPr>
            <a:spLocks noGrp="1"/>
          </p:cNvSpPr>
          <p:nvPr/>
        </p:nvSpPr>
        <p:spPr>
          <a:xfrm>
            <a:off x="9809034" y="2428523"/>
            <a:ext cx="5878246" cy="5616263"/>
          </a:xfrm>
          <a:custGeom>
            <a:avLst/>
            <a:gdLst/>
            <a:ahLst/>
            <a:cxnLst/>
            <a:rect l="l" t="t" r="r" b="b"/>
            <a:pathLst>
              <a:path w="5878246" h="5616263">
                <a:moveTo>
                  <a:pt x="0" y="0"/>
                </a:moveTo>
                <a:lnTo>
                  <a:pt x="5878246" y="0"/>
                </a:lnTo>
                <a:lnTo>
                  <a:pt x="5878246" y="5616264"/>
                </a:lnTo>
                <a:lnTo>
                  <a:pt x="0" y="5616264"/>
                </a:lnTo>
                <a:lnTo>
                  <a:pt x="0" y="0"/>
                </a:lnTo>
                <a:close/>
              </a:path>
            </a:pathLst>
          </a:custGeom>
          <a:blipFill>
            <a:blip r:embed="rId6"/>
            <a:stretch>
              <a:fillRect/>
            </a:stretch>
          </a:blipFill>
        </p:spPr>
        <p:txBody>
          <a:bodyPr/>
          <a:lstStyle/>
          <a:p>
            <a:endParaRPr lang="en-EC"/>
          </a:p>
        </p:txBody>
      </p:sp>
      <p:sp>
        <p:nvSpPr>
          <p:cNvPr id="12" name="TextBox 12">
            <a:extLst>
              <a:ext uri="{FF2B5EF4-FFF2-40B4-BE49-F238E27FC236}">
                <a16:creationId xmlns:a16="http://schemas.microsoft.com/office/drawing/2014/main" id="{9EAF5A48-241F-4CDD-A81B-364AA7732B5F}"/>
              </a:ext>
            </a:extLst>
          </p:cNvPr>
          <p:cNvSpPr>
            <a:spLocks noGrp="1"/>
          </p:cNvSpPr>
          <p:nvPr/>
        </p:nvSpPr>
        <p:spPr>
          <a:xfrm>
            <a:off x="8224840" y="675996"/>
            <a:ext cx="10099276" cy="1118319"/>
          </a:xfrm>
          <a:prstGeom prst="rect">
            <a:avLst/>
          </a:prstGeom>
        </p:spPr>
        <p:txBody>
          <a:bodyPr wrap="square" lIns="0" tIns="0" rIns="0" bIns="0" anchor="t">
            <a:spAutoFit/>
          </a:bodyPr>
          <a:lstStyle/>
          <a:p>
            <a:pPr algn="l">
              <a:lnSpc>
                <a:spcPts val="8599"/>
              </a:lnSpc>
              <a:buNone/>
            </a:pPr>
            <a:r>
              <a:rPr sz="8599" b="1" dirty="0">
                <a:solidFill>
                  <a:srgbClr val="1B1B1B"/>
                </a:solidFill>
                <a:latin typeface="Telegraf Medium"/>
                <a:ea typeface="Telegraf Medium"/>
                <a:cs typeface="Telegraf Medium"/>
              </a:rPr>
              <a:t>Backpropagation</a:t>
            </a:r>
          </a:p>
        </p:txBody>
      </p:sp>
      <p:sp>
        <p:nvSpPr>
          <p:cNvPr id="13" name="TextBox 13">
            <a:extLst>
              <a:ext uri="{FF2B5EF4-FFF2-40B4-BE49-F238E27FC236}">
                <a16:creationId xmlns:a16="http://schemas.microsoft.com/office/drawing/2014/main" id="{23BD42C1-A797-4785-A423-694AF758F8B6}"/>
              </a:ext>
            </a:extLst>
          </p:cNvPr>
          <p:cNvSpPr>
            <a:spLocks noGrp="1"/>
          </p:cNvSpPr>
          <p:nvPr/>
        </p:nvSpPr>
        <p:spPr>
          <a:xfrm>
            <a:off x="1295590" y="2870444"/>
            <a:ext cx="6680817" cy="4659122"/>
          </a:xfrm>
          <a:prstGeom prst="rect">
            <a:avLst/>
          </a:prstGeom>
        </p:spPr>
        <p:txBody>
          <a:bodyPr lIns="0" tIns="0" rIns="0" bIns="0" anchor="t">
            <a:spAutoFit/>
          </a:bodyPr>
          <a:lstStyle/>
          <a:p>
            <a:pPr marL="604519" indent="-302260" algn="l">
              <a:lnSpc>
                <a:spcPts val="3723"/>
              </a:lnSpc>
              <a:buFont typeface="Arial"/>
              <a:buChar char="•"/>
            </a:pPr>
            <a:r>
              <a:rPr sz="2799">
                <a:solidFill>
                  <a:srgbClr val="1B1B1B"/>
                </a:solidFill>
                <a:latin typeface="Helvetica World"/>
                <a:ea typeface="Helvetica World"/>
                <a:cs typeface="Helvetica World"/>
              </a:rPr>
              <a:t>This algorithm calculates the gradient of the loss function with respect to the weights of each neuron in a neural network.</a:t>
            </a:r>
          </a:p>
          <a:p>
            <a:pPr marL="604519" indent="-302260" algn="l">
              <a:lnSpc>
                <a:spcPts val="3723"/>
              </a:lnSpc>
              <a:buFont typeface="Arial"/>
              <a:buChar char="•"/>
            </a:pPr>
            <a:r>
              <a:rPr sz="2799">
                <a:solidFill>
                  <a:srgbClr val="1B1B1B"/>
                </a:solidFill>
                <a:latin typeface="Helvetica World"/>
                <a:ea typeface="Helvetica World"/>
                <a:cs typeface="Helvetica World"/>
              </a:rPr>
              <a:t>It made it possible to train more than one neuron connected in series, adding nonlinear behavior that enabled a neural network to solve the XOR problem.</a:t>
            </a:r>
          </a:p>
          <a:p>
            <a:pPr algn="l">
              <a:lnSpc>
                <a:spcPts val="3723"/>
              </a:lnSpc>
              <a:buNone/>
            </a:pPr>
            <a:endParaRPr sz="2799">
              <a:solidFill>
                <a:srgbClr val="1B1B1B"/>
              </a:solidFill>
              <a:latin typeface="Helvetica World"/>
              <a:ea typeface="Helvetica World"/>
              <a:cs typeface="Helvetica World"/>
            </a:endParaRPr>
          </a:p>
        </p:txBody>
      </p:sp>
      <p:sp>
        <p:nvSpPr>
          <p:cNvPr id="14" name="TextBox 14">
            <a:extLst>
              <a:ext uri="{FF2B5EF4-FFF2-40B4-BE49-F238E27FC236}">
                <a16:creationId xmlns:a16="http://schemas.microsoft.com/office/drawing/2014/main" id="{D6C2D984-4C5A-4FBF-BF29-C06841AD4509}"/>
              </a:ext>
            </a:extLst>
          </p:cNvPr>
          <p:cNvSpPr>
            <a:spLocks noGrp="1"/>
          </p:cNvSpPr>
          <p:nvPr/>
        </p:nvSpPr>
        <p:spPr>
          <a:xfrm>
            <a:off x="1250805" y="856966"/>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1975</a:t>
            </a:r>
          </a:p>
        </p:txBody>
      </p:sp>
    </p:spTree>
    <p:extLst>
      <p:ext uri="{BB962C8B-B14F-4D97-AF65-F5344CB8AC3E}">
        <p14:creationId xmlns:p14="http://schemas.microsoft.com/office/powerpoint/2010/main" val="1658592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488643E6-D744-407D-ACF0-5E2D100D6C57}"/>
              </a:ext>
            </a:extLst>
          </p:cNvPr>
          <p:cNvSpPr>
            <a:spLocks noGrp="1"/>
          </p:cNvSpPr>
          <p:nvPr/>
        </p:nvSpPr>
        <p:spPr>
          <a:xfrm>
            <a:off x="1028700" y="2120937"/>
            <a:ext cx="7031835" cy="3740265"/>
          </a:xfrm>
          <a:custGeom>
            <a:avLst/>
            <a:gdLst/>
            <a:ahLst/>
            <a:cxnLst/>
            <a:rect l="l" t="t" r="r" b="b"/>
            <a:pathLst>
              <a:path w="1852006" h="985090">
                <a:moveTo>
                  <a:pt x="33029" y="0"/>
                </a:moveTo>
                <a:lnTo>
                  <a:pt x="1818977" y="0"/>
                </a:lnTo>
                <a:cubicBezTo>
                  <a:pt x="1837218" y="0"/>
                  <a:pt x="1852006" y="14788"/>
                  <a:pt x="1852006" y="33029"/>
                </a:cubicBezTo>
                <a:lnTo>
                  <a:pt x="1852006" y="952061"/>
                </a:lnTo>
                <a:cubicBezTo>
                  <a:pt x="1852006" y="970302"/>
                  <a:pt x="1837218" y="985090"/>
                  <a:pt x="1818977" y="985090"/>
                </a:cubicBezTo>
                <a:lnTo>
                  <a:pt x="33029" y="985090"/>
                </a:lnTo>
                <a:cubicBezTo>
                  <a:pt x="14788" y="985090"/>
                  <a:pt x="0" y="970302"/>
                  <a:pt x="0" y="952061"/>
                </a:cubicBezTo>
                <a:lnTo>
                  <a:pt x="0" y="33029"/>
                </a:lnTo>
                <a:cubicBezTo>
                  <a:pt x="0" y="14788"/>
                  <a:pt x="14788" y="0"/>
                  <a:pt x="33029"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76BC348B-FD0C-4090-A55F-40879E5EA2C3}"/>
              </a:ext>
            </a:extLst>
          </p:cNvPr>
          <p:cNvSpPr>
            <a:spLocks noGrp="1"/>
          </p:cNvSpPr>
          <p:nvPr/>
        </p:nvSpPr>
        <p:spPr>
          <a:xfrm>
            <a:off x="1028700" y="1976277"/>
            <a:ext cx="7031835" cy="3884925"/>
          </a:xfrm>
          <a:prstGeom prst="rect">
            <a:avLst/>
          </a:prstGeom>
        </p:spPr>
        <p:txBody>
          <a:bodyPr lIns="50800" tIns="50800" rIns="50800" bIns="50800" anchor="ctr"/>
          <a:lstStyle/>
          <a:p>
            <a:pPr algn="ctr">
              <a:lnSpc>
                <a:spcPts val="2659"/>
              </a:lnSpc>
              <a:buNone/>
            </a:pPr>
            <a:endParaRPr/>
          </a:p>
        </p:txBody>
      </p:sp>
      <p:sp>
        <p:nvSpPr>
          <p:cNvPr id="5" name="Freeform 5">
            <a:extLst>
              <a:ext uri="{FF2B5EF4-FFF2-40B4-BE49-F238E27FC236}">
                <a16:creationId xmlns:a16="http://schemas.microsoft.com/office/drawing/2014/main" id="{9644E74E-FE7E-4C10-B334-0316523884D5}"/>
              </a:ext>
            </a:extLst>
          </p:cNvPr>
          <p:cNvSpPr>
            <a:spLocks noGrp="1"/>
          </p:cNvSpPr>
          <p:nvPr/>
        </p:nvSpPr>
        <p:spPr>
          <a:xfrm>
            <a:off x="1361857" y="5387674"/>
            <a:ext cx="222105" cy="172434"/>
          </a:xfrm>
          <a:custGeom>
            <a:avLst/>
            <a:gdLst/>
            <a:ahLst/>
            <a:cxnLst/>
            <a:rect l="l" t="t" r="r" b="b"/>
            <a:pathLst>
              <a:path w="222105" h="172434">
                <a:moveTo>
                  <a:pt x="0" y="0"/>
                </a:moveTo>
                <a:lnTo>
                  <a:pt x="222105" y="0"/>
                </a:lnTo>
                <a:lnTo>
                  <a:pt x="222105" y="172435"/>
                </a:lnTo>
                <a:lnTo>
                  <a:pt x="0" y="17243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6" name="Freeform 6">
            <a:extLst>
              <a:ext uri="{FF2B5EF4-FFF2-40B4-BE49-F238E27FC236}">
                <a16:creationId xmlns:a16="http://schemas.microsoft.com/office/drawing/2014/main" id="{0560C07E-7F9D-4EC0-9F98-CC32235E6472}"/>
              </a:ext>
            </a:extLst>
          </p:cNvPr>
          <p:cNvSpPr>
            <a:spLocks noGrp="1"/>
          </p:cNvSpPr>
          <p:nvPr/>
        </p:nvSpPr>
        <p:spPr>
          <a:xfrm flipH="1">
            <a:off x="7643249" y="5473891"/>
            <a:ext cx="222105" cy="172434"/>
          </a:xfrm>
          <a:custGeom>
            <a:avLst/>
            <a:gdLst/>
            <a:ahLst/>
            <a:cxnLst/>
            <a:rect l="l" t="t" r="r" b="b"/>
            <a:pathLst>
              <a:path w="222105" h="172434">
                <a:moveTo>
                  <a:pt x="222105" y="0"/>
                </a:moveTo>
                <a:lnTo>
                  <a:pt x="0" y="0"/>
                </a:lnTo>
                <a:lnTo>
                  <a:pt x="0" y="172435"/>
                </a:lnTo>
                <a:lnTo>
                  <a:pt x="222105" y="172435"/>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C26FAF4B-F58B-40F3-B3C6-9C63AE19972F}"/>
              </a:ext>
            </a:extLst>
          </p:cNvPr>
          <p:cNvSpPr>
            <a:spLocks noGrp="1"/>
          </p:cNvSpPr>
          <p:nvPr/>
        </p:nvSpPr>
        <p:spPr>
          <a:xfrm flipV="1">
            <a:off x="1250805" y="2428523"/>
            <a:ext cx="222105" cy="172434"/>
          </a:xfrm>
          <a:custGeom>
            <a:avLst/>
            <a:gdLst/>
            <a:ahLst/>
            <a:cxnLst/>
            <a:rect l="l" t="t" r="r" b="b"/>
            <a:pathLst>
              <a:path w="222105" h="172434">
                <a:moveTo>
                  <a:pt x="0" y="172435"/>
                </a:moveTo>
                <a:lnTo>
                  <a:pt x="222105" y="172435"/>
                </a:lnTo>
                <a:lnTo>
                  <a:pt x="222105" y="0"/>
                </a:lnTo>
                <a:lnTo>
                  <a:pt x="0" y="0"/>
                </a:lnTo>
                <a:lnTo>
                  <a:pt x="0"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69AE498B-6AEB-42E9-9C88-107DEC56A938}"/>
              </a:ext>
            </a:extLst>
          </p:cNvPr>
          <p:cNvSpPr>
            <a:spLocks noGrp="1"/>
          </p:cNvSpPr>
          <p:nvPr/>
        </p:nvSpPr>
        <p:spPr>
          <a:xfrm flipH="1" flipV="1">
            <a:off x="7643249" y="2428523"/>
            <a:ext cx="222105" cy="172434"/>
          </a:xfrm>
          <a:custGeom>
            <a:avLst/>
            <a:gdLst/>
            <a:ahLst/>
            <a:cxnLst/>
            <a:rect l="l" t="t" r="r" b="b"/>
            <a:pathLst>
              <a:path w="222105" h="172434">
                <a:moveTo>
                  <a:pt x="222105" y="172435"/>
                </a:moveTo>
                <a:lnTo>
                  <a:pt x="0" y="172435"/>
                </a:lnTo>
                <a:lnTo>
                  <a:pt x="0" y="0"/>
                </a:lnTo>
                <a:lnTo>
                  <a:pt x="222105" y="0"/>
                </a:lnTo>
                <a:lnTo>
                  <a:pt x="222105"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AutoShape 9">
            <a:extLst>
              <a:ext uri="{FF2B5EF4-FFF2-40B4-BE49-F238E27FC236}">
                <a16:creationId xmlns:a16="http://schemas.microsoft.com/office/drawing/2014/main" id="{475B3EF8-8CC2-448C-9410-3579090D26FC}"/>
              </a:ext>
            </a:extLst>
          </p:cNvPr>
          <p:cNvSpPr>
            <a:spLocks noGrp="1"/>
          </p:cNvSpPr>
          <p:nvPr/>
        </p:nvSpPr>
        <p:spPr>
          <a:xfrm flipH="1" flipV="1">
            <a:off x="3523145" y="0"/>
            <a:ext cx="38090" cy="1665956"/>
          </a:xfrm>
          <a:prstGeom prst="line">
            <a:avLst/>
          </a:prstGeom>
          <a:ln w="76200">
            <a:solidFill>
              <a:srgbClr val="000000"/>
            </a:solidFill>
            <a:prstDash val="solid"/>
            <a:headEnd type="diamond" w="lg" len="lg"/>
            <a:tailEnd type="none" w="sm" len="sm"/>
          </a:ln>
        </p:spPr>
        <p:txBody>
          <a:bodyPr/>
          <a:lstStyle/>
          <a:p>
            <a:endParaRPr lang="en-EC"/>
          </a:p>
        </p:txBody>
      </p:sp>
      <p:sp>
        <p:nvSpPr>
          <p:cNvPr id="10" name="Freeform 10">
            <a:hlinkClick r:id="rId4"/>
            <a:extLst>
              <a:ext uri="{FF2B5EF4-FFF2-40B4-BE49-F238E27FC236}">
                <a16:creationId xmlns:a16="http://schemas.microsoft.com/office/drawing/2014/main" id="{5126486A-E848-4736-82A3-2B0BD2C9FFE4}"/>
              </a:ext>
            </a:extLst>
          </p:cNvPr>
          <p:cNvSpPr>
            <a:spLocks noGrp="1"/>
          </p:cNvSpPr>
          <p:nvPr/>
        </p:nvSpPr>
        <p:spPr>
          <a:xfrm>
            <a:off x="16655155" y="3740804"/>
            <a:ext cx="831325" cy="831325"/>
          </a:xfrm>
          <a:custGeom>
            <a:avLst/>
            <a:gdLst/>
            <a:ahLst/>
            <a:cxnLst/>
            <a:rect l="l" t="t" r="r" b="b"/>
            <a:pathLst>
              <a:path w="831325" h="831325">
                <a:moveTo>
                  <a:pt x="0" y="0"/>
                </a:moveTo>
                <a:lnTo>
                  <a:pt x="831325" y="0"/>
                </a:lnTo>
                <a:lnTo>
                  <a:pt x="831325" y="831325"/>
                </a:lnTo>
                <a:lnTo>
                  <a:pt x="0" y="831325"/>
                </a:lnTo>
                <a:lnTo>
                  <a:pt x="0" y="0"/>
                </a:lnTo>
                <a:close/>
              </a:path>
            </a:pathLst>
          </a:custGeom>
          <a:blipFill>
            <a:blip r:embed="rId5"/>
            <a:stretch>
              <a:fillRect/>
            </a:stretch>
          </a:blipFill>
        </p:spPr>
        <p:txBody>
          <a:bodyPr/>
          <a:lstStyle/>
          <a:p>
            <a:endParaRPr lang="en-EC"/>
          </a:p>
        </p:txBody>
      </p:sp>
      <p:sp>
        <p:nvSpPr>
          <p:cNvPr id="11" name="Freeform 11">
            <a:extLst>
              <a:ext uri="{FF2B5EF4-FFF2-40B4-BE49-F238E27FC236}">
                <a16:creationId xmlns:a16="http://schemas.microsoft.com/office/drawing/2014/main" id="{1026A7A0-3E18-4BC0-8D33-4692706DD75B}"/>
              </a:ext>
            </a:extLst>
          </p:cNvPr>
          <p:cNvSpPr>
            <a:spLocks noGrp="1"/>
          </p:cNvSpPr>
          <p:nvPr/>
        </p:nvSpPr>
        <p:spPr>
          <a:xfrm>
            <a:off x="3118365" y="6318402"/>
            <a:ext cx="4386073" cy="920740"/>
          </a:xfrm>
          <a:custGeom>
            <a:avLst/>
            <a:gdLst/>
            <a:ahLst/>
            <a:cxnLst/>
            <a:rect l="l" t="t" r="r" b="b"/>
            <a:pathLst>
              <a:path w="4386073" h="920740">
                <a:moveTo>
                  <a:pt x="0" y="0"/>
                </a:moveTo>
                <a:lnTo>
                  <a:pt x="4386073" y="0"/>
                </a:lnTo>
                <a:lnTo>
                  <a:pt x="4386073" y="920740"/>
                </a:lnTo>
                <a:lnTo>
                  <a:pt x="0" y="920740"/>
                </a:lnTo>
                <a:lnTo>
                  <a:pt x="0" y="0"/>
                </a:lnTo>
                <a:close/>
              </a:path>
            </a:pathLst>
          </a:custGeom>
          <a:blipFill>
            <a:blip r:embed="rId6"/>
            <a:stretch>
              <a:fillRect/>
            </a:stretch>
          </a:blipFill>
        </p:spPr>
        <p:txBody>
          <a:bodyPr/>
          <a:lstStyle/>
          <a:p>
            <a:endParaRPr lang="en-EC"/>
          </a:p>
        </p:txBody>
      </p:sp>
      <p:sp>
        <p:nvSpPr>
          <p:cNvPr id="12" name="Freeform 12">
            <a:extLst>
              <a:ext uri="{FF2B5EF4-FFF2-40B4-BE49-F238E27FC236}">
                <a16:creationId xmlns:a16="http://schemas.microsoft.com/office/drawing/2014/main" id="{664B7B35-3E82-43A8-9E8D-9A615E2D0F3C}"/>
              </a:ext>
            </a:extLst>
          </p:cNvPr>
          <p:cNvSpPr>
            <a:spLocks noGrp="1"/>
          </p:cNvSpPr>
          <p:nvPr/>
        </p:nvSpPr>
        <p:spPr>
          <a:xfrm>
            <a:off x="873712" y="8001142"/>
            <a:ext cx="8875380" cy="1564286"/>
          </a:xfrm>
          <a:custGeom>
            <a:avLst/>
            <a:gdLst/>
            <a:ahLst/>
            <a:cxnLst/>
            <a:rect l="l" t="t" r="r" b="b"/>
            <a:pathLst>
              <a:path w="8875380" h="1564286">
                <a:moveTo>
                  <a:pt x="0" y="0"/>
                </a:moveTo>
                <a:lnTo>
                  <a:pt x="8875379" y="0"/>
                </a:lnTo>
                <a:lnTo>
                  <a:pt x="8875379" y="1564286"/>
                </a:lnTo>
                <a:lnTo>
                  <a:pt x="0" y="1564286"/>
                </a:lnTo>
                <a:lnTo>
                  <a:pt x="0" y="0"/>
                </a:lnTo>
                <a:close/>
              </a:path>
            </a:pathLst>
          </a:custGeom>
          <a:blipFill>
            <a:blip r:embed="rId7"/>
            <a:stretch>
              <a:fillRect/>
            </a:stretch>
          </a:blipFill>
        </p:spPr>
        <p:txBody>
          <a:bodyPr/>
          <a:lstStyle/>
          <a:p>
            <a:endParaRPr lang="en-EC"/>
          </a:p>
        </p:txBody>
      </p:sp>
      <p:sp>
        <p:nvSpPr>
          <p:cNvPr id="13" name="Freeform 13">
            <a:extLst>
              <a:ext uri="{FF2B5EF4-FFF2-40B4-BE49-F238E27FC236}">
                <a16:creationId xmlns:a16="http://schemas.microsoft.com/office/drawing/2014/main" id="{66A21A6A-1AC3-4028-8CF6-964D5BD65891}"/>
              </a:ext>
            </a:extLst>
          </p:cNvPr>
          <p:cNvSpPr>
            <a:spLocks noGrp="1"/>
          </p:cNvSpPr>
          <p:nvPr/>
        </p:nvSpPr>
        <p:spPr>
          <a:xfrm>
            <a:off x="9749091" y="3252867"/>
            <a:ext cx="7007063" cy="6312561"/>
          </a:xfrm>
          <a:custGeom>
            <a:avLst/>
            <a:gdLst/>
            <a:ahLst/>
            <a:cxnLst/>
            <a:rect l="l" t="t" r="r" b="b"/>
            <a:pathLst>
              <a:path w="7007063" h="6312561">
                <a:moveTo>
                  <a:pt x="0" y="0"/>
                </a:moveTo>
                <a:lnTo>
                  <a:pt x="7007063" y="0"/>
                </a:lnTo>
                <a:lnTo>
                  <a:pt x="7007063" y="6312561"/>
                </a:lnTo>
                <a:lnTo>
                  <a:pt x="0" y="6312561"/>
                </a:lnTo>
                <a:lnTo>
                  <a:pt x="0" y="0"/>
                </a:lnTo>
                <a:close/>
              </a:path>
            </a:pathLst>
          </a:custGeom>
          <a:blipFill>
            <a:blip r:embed="rId8"/>
            <a:stretch>
              <a:fillRect l="-1541" t="-68"/>
            </a:stretch>
          </a:blipFill>
        </p:spPr>
        <p:txBody>
          <a:bodyPr/>
          <a:lstStyle/>
          <a:p>
            <a:endParaRPr lang="en-EC"/>
          </a:p>
        </p:txBody>
      </p:sp>
      <p:sp>
        <p:nvSpPr>
          <p:cNvPr id="14" name="TextBox 14">
            <a:extLst>
              <a:ext uri="{FF2B5EF4-FFF2-40B4-BE49-F238E27FC236}">
                <a16:creationId xmlns:a16="http://schemas.microsoft.com/office/drawing/2014/main" id="{14DBA8DD-D569-4A79-8401-C6103A8B6CED}"/>
              </a:ext>
            </a:extLst>
          </p:cNvPr>
          <p:cNvSpPr>
            <a:spLocks noGrp="1"/>
          </p:cNvSpPr>
          <p:nvPr/>
        </p:nvSpPr>
        <p:spPr>
          <a:xfrm>
            <a:off x="8841160" y="675996"/>
            <a:ext cx="8645320" cy="2304406"/>
          </a:xfrm>
          <a:prstGeom prst="rect">
            <a:avLst/>
          </a:prstGeom>
        </p:spPr>
        <p:txBody>
          <a:bodyPr wrap="square" lIns="0" tIns="0" rIns="0" bIns="0" anchor="t">
            <a:spAutoFit/>
          </a:bodyPr>
          <a:lstStyle/>
          <a:p>
            <a:pPr algn="l">
              <a:lnSpc>
                <a:spcPts val="8599"/>
              </a:lnSpc>
              <a:buNone/>
            </a:pPr>
            <a:r>
              <a:rPr sz="8599" b="1" dirty="0">
                <a:solidFill>
                  <a:srgbClr val="1B1B1B"/>
                </a:solidFill>
                <a:latin typeface="Telegraf Medium"/>
                <a:ea typeface="Telegraf Medium"/>
                <a:cs typeface="Telegraf Medium"/>
              </a:rPr>
              <a:t>Support Vector Machine</a:t>
            </a:r>
          </a:p>
        </p:txBody>
      </p:sp>
      <p:sp>
        <p:nvSpPr>
          <p:cNvPr id="15" name="TextBox 15">
            <a:extLst>
              <a:ext uri="{FF2B5EF4-FFF2-40B4-BE49-F238E27FC236}">
                <a16:creationId xmlns:a16="http://schemas.microsoft.com/office/drawing/2014/main" id="{45C0DE46-59FD-4D46-BBB3-164D09828149}"/>
              </a:ext>
            </a:extLst>
          </p:cNvPr>
          <p:cNvSpPr>
            <a:spLocks noGrp="1"/>
          </p:cNvSpPr>
          <p:nvPr/>
        </p:nvSpPr>
        <p:spPr>
          <a:xfrm>
            <a:off x="1091943" y="2572383"/>
            <a:ext cx="6662359" cy="2681224"/>
          </a:xfrm>
          <a:prstGeom prst="rect">
            <a:avLst/>
          </a:prstGeom>
        </p:spPr>
        <p:txBody>
          <a:bodyPr lIns="0" tIns="0" rIns="0" bIns="0" anchor="t">
            <a:spAutoFit/>
          </a:bodyPr>
          <a:lstStyle/>
          <a:p>
            <a:pPr marL="561341" indent="-280670" algn="l">
              <a:lnSpc>
                <a:spcPts val="3458"/>
              </a:lnSpc>
              <a:buFont typeface="Arial"/>
              <a:buChar char="•"/>
            </a:pPr>
            <a:r>
              <a:rPr sz="2600">
                <a:solidFill>
                  <a:srgbClr val="1B1B1B"/>
                </a:solidFill>
                <a:latin typeface="Helvetica World"/>
                <a:ea typeface="Helvetica World"/>
                <a:cs typeface="Helvetica World"/>
              </a:rPr>
              <a:t>Vladimir Vapnik and his colleagues at AT&amp;T Bell Labs proposed a linear classification algorithm similar to neural networks (the perceptron) that attempts to maximize the margin between two subspaces.</a:t>
            </a:r>
          </a:p>
          <a:p>
            <a:pPr algn="l">
              <a:lnSpc>
                <a:spcPts val="3458"/>
              </a:lnSpc>
              <a:buNone/>
            </a:pPr>
            <a:endParaRPr sz="2600">
              <a:solidFill>
                <a:srgbClr val="1B1B1B"/>
              </a:solidFill>
              <a:latin typeface="Helvetica World"/>
              <a:ea typeface="Helvetica World"/>
              <a:cs typeface="Helvetica World"/>
            </a:endParaRPr>
          </a:p>
        </p:txBody>
      </p:sp>
      <p:sp>
        <p:nvSpPr>
          <p:cNvPr id="16" name="TextBox 16">
            <a:extLst>
              <a:ext uri="{FF2B5EF4-FFF2-40B4-BE49-F238E27FC236}">
                <a16:creationId xmlns:a16="http://schemas.microsoft.com/office/drawing/2014/main" id="{ACF58327-5481-4C8C-95FC-2FF85426A26B}"/>
              </a:ext>
            </a:extLst>
          </p:cNvPr>
          <p:cNvSpPr>
            <a:spLocks noGrp="1"/>
          </p:cNvSpPr>
          <p:nvPr/>
        </p:nvSpPr>
        <p:spPr>
          <a:xfrm>
            <a:off x="1250805" y="856966"/>
            <a:ext cx="1867560" cy="808990"/>
          </a:xfrm>
          <a:prstGeom prst="rect">
            <a:avLst/>
          </a:prstGeom>
        </p:spPr>
        <p:txBody>
          <a:bodyPr lIns="0" tIns="0" rIns="0" bIns="0" anchor="t">
            <a:spAutoFit/>
          </a:bodyPr>
          <a:lstStyle/>
          <a:p>
            <a:pPr algn="l">
              <a:lnSpc>
                <a:spcPts val="5600"/>
              </a:lnSpc>
              <a:buNone/>
            </a:pPr>
            <a:r>
              <a:rPr sz="5600" b="1">
                <a:solidFill>
                  <a:srgbClr val="1B1B1B"/>
                </a:solidFill>
                <a:latin typeface="Telegraf Medium"/>
                <a:ea typeface="Telegraf Medium"/>
                <a:cs typeface="Telegraf Medium"/>
              </a:rPr>
              <a:t>1995</a:t>
            </a:r>
          </a:p>
        </p:txBody>
      </p:sp>
      <p:sp>
        <p:nvSpPr>
          <p:cNvPr id="17" name="TextBox 17">
            <a:extLst>
              <a:ext uri="{FF2B5EF4-FFF2-40B4-BE49-F238E27FC236}">
                <a16:creationId xmlns:a16="http://schemas.microsoft.com/office/drawing/2014/main" id="{0644F320-2479-40CC-9CCF-1CCFCD520A9A}"/>
              </a:ext>
            </a:extLst>
          </p:cNvPr>
          <p:cNvSpPr>
            <a:spLocks noGrp="1"/>
          </p:cNvSpPr>
          <p:nvPr/>
        </p:nvSpPr>
        <p:spPr>
          <a:xfrm>
            <a:off x="1250805" y="7393955"/>
            <a:ext cx="6662359" cy="423799"/>
          </a:xfrm>
          <a:prstGeom prst="rect">
            <a:avLst/>
          </a:prstGeom>
        </p:spPr>
        <p:txBody>
          <a:bodyPr lIns="0" tIns="0" rIns="0" bIns="0" anchor="t">
            <a:spAutoFit/>
          </a:bodyPr>
          <a:lstStyle/>
          <a:p>
            <a:pPr algn="l">
              <a:lnSpc>
                <a:spcPts val="3458"/>
              </a:lnSpc>
              <a:buNone/>
            </a:pPr>
            <a:r>
              <a:rPr sz="2600">
                <a:solidFill>
                  <a:srgbClr val="1B1B1B"/>
                </a:solidFill>
                <a:latin typeface="Helvetica World"/>
                <a:ea typeface="Helvetica World"/>
                <a:cs typeface="Helvetica World"/>
              </a:rPr>
              <a:t>The objective is to maximize:</a:t>
            </a:r>
          </a:p>
        </p:txBody>
      </p:sp>
    </p:spTree>
    <p:extLst>
      <p:ext uri="{BB962C8B-B14F-4D97-AF65-F5344CB8AC3E}">
        <p14:creationId xmlns:p14="http://schemas.microsoft.com/office/powerpoint/2010/main" val="745329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1DB0D967-8079-4FE9-90E6-280045F9C40E}"/>
              </a:ext>
            </a:extLst>
          </p:cNvPr>
          <p:cNvSpPr>
            <a:spLocks noGrp="1"/>
          </p:cNvSpPr>
          <p:nvPr/>
        </p:nvSpPr>
        <p:spPr>
          <a:xfrm>
            <a:off x="1028700" y="2120937"/>
            <a:ext cx="7197754" cy="7366792"/>
          </a:xfrm>
          <a:custGeom>
            <a:avLst/>
            <a:gdLst/>
            <a:ahLst/>
            <a:cxnLst/>
            <a:rect l="l" t="t" r="r" b="b"/>
            <a:pathLst>
              <a:path w="1895705" h="1940225">
                <a:moveTo>
                  <a:pt x="32268" y="0"/>
                </a:moveTo>
                <a:lnTo>
                  <a:pt x="1863437" y="0"/>
                </a:lnTo>
                <a:cubicBezTo>
                  <a:pt x="1881258" y="0"/>
                  <a:pt x="1895705" y="14447"/>
                  <a:pt x="1895705" y="32268"/>
                </a:cubicBezTo>
                <a:lnTo>
                  <a:pt x="1895705" y="1907957"/>
                </a:lnTo>
                <a:cubicBezTo>
                  <a:pt x="1895705" y="1916515"/>
                  <a:pt x="1892305" y="1924722"/>
                  <a:pt x="1886254" y="1930774"/>
                </a:cubicBezTo>
                <a:cubicBezTo>
                  <a:pt x="1880202" y="1936825"/>
                  <a:pt x="1871995" y="1940225"/>
                  <a:pt x="1863437" y="1940225"/>
                </a:cubicBezTo>
                <a:lnTo>
                  <a:pt x="32268" y="1940225"/>
                </a:lnTo>
                <a:cubicBezTo>
                  <a:pt x="23710" y="1940225"/>
                  <a:pt x="15503" y="1936825"/>
                  <a:pt x="9451" y="1930774"/>
                </a:cubicBezTo>
                <a:cubicBezTo>
                  <a:pt x="3400" y="1924722"/>
                  <a:pt x="0" y="1916515"/>
                  <a:pt x="0" y="1907957"/>
                </a:cubicBezTo>
                <a:lnTo>
                  <a:pt x="0" y="32268"/>
                </a:lnTo>
                <a:cubicBezTo>
                  <a:pt x="0" y="23710"/>
                  <a:pt x="3400" y="15503"/>
                  <a:pt x="9451" y="9451"/>
                </a:cubicBezTo>
                <a:cubicBezTo>
                  <a:pt x="15503" y="3400"/>
                  <a:pt x="23710" y="0"/>
                  <a:pt x="32268"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08818BD2-8436-49DC-AD16-6A0DAE305268}"/>
              </a:ext>
            </a:extLst>
          </p:cNvPr>
          <p:cNvSpPr>
            <a:spLocks noGrp="1"/>
          </p:cNvSpPr>
          <p:nvPr/>
        </p:nvSpPr>
        <p:spPr>
          <a:xfrm>
            <a:off x="1028700" y="1976277"/>
            <a:ext cx="7197754" cy="7511452"/>
          </a:xfrm>
          <a:prstGeom prst="rect">
            <a:avLst/>
          </a:prstGeom>
        </p:spPr>
        <p:txBody>
          <a:bodyPr lIns="50800" tIns="50800" rIns="50800" bIns="50800" anchor="ctr"/>
          <a:lstStyle/>
          <a:p>
            <a:pPr algn="ctr">
              <a:lnSpc>
                <a:spcPts val="2659"/>
              </a:lnSpc>
              <a:buNone/>
            </a:pPr>
            <a:endParaRPr/>
          </a:p>
        </p:txBody>
      </p:sp>
      <p:sp>
        <p:nvSpPr>
          <p:cNvPr id="5" name="Freeform 5">
            <a:extLst>
              <a:ext uri="{FF2B5EF4-FFF2-40B4-BE49-F238E27FC236}">
                <a16:creationId xmlns:a16="http://schemas.microsoft.com/office/drawing/2014/main" id="{5815BAF6-D8E3-4AEC-A010-7E03FE954CFA}"/>
              </a:ext>
            </a:extLst>
          </p:cNvPr>
          <p:cNvSpPr>
            <a:spLocks noGrp="1"/>
          </p:cNvSpPr>
          <p:nvPr/>
        </p:nvSpPr>
        <p:spPr>
          <a:xfrm>
            <a:off x="1250805" y="8926589"/>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6" name="Freeform 6">
            <a:extLst>
              <a:ext uri="{FF2B5EF4-FFF2-40B4-BE49-F238E27FC236}">
                <a16:creationId xmlns:a16="http://schemas.microsoft.com/office/drawing/2014/main" id="{38633309-6E8B-4E20-97BD-4154A99CA5A2}"/>
              </a:ext>
            </a:extLst>
          </p:cNvPr>
          <p:cNvSpPr>
            <a:spLocks noGrp="1"/>
          </p:cNvSpPr>
          <p:nvPr/>
        </p:nvSpPr>
        <p:spPr>
          <a:xfrm flipH="1">
            <a:off x="7643249" y="8926589"/>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1441807C-7645-4A83-9647-4C37F03F16C2}"/>
              </a:ext>
            </a:extLst>
          </p:cNvPr>
          <p:cNvSpPr>
            <a:spLocks noGrp="1"/>
          </p:cNvSpPr>
          <p:nvPr/>
        </p:nvSpPr>
        <p:spPr>
          <a:xfrm flipV="1">
            <a:off x="1250805" y="2428523"/>
            <a:ext cx="222105" cy="172434"/>
          </a:xfrm>
          <a:custGeom>
            <a:avLst/>
            <a:gdLst/>
            <a:ahLst/>
            <a:cxnLst/>
            <a:rect l="l" t="t" r="r" b="b"/>
            <a:pathLst>
              <a:path w="222105" h="172434">
                <a:moveTo>
                  <a:pt x="0" y="172435"/>
                </a:moveTo>
                <a:lnTo>
                  <a:pt x="222105" y="172435"/>
                </a:lnTo>
                <a:lnTo>
                  <a:pt x="222105" y="0"/>
                </a:lnTo>
                <a:lnTo>
                  <a:pt x="0" y="0"/>
                </a:lnTo>
                <a:lnTo>
                  <a:pt x="0"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340D0481-F48F-4627-B58C-2DFBE92BE080}"/>
              </a:ext>
            </a:extLst>
          </p:cNvPr>
          <p:cNvSpPr>
            <a:spLocks noGrp="1"/>
          </p:cNvSpPr>
          <p:nvPr/>
        </p:nvSpPr>
        <p:spPr>
          <a:xfrm flipH="1" flipV="1">
            <a:off x="7643249" y="2428523"/>
            <a:ext cx="222105" cy="172434"/>
          </a:xfrm>
          <a:custGeom>
            <a:avLst/>
            <a:gdLst/>
            <a:ahLst/>
            <a:cxnLst/>
            <a:rect l="l" t="t" r="r" b="b"/>
            <a:pathLst>
              <a:path w="222105" h="172434">
                <a:moveTo>
                  <a:pt x="222105" y="172435"/>
                </a:moveTo>
                <a:lnTo>
                  <a:pt x="0" y="172435"/>
                </a:lnTo>
                <a:lnTo>
                  <a:pt x="0" y="0"/>
                </a:lnTo>
                <a:lnTo>
                  <a:pt x="222105" y="0"/>
                </a:lnTo>
                <a:lnTo>
                  <a:pt x="222105"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AutoShape 9">
            <a:extLst>
              <a:ext uri="{FF2B5EF4-FFF2-40B4-BE49-F238E27FC236}">
                <a16:creationId xmlns:a16="http://schemas.microsoft.com/office/drawing/2014/main" id="{4AB21532-184E-4551-87A1-7DE3B7C25D56}"/>
              </a:ext>
            </a:extLst>
          </p:cNvPr>
          <p:cNvSpPr>
            <a:spLocks noGrp="1"/>
          </p:cNvSpPr>
          <p:nvPr/>
        </p:nvSpPr>
        <p:spPr>
          <a:xfrm flipH="1" flipV="1">
            <a:off x="3523145" y="0"/>
            <a:ext cx="38090" cy="1665956"/>
          </a:xfrm>
          <a:prstGeom prst="line">
            <a:avLst/>
          </a:prstGeom>
          <a:ln w="76200">
            <a:solidFill>
              <a:srgbClr val="000000"/>
            </a:solidFill>
            <a:prstDash val="solid"/>
            <a:headEnd type="diamond" w="lg" len="lg"/>
            <a:tailEnd type="none" w="sm" len="sm"/>
          </a:ln>
        </p:spPr>
        <p:txBody>
          <a:bodyPr/>
          <a:lstStyle/>
          <a:p>
            <a:endParaRPr lang="en-EC"/>
          </a:p>
        </p:txBody>
      </p:sp>
      <p:sp>
        <p:nvSpPr>
          <p:cNvPr id="10" name="Freeform 10">
            <a:hlinkClick r:id="rId4"/>
            <a:extLst>
              <a:ext uri="{FF2B5EF4-FFF2-40B4-BE49-F238E27FC236}">
                <a16:creationId xmlns:a16="http://schemas.microsoft.com/office/drawing/2014/main" id="{E1A4B2E7-7E88-492B-9B69-738B7C6A5F3E}"/>
              </a:ext>
            </a:extLst>
          </p:cNvPr>
          <p:cNvSpPr>
            <a:spLocks noGrp="1"/>
          </p:cNvSpPr>
          <p:nvPr/>
        </p:nvSpPr>
        <p:spPr>
          <a:xfrm>
            <a:off x="16219479" y="8510926"/>
            <a:ext cx="831325" cy="831325"/>
          </a:xfrm>
          <a:custGeom>
            <a:avLst/>
            <a:gdLst/>
            <a:ahLst/>
            <a:cxnLst/>
            <a:rect l="l" t="t" r="r" b="b"/>
            <a:pathLst>
              <a:path w="831325" h="831325">
                <a:moveTo>
                  <a:pt x="0" y="0"/>
                </a:moveTo>
                <a:lnTo>
                  <a:pt x="831325" y="0"/>
                </a:lnTo>
                <a:lnTo>
                  <a:pt x="831325" y="831325"/>
                </a:lnTo>
                <a:lnTo>
                  <a:pt x="0" y="831325"/>
                </a:lnTo>
                <a:lnTo>
                  <a:pt x="0" y="0"/>
                </a:lnTo>
                <a:close/>
              </a:path>
            </a:pathLst>
          </a:custGeom>
          <a:blipFill>
            <a:blip r:embed="rId5"/>
            <a:stretch>
              <a:fillRect/>
            </a:stretch>
          </a:blipFill>
        </p:spPr>
        <p:txBody>
          <a:bodyPr/>
          <a:lstStyle/>
          <a:p>
            <a:endParaRPr lang="en-EC"/>
          </a:p>
        </p:txBody>
      </p:sp>
      <p:sp>
        <p:nvSpPr>
          <p:cNvPr id="11" name="Freeform 11">
            <a:extLst>
              <a:ext uri="{FF2B5EF4-FFF2-40B4-BE49-F238E27FC236}">
                <a16:creationId xmlns:a16="http://schemas.microsoft.com/office/drawing/2014/main" id="{92FF0FE0-BCC0-4FA6-B255-B2EE4C27E1B2}"/>
              </a:ext>
            </a:extLst>
          </p:cNvPr>
          <p:cNvSpPr>
            <a:spLocks noGrp="1"/>
          </p:cNvSpPr>
          <p:nvPr/>
        </p:nvSpPr>
        <p:spPr>
          <a:xfrm>
            <a:off x="8841160" y="3285739"/>
            <a:ext cx="8209644" cy="4648711"/>
          </a:xfrm>
          <a:custGeom>
            <a:avLst/>
            <a:gdLst/>
            <a:ahLst/>
            <a:cxnLst/>
            <a:rect l="l" t="t" r="r" b="b"/>
            <a:pathLst>
              <a:path w="8209644" h="4648711">
                <a:moveTo>
                  <a:pt x="0" y="0"/>
                </a:moveTo>
                <a:lnTo>
                  <a:pt x="8209644" y="0"/>
                </a:lnTo>
                <a:lnTo>
                  <a:pt x="8209644" y="4648711"/>
                </a:lnTo>
                <a:lnTo>
                  <a:pt x="0" y="4648711"/>
                </a:lnTo>
                <a:lnTo>
                  <a:pt x="0" y="0"/>
                </a:lnTo>
                <a:close/>
              </a:path>
            </a:pathLst>
          </a:custGeom>
          <a:blipFill>
            <a:blip r:embed="rId6"/>
            <a:stretch>
              <a:fillRect/>
            </a:stretch>
          </a:blipFill>
        </p:spPr>
        <p:txBody>
          <a:bodyPr/>
          <a:lstStyle/>
          <a:p>
            <a:endParaRPr lang="en-EC"/>
          </a:p>
        </p:txBody>
      </p:sp>
      <p:sp>
        <p:nvSpPr>
          <p:cNvPr id="12" name="TextBox 12">
            <a:extLst>
              <a:ext uri="{FF2B5EF4-FFF2-40B4-BE49-F238E27FC236}">
                <a16:creationId xmlns:a16="http://schemas.microsoft.com/office/drawing/2014/main" id="{54A4AC3B-6336-4A3E-867B-58BA9CA59A82}"/>
              </a:ext>
            </a:extLst>
          </p:cNvPr>
          <p:cNvSpPr>
            <a:spLocks noGrp="1"/>
          </p:cNvSpPr>
          <p:nvPr/>
        </p:nvSpPr>
        <p:spPr>
          <a:xfrm>
            <a:off x="8841160" y="675996"/>
            <a:ext cx="7813995" cy="1218556"/>
          </a:xfrm>
          <a:prstGeom prst="rect">
            <a:avLst/>
          </a:prstGeom>
        </p:spPr>
        <p:txBody>
          <a:bodyPr lIns="0" tIns="0" rIns="0" bIns="0" anchor="t">
            <a:spAutoFit/>
          </a:bodyPr>
          <a:lstStyle/>
          <a:p>
            <a:pPr algn="l">
              <a:lnSpc>
                <a:spcPts val="8599"/>
              </a:lnSpc>
              <a:buNone/>
            </a:pPr>
            <a:r>
              <a:rPr sz="8599" b="1">
                <a:solidFill>
                  <a:srgbClr val="1B1B1B"/>
                </a:solidFill>
                <a:latin typeface="Telegraf Medium"/>
                <a:ea typeface="Telegraf Medium"/>
                <a:cs typeface="Telegraf Medium"/>
              </a:rPr>
              <a:t>Deep Learning</a:t>
            </a:r>
          </a:p>
        </p:txBody>
      </p:sp>
      <p:sp>
        <p:nvSpPr>
          <p:cNvPr id="13" name="TextBox 13">
            <a:extLst>
              <a:ext uri="{FF2B5EF4-FFF2-40B4-BE49-F238E27FC236}">
                <a16:creationId xmlns:a16="http://schemas.microsoft.com/office/drawing/2014/main" id="{2AE0A444-4364-40BE-8941-9E5D7B51A923}"/>
              </a:ext>
            </a:extLst>
          </p:cNvPr>
          <p:cNvSpPr>
            <a:spLocks noGrp="1"/>
          </p:cNvSpPr>
          <p:nvPr/>
        </p:nvSpPr>
        <p:spPr>
          <a:xfrm>
            <a:off x="1091943" y="2562858"/>
            <a:ext cx="6662359" cy="6992747"/>
          </a:xfrm>
          <a:prstGeom prst="rect">
            <a:avLst/>
          </a:prstGeom>
        </p:spPr>
        <p:txBody>
          <a:bodyPr lIns="0" tIns="0" rIns="0" bIns="0" anchor="t">
            <a:spAutoFit/>
          </a:bodyPr>
          <a:lstStyle/>
          <a:p>
            <a:pPr marL="604519" indent="-302260" algn="l">
              <a:lnSpc>
                <a:spcPts val="3723"/>
              </a:lnSpc>
              <a:buFont typeface="Arial"/>
              <a:buChar char="•"/>
            </a:pPr>
            <a:r>
              <a:rPr sz="2799">
                <a:solidFill>
                  <a:srgbClr val="1B1B1B"/>
                </a:solidFill>
                <a:latin typeface="Helvetica World"/>
                <a:ea typeface="Helvetica World"/>
                <a:cs typeface="Helvetica World"/>
              </a:rPr>
              <a:t>Although the theoretical tools had been available since the 1960s, the term deep learning was introduced in 1986. Since then, different researchers have simultaneously studied neural networks whose depth (number of layers) can grow.</a:t>
            </a:r>
          </a:p>
          <a:p>
            <a:pPr marL="604519" indent="-302260" algn="l">
              <a:lnSpc>
                <a:spcPts val="3723"/>
              </a:lnSpc>
              <a:buFont typeface="Arial"/>
              <a:buChar char="•"/>
            </a:pPr>
            <a:r>
              <a:rPr sz="2799">
                <a:solidFill>
                  <a:srgbClr val="1B1B1B"/>
                </a:solidFill>
                <a:latin typeface="Helvetica World"/>
                <a:ea typeface="Helvetica World"/>
                <a:cs typeface="Helvetica World"/>
              </a:rPr>
              <a:t>In particular, the work of Yoshua Bengio, Geoffrey Hinton, and Yann LeCun established the foundations for using a modified error-backpropagation algorithm to train these networks.</a:t>
            </a:r>
          </a:p>
          <a:p>
            <a:pPr algn="l">
              <a:lnSpc>
                <a:spcPts val="3723"/>
              </a:lnSpc>
              <a:buNone/>
            </a:pPr>
            <a:endParaRPr sz="2799">
              <a:solidFill>
                <a:srgbClr val="1B1B1B"/>
              </a:solidFill>
              <a:latin typeface="Helvetica World"/>
              <a:ea typeface="Helvetica World"/>
              <a:cs typeface="Helvetica World"/>
            </a:endParaRPr>
          </a:p>
        </p:txBody>
      </p:sp>
      <p:sp>
        <p:nvSpPr>
          <p:cNvPr id="14" name="TextBox 14">
            <a:extLst>
              <a:ext uri="{FF2B5EF4-FFF2-40B4-BE49-F238E27FC236}">
                <a16:creationId xmlns:a16="http://schemas.microsoft.com/office/drawing/2014/main" id="{CC448C71-F8DC-47F1-827C-19A03E739848}"/>
              </a:ext>
            </a:extLst>
          </p:cNvPr>
          <p:cNvSpPr>
            <a:spLocks noGrp="1"/>
          </p:cNvSpPr>
          <p:nvPr/>
        </p:nvSpPr>
        <p:spPr>
          <a:xfrm>
            <a:off x="1250805" y="856966"/>
            <a:ext cx="2196160" cy="728213"/>
          </a:xfrm>
          <a:prstGeom prst="rect">
            <a:avLst/>
          </a:prstGeom>
        </p:spPr>
        <p:txBody>
          <a:bodyPr wrap="square" lIns="0" tIns="0" rIns="0" bIns="0" anchor="t">
            <a:spAutoFit/>
          </a:bodyPr>
          <a:lstStyle/>
          <a:p>
            <a:pPr algn="l">
              <a:lnSpc>
                <a:spcPts val="5600"/>
              </a:lnSpc>
              <a:buNone/>
            </a:pPr>
            <a:r>
              <a:rPr sz="5600" b="1" dirty="0">
                <a:solidFill>
                  <a:srgbClr val="1B1B1B"/>
                </a:solidFill>
                <a:latin typeface="Telegraf Medium"/>
                <a:ea typeface="Telegraf Medium"/>
                <a:cs typeface="Telegraf Medium"/>
              </a:rPr>
              <a:t>2000</a:t>
            </a:r>
          </a:p>
        </p:txBody>
      </p:sp>
    </p:spTree>
    <p:extLst>
      <p:ext uri="{BB962C8B-B14F-4D97-AF65-F5344CB8AC3E}">
        <p14:creationId xmlns:p14="http://schemas.microsoft.com/office/powerpoint/2010/main" val="9972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E1DE11D9-D6EC-4ACC-9E90-78E1F124E139}"/>
              </a:ext>
            </a:extLst>
          </p:cNvPr>
          <p:cNvSpPr>
            <a:spLocks noGrp="1"/>
          </p:cNvSpPr>
          <p:nvPr/>
        </p:nvSpPr>
        <p:spPr>
          <a:xfrm>
            <a:off x="1028700" y="2089163"/>
            <a:ext cx="6738067" cy="7808845"/>
          </a:xfrm>
          <a:custGeom>
            <a:avLst/>
            <a:gdLst/>
            <a:ahLst/>
            <a:cxnLst/>
            <a:rect l="l" t="t" r="r" b="b"/>
            <a:pathLst>
              <a:path w="6738067" h="7808845">
                <a:moveTo>
                  <a:pt x="0" y="0"/>
                </a:moveTo>
                <a:lnTo>
                  <a:pt x="6738067" y="0"/>
                </a:lnTo>
                <a:lnTo>
                  <a:pt x="6738067" y="7808844"/>
                </a:lnTo>
                <a:lnTo>
                  <a:pt x="0" y="7808844"/>
                </a:lnTo>
                <a:lnTo>
                  <a:pt x="0" y="0"/>
                </a:lnTo>
                <a:close/>
              </a:path>
            </a:pathLst>
          </a:custGeom>
          <a:blipFill>
            <a:blip r:embed="rId3"/>
            <a:stretch>
              <a:fillRect/>
            </a:stretch>
          </a:blipFill>
        </p:spPr>
        <p:txBody>
          <a:bodyPr/>
          <a:lstStyle/>
          <a:p>
            <a:endParaRPr lang="en-EC"/>
          </a:p>
        </p:txBody>
      </p:sp>
      <p:sp>
        <p:nvSpPr>
          <p:cNvPr id="3" name="Freeform 3">
            <a:extLst>
              <a:ext uri="{FF2B5EF4-FFF2-40B4-BE49-F238E27FC236}">
                <a16:creationId xmlns:a16="http://schemas.microsoft.com/office/drawing/2014/main" id="{D683BF87-CCE1-4EBB-9BE6-1C5769F7C6F3}"/>
              </a:ext>
            </a:extLst>
          </p:cNvPr>
          <p:cNvSpPr>
            <a:spLocks noGrp="1"/>
          </p:cNvSpPr>
          <p:nvPr/>
        </p:nvSpPr>
        <p:spPr>
          <a:xfrm>
            <a:off x="8156929" y="2089163"/>
            <a:ext cx="4429403" cy="5886695"/>
          </a:xfrm>
          <a:custGeom>
            <a:avLst/>
            <a:gdLst/>
            <a:ahLst/>
            <a:cxnLst/>
            <a:rect l="l" t="t" r="r" b="b"/>
            <a:pathLst>
              <a:path w="4429403" h="5886695">
                <a:moveTo>
                  <a:pt x="0" y="0"/>
                </a:moveTo>
                <a:lnTo>
                  <a:pt x="4429403" y="0"/>
                </a:lnTo>
                <a:lnTo>
                  <a:pt x="4429403" y="5886695"/>
                </a:lnTo>
                <a:lnTo>
                  <a:pt x="0" y="5886695"/>
                </a:lnTo>
                <a:lnTo>
                  <a:pt x="0" y="0"/>
                </a:lnTo>
                <a:close/>
              </a:path>
            </a:pathLst>
          </a:custGeom>
          <a:blipFill>
            <a:blip r:embed="rId4"/>
            <a:stretch>
              <a:fillRect/>
            </a:stretch>
          </a:blipFill>
        </p:spPr>
        <p:txBody>
          <a:bodyPr/>
          <a:lstStyle/>
          <a:p>
            <a:endParaRPr lang="en-EC"/>
          </a:p>
        </p:txBody>
      </p:sp>
      <p:sp>
        <p:nvSpPr>
          <p:cNvPr id="4" name="Freeform 4">
            <a:extLst>
              <a:ext uri="{FF2B5EF4-FFF2-40B4-BE49-F238E27FC236}">
                <a16:creationId xmlns:a16="http://schemas.microsoft.com/office/drawing/2014/main" id="{BD229B1A-E6C7-4D42-8029-26B571E52B3E}"/>
              </a:ext>
            </a:extLst>
          </p:cNvPr>
          <p:cNvSpPr>
            <a:spLocks noGrp="1"/>
          </p:cNvSpPr>
          <p:nvPr/>
        </p:nvSpPr>
        <p:spPr>
          <a:xfrm>
            <a:off x="12786872" y="4795243"/>
            <a:ext cx="5311506" cy="5294855"/>
          </a:xfrm>
          <a:custGeom>
            <a:avLst/>
            <a:gdLst/>
            <a:ahLst/>
            <a:cxnLst/>
            <a:rect l="l" t="t" r="r" b="b"/>
            <a:pathLst>
              <a:path w="5311506" h="5294855">
                <a:moveTo>
                  <a:pt x="0" y="0"/>
                </a:moveTo>
                <a:lnTo>
                  <a:pt x="5311506" y="0"/>
                </a:lnTo>
                <a:lnTo>
                  <a:pt x="5311506" y="5294855"/>
                </a:lnTo>
                <a:lnTo>
                  <a:pt x="0" y="5294855"/>
                </a:lnTo>
                <a:lnTo>
                  <a:pt x="0" y="0"/>
                </a:lnTo>
                <a:close/>
              </a:path>
            </a:pathLst>
          </a:custGeom>
          <a:blipFill>
            <a:blip r:embed="rId5"/>
            <a:stretch>
              <a:fillRect/>
            </a:stretch>
          </a:blipFill>
        </p:spPr>
        <p:txBody>
          <a:bodyPr/>
          <a:lstStyle/>
          <a:p>
            <a:endParaRPr lang="en-EC"/>
          </a:p>
        </p:txBody>
      </p:sp>
      <p:sp>
        <p:nvSpPr>
          <p:cNvPr id="5" name="TextBox 5">
            <a:extLst>
              <a:ext uri="{FF2B5EF4-FFF2-40B4-BE49-F238E27FC236}">
                <a16:creationId xmlns:a16="http://schemas.microsoft.com/office/drawing/2014/main" id="{A726101D-C465-4BA7-86FD-950033689BC3}"/>
              </a:ext>
            </a:extLst>
          </p:cNvPr>
          <p:cNvSpPr>
            <a:spLocks noGrp="1"/>
          </p:cNvSpPr>
          <p:nvPr/>
        </p:nvSpPr>
        <p:spPr>
          <a:xfrm>
            <a:off x="800795" y="466588"/>
            <a:ext cx="16957815" cy="1077924"/>
          </a:xfrm>
          <a:prstGeom prst="rect">
            <a:avLst/>
          </a:prstGeom>
        </p:spPr>
        <p:txBody>
          <a:bodyPr wrap="square" lIns="0" tIns="0" rIns="0" bIns="0" anchor="t">
            <a:spAutoFit/>
          </a:bodyPr>
          <a:lstStyle/>
          <a:p>
            <a:pPr algn="l">
              <a:lnSpc>
                <a:spcPts val="8260"/>
              </a:lnSpc>
              <a:buNone/>
            </a:pPr>
            <a:r>
              <a:rPr sz="8260" b="1" dirty="0">
                <a:solidFill>
                  <a:srgbClr val="1B1B1B"/>
                </a:solidFill>
                <a:latin typeface="Telegraf Medium"/>
                <a:ea typeface="Telegraf Medium"/>
                <a:cs typeface="Telegraf Medium"/>
              </a:rPr>
              <a:t>Limitations of Statistical Models</a:t>
            </a:r>
          </a:p>
        </p:txBody>
      </p:sp>
    </p:spTree>
    <p:extLst>
      <p:ext uri="{BB962C8B-B14F-4D97-AF65-F5344CB8AC3E}">
        <p14:creationId xmlns:p14="http://schemas.microsoft.com/office/powerpoint/2010/main" val="33534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470EAA0-28E1-4AE7-B957-3157D40F03DE}"/>
              </a:ext>
            </a:extLst>
          </p:cNvPr>
          <p:cNvSpPr>
            <a:spLocks noGrp="1"/>
          </p:cNvSpPr>
          <p:nvPr/>
        </p:nvSpPr>
        <p:spPr>
          <a:xfrm>
            <a:off x="9703922" y="2430785"/>
            <a:ext cx="7742919" cy="7366792"/>
          </a:xfrm>
          <a:custGeom>
            <a:avLst/>
            <a:gdLst/>
            <a:ahLst/>
            <a:cxnLst/>
            <a:rect l="l" t="t" r="r" b="b"/>
            <a:pathLst>
              <a:path w="2039287" h="1940225">
                <a:moveTo>
                  <a:pt x="29996" y="0"/>
                </a:moveTo>
                <a:lnTo>
                  <a:pt x="2009291" y="0"/>
                </a:lnTo>
                <a:cubicBezTo>
                  <a:pt x="2025857" y="0"/>
                  <a:pt x="2039287" y="13430"/>
                  <a:pt x="2039287" y="29996"/>
                </a:cubicBezTo>
                <a:lnTo>
                  <a:pt x="2039287" y="1910229"/>
                </a:lnTo>
                <a:cubicBezTo>
                  <a:pt x="2039287" y="1918184"/>
                  <a:pt x="2036127" y="1925814"/>
                  <a:pt x="2030501" y="1931439"/>
                </a:cubicBezTo>
                <a:cubicBezTo>
                  <a:pt x="2024876" y="1937065"/>
                  <a:pt x="2017246" y="1940225"/>
                  <a:pt x="2009291" y="1940225"/>
                </a:cubicBezTo>
                <a:lnTo>
                  <a:pt x="29996" y="1940225"/>
                </a:lnTo>
                <a:cubicBezTo>
                  <a:pt x="13430" y="1940225"/>
                  <a:pt x="0" y="1926795"/>
                  <a:pt x="0" y="1910229"/>
                </a:cubicBezTo>
                <a:lnTo>
                  <a:pt x="0" y="29996"/>
                </a:lnTo>
                <a:cubicBezTo>
                  <a:pt x="0" y="13430"/>
                  <a:pt x="13430" y="0"/>
                  <a:pt x="29996" y="0"/>
                </a:cubicBezTo>
                <a:close/>
              </a:path>
            </a:pathLst>
          </a:custGeom>
          <a:solidFill>
            <a:srgbClr val="FFFFFF"/>
          </a:solidFill>
          <a:ln w="19050">
            <a:solidFill>
              <a:srgbClr val="A6A6A6"/>
            </a:solidFill>
            <a:prstDash val="solid"/>
          </a:ln>
        </p:spPr>
        <p:txBody>
          <a:bodyPr/>
          <a:lstStyle/>
          <a:p>
            <a:endParaRPr lang="en-EC"/>
          </a:p>
        </p:txBody>
      </p:sp>
      <p:sp>
        <p:nvSpPr>
          <p:cNvPr id="4" name="TextBox 4">
            <a:extLst>
              <a:ext uri="{FF2B5EF4-FFF2-40B4-BE49-F238E27FC236}">
                <a16:creationId xmlns:a16="http://schemas.microsoft.com/office/drawing/2014/main" id="{9FFE9655-F026-41F9-8DDE-95336D9FD5DC}"/>
              </a:ext>
            </a:extLst>
          </p:cNvPr>
          <p:cNvSpPr>
            <a:spLocks noGrp="1"/>
          </p:cNvSpPr>
          <p:nvPr/>
        </p:nvSpPr>
        <p:spPr>
          <a:xfrm>
            <a:off x="9703922" y="2286125"/>
            <a:ext cx="7742919" cy="7511452"/>
          </a:xfrm>
          <a:prstGeom prst="rect">
            <a:avLst/>
          </a:prstGeom>
        </p:spPr>
        <p:txBody>
          <a:bodyPr lIns="50800" tIns="50800" rIns="50800" bIns="50800" anchor="ctr"/>
          <a:lstStyle/>
          <a:p>
            <a:pPr algn="ctr">
              <a:lnSpc>
                <a:spcPts val="2659"/>
              </a:lnSpc>
              <a:buNone/>
            </a:pPr>
            <a:endParaRPr/>
          </a:p>
        </p:txBody>
      </p:sp>
      <p:sp>
        <p:nvSpPr>
          <p:cNvPr id="5" name="Freeform 5">
            <a:extLst>
              <a:ext uri="{FF2B5EF4-FFF2-40B4-BE49-F238E27FC236}">
                <a16:creationId xmlns:a16="http://schemas.microsoft.com/office/drawing/2014/main" id="{AC4E4E56-8CDE-476C-9CFE-8AB8A462E0F5}"/>
              </a:ext>
            </a:extLst>
          </p:cNvPr>
          <p:cNvSpPr>
            <a:spLocks noGrp="1"/>
          </p:cNvSpPr>
          <p:nvPr/>
        </p:nvSpPr>
        <p:spPr>
          <a:xfrm>
            <a:off x="10011654" y="9236437"/>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6" name="Freeform 6">
            <a:extLst>
              <a:ext uri="{FF2B5EF4-FFF2-40B4-BE49-F238E27FC236}">
                <a16:creationId xmlns:a16="http://schemas.microsoft.com/office/drawing/2014/main" id="{A5C09606-C652-4D7F-A989-290881469537}"/>
              </a:ext>
            </a:extLst>
          </p:cNvPr>
          <p:cNvSpPr>
            <a:spLocks noGrp="1"/>
          </p:cNvSpPr>
          <p:nvPr/>
        </p:nvSpPr>
        <p:spPr>
          <a:xfrm flipH="1">
            <a:off x="16863635" y="9236437"/>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29A661D4-F1E9-4C50-9BAA-B77B2A19FB8D}"/>
              </a:ext>
            </a:extLst>
          </p:cNvPr>
          <p:cNvSpPr>
            <a:spLocks noGrp="1"/>
          </p:cNvSpPr>
          <p:nvPr/>
        </p:nvSpPr>
        <p:spPr>
          <a:xfrm flipV="1">
            <a:off x="10011654" y="2738371"/>
            <a:ext cx="222105" cy="172434"/>
          </a:xfrm>
          <a:custGeom>
            <a:avLst/>
            <a:gdLst/>
            <a:ahLst/>
            <a:cxnLst/>
            <a:rect l="l" t="t" r="r" b="b"/>
            <a:pathLst>
              <a:path w="222105" h="172434">
                <a:moveTo>
                  <a:pt x="0" y="172435"/>
                </a:moveTo>
                <a:lnTo>
                  <a:pt x="222105" y="172435"/>
                </a:lnTo>
                <a:lnTo>
                  <a:pt x="222105" y="0"/>
                </a:lnTo>
                <a:lnTo>
                  <a:pt x="0" y="0"/>
                </a:lnTo>
                <a:lnTo>
                  <a:pt x="0"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21D1D07E-3C6F-46DB-9709-C4D392186486}"/>
              </a:ext>
            </a:extLst>
          </p:cNvPr>
          <p:cNvSpPr>
            <a:spLocks noGrp="1"/>
          </p:cNvSpPr>
          <p:nvPr/>
        </p:nvSpPr>
        <p:spPr>
          <a:xfrm flipH="1" flipV="1">
            <a:off x="16863635" y="2738371"/>
            <a:ext cx="222105" cy="172434"/>
          </a:xfrm>
          <a:custGeom>
            <a:avLst/>
            <a:gdLst/>
            <a:ahLst/>
            <a:cxnLst/>
            <a:rect l="l" t="t" r="r" b="b"/>
            <a:pathLst>
              <a:path w="222105" h="172434">
                <a:moveTo>
                  <a:pt x="222105" y="172435"/>
                </a:moveTo>
                <a:lnTo>
                  <a:pt x="0" y="172435"/>
                </a:lnTo>
                <a:lnTo>
                  <a:pt x="0" y="0"/>
                </a:lnTo>
                <a:lnTo>
                  <a:pt x="222105" y="0"/>
                </a:lnTo>
                <a:lnTo>
                  <a:pt x="222105" y="172435"/>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Freeform 9">
            <a:hlinkClick r:id="rId4"/>
            <a:extLst>
              <a:ext uri="{FF2B5EF4-FFF2-40B4-BE49-F238E27FC236}">
                <a16:creationId xmlns:a16="http://schemas.microsoft.com/office/drawing/2014/main" id="{EF938525-C4FC-48AD-8336-A7D2B5EDE117}"/>
              </a:ext>
            </a:extLst>
          </p:cNvPr>
          <p:cNvSpPr>
            <a:spLocks noGrp="1"/>
          </p:cNvSpPr>
          <p:nvPr/>
        </p:nvSpPr>
        <p:spPr>
          <a:xfrm>
            <a:off x="16254415" y="1057067"/>
            <a:ext cx="831325" cy="831325"/>
          </a:xfrm>
          <a:custGeom>
            <a:avLst/>
            <a:gdLst/>
            <a:ahLst/>
            <a:cxnLst/>
            <a:rect l="l" t="t" r="r" b="b"/>
            <a:pathLst>
              <a:path w="831325" h="831325">
                <a:moveTo>
                  <a:pt x="0" y="0"/>
                </a:moveTo>
                <a:lnTo>
                  <a:pt x="831325" y="0"/>
                </a:lnTo>
                <a:lnTo>
                  <a:pt x="831325" y="831326"/>
                </a:lnTo>
                <a:lnTo>
                  <a:pt x="0" y="831326"/>
                </a:lnTo>
                <a:lnTo>
                  <a:pt x="0" y="0"/>
                </a:lnTo>
                <a:close/>
              </a:path>
            </a:pathLst>
          </a:custGeom>
          <a:blipFill>
            <a:blip r:embed="rId5"/>
            <a:stretch>
              <a:fillRect/>
            </a:stretch>
          </a:blipFill>
        </p:spPr>
        <p:txBody>
          <a:bodyPr/>
          <a:lstStyle/>
          <a:p>
            <a:endParaRPr lang="en-EC"/>
          </a:p>
        </p:txBody>
      </p:sp>
      <p:sp>
        <p:nvSpPr>
          <p:cNvPr id="10" name="Freeform 10">
            <a:extLst>
              <a:ext uri="{FF2B5EF4-FFF2-40B4-BE49-F238E27FC236}">
                <a16:creationId xmlns:a16="http://schemas.microsoft.com/office/drawing/2014/main" id="{EF68F3ED-9891-45E8-BD60-70716AC6B45A}"/>
              </a:ext>
            </a:extLst>
          </p:cNvPr>
          <p:cNvSpPr>
            <a:spLocks noGrp="1"/>
          </p:cNvSpPr>
          <p:nvPr/>
        </p:nvSpPr>
        <p:spPr>
          <a:xfrm>
            <a:off x="654024" y="3710186"/>
            <a:ext cx="8648621" cy="4421608"/>
          </a:xfrm>
          <a:custGeom>
            <a:avLst/>
            <a:gdLst/>
            <a:ahLst/>
            <a:cxnLst/>
            <a:rect l="l" t="t" r="r" b="b"/>
            <a:pathLst>
              <a:path w="8648621" h="4421608">
                <a:moveTo>
                  <a:pt x="0" y="0"/>
                </a:moveTo>
                <a:lnTo>
                  <a:pt x="8648621" y="0"/>
                </a:lnTo>
                <a:lnTo>
                  <a:pt x="8648621" y="4421608"/>
                </a:lnTo>
                <a:lnTo>
                  <a:pt x="0" y="4421608"/>
                </a:lnTo>
                <a:lnTo>
                  <a:pt x="0" y="0"/>
                </a:lnTo>
                <a:close/>
              </a:path>
            </a:pathLst>
          </a:custGeom>
          <a:blipFill>
            <a:blip r:embed="rId6"/>
            <a:stretch>
              <a:fillRect/>
            </a:stretch>
          </a:blipFill>
        </p:spPr>
        <p:txBody>
          <a:bodyPr/>
          <a:lstStyle/>
          <a:p>
            <a:endParaRPr lang="en-EC"/>
          </a:p>
        </p:txBody>
      </p:sp>
      <p:sp>
        <p:nvSpPr>
          <p:cNvPr id="11" name="TextBox 11">
            <a:extLst>
              <a:ext uri="{FF2B5EF4-FFF2-40B4-BE49-F238E27FC236}">
                <a16:creationId xmlns:a16="http://schemas.microsoft.com/office/drawing/2014/main" id="{1C1C82B2-ABB7-4A5B-9BFA-C6D8DAF453B7}"/>
              </a:ext>
            </a:extLst>
          </p:cNvPr>
          <p:cNvSpPr>
            <a:spLocks noGrp="1"/>
          </p:cNvSpPr>
          <p:nvPr/>
        </p:nvSpPr>
        <p:spPr>
          <a:xfrm>
            <a:off x="654024" y="738699"/>
            <a:ext cx="11467138" cy="1572837"/>
          </a:xfrm>
          <a:prstGeom prst="rect">
            <a:avLst/>
          </a:prstGeom>
        </p:spPr>
        <p:txBody>
          <a:bodyPr lIns="0" tIns="0" rIns="0" bIns="0" anchor="t">
            <a:spAutoFit/>
          </a:bodyPr>
          <a:lstStyle/>
          <a:p>
            <a:pPr algn="l">
              <a:lnSpc>
                <a:spcPts val="11061"/>
              </a:lnSpc>
              <a:buNone/>
            </a:pPr>
            <a:r>
              <a:rPr sz="11061" b="1">
                <a:solidFill>
                  <a:srgbClr val="1B1B1B"/>
                </a:solidFill>
                <a:latin typeface="Telegraf Medium"/>
                <a:ea typeface="Telegraf Medium"/>
                <a:cs typeface="Telegraf Medium"/>
              </a:rPr>
              <a:t>Causal Models</a:t>
            </a:r>
          </a:p>
        </p:txBody>
      </p:sp>
      <p:sp>
        <p:nvSpPr>
          <p:cNvPr id="12" name="TextBox 12">
            <a:extLst>
              <a:ext uri="{FF2B5EF4-FFF2-40B4-BE49-F238E27FC236}">
                <a16:creationId xmlns:a16="http://schemas.microsoft.com/office/drawing/2014/main" id="{5CCA5339-FC43-42C1-BAA5-774EE5C51F37}"/>
              </a:ext>
            </a:extLst>
          </p:cNvPr>
          <p:cNvSpPr>
            <a:spLocks noGrp="1"/>
          </p:cNvSpPr>
          <p:nvPr/>
        </p:nvSpPr>
        <p:spPr>
          <a:xfrm>
            <a:off x="10233759" y="2853656"/>
            <a:ext cx="6851982" cy="6724968"/>
          </a:xfrm>
          <a:prstGeom prst="rect">
            <a:avLst/>
          </a:prstGeom>
        </p:spPr>
        <p:txBody>
          <a:bodyPr lIns="0" tIns="0" rIns="0" bIns="0" anchor="t">
            <a:spAutoFit/>
          </a:bodyPr>
          <a:lstStyle/>
          <a:p>
            <a:pPr>
              <a:lnSpc>
                <a:spcPts val="3919"/>
              </a:lnSpc>
              <a:buNone/>
            </a:pPr>
            <a:r>
              <a:rPr sz="2799">
                <a:solidFill>
                  <a:srgbClr val="1B1B1B"/>
                </a:solidFill>
                <a:latin typeface="Helvetica World"/>
                <a:ea typeface="Helvetica World"/>
                <a:cs typeface="Helvetica World"/>
              </a:rPr>
              <a:t>The idea of causality between two phenomena (A and B) is to determine:</a:t>
            </a:r>
          </a:p>
          <a:p>
            <a:pPr marL="604519" indent="-302260">
              <a:lnSpc>
                <a:spcPts val="3919"/>
              </a:lnSpc>
              <a:buFont typeface="Arial"/>
              <a:buChar char="•"/>
            </a:pPr>
            <a:r>
              <a:rPr sz="2799" b="1">
                <a:solidFill>
                  <a:srgbClr val="1B1B1B"/>
                </a:solidFill>
                <a:latin typeface="Helvetica World Bold"/>
                <a:ea typeface="Helvetica World Bold"/>
                <a:cs typeface="Helvetica World Bold"/>
              </a:rPr>
              <a:t>Whether A is the cause and B is the effect.</a:t>
            </a:r>
          </a:p>
          <a:p>
            <a:pPr marL="604519" indent="-302260">
              <a:lnSpc>
                <a:spcPts val="3919"/>
              </a:lnSpc>
              <a:buFont typeface="Arial"/>
              <a:buChar char="•"/>
            </a:pPr>
            <a:r>
              <a:rPr sz="2799" b="1">
                <a:solidFill>
                  <a:srgbClr val="1B1B1B"/>
                </a:solidFill>
                <a:latin typeface="Helvetica World Bold"/>
                <a:ea typeface="Helvetica World Bold"/>
                <a:cs typeface="Helvetica World Bold"/>
              </a:rPr>
              <a:t>Whether B is the cause and A is the effect.</a:t>
            </a:r>
          </a:p>
          <a:p>
            <a:pPr marL="604519" indent="-302260">
              <a:lnSpc>
                <a:spcPts val="3919"/>
              </a:lnSpc>
              <a:buFont typeface="Arial"/>
              <a:buChar char="•"/>
            </a:pPr>
            <a:r>
              <a:rPr sz="2799" b="1">
                <a:solidFill>
                  <a:srgbClr val="1B1B1B"/>
                </a:solidFill>
                <a:latin typeface="Helvetica World Bold"/>
                <a:ea typeface="Helvetica World Bold"/>
                <a:cs typeface="Helvetica World Bold"/>
              </a:rPr>
              <a:t>But not both at the same time.</a:t>
            </a:r>
          </a:p>
          <a:p>
            <a:pPr>
              <a:lnSpc>
                <a:spcPts val="3919"/>
              </a:lnSpc>
              <a:buNone/>
            </a:pPr>
            <a:r>
              <a:rPr sz="2799">
                <a:solidFill>
                  <a:srgbClr val="1B1B1B"/>
                </a:solidFill>
                <a:latin typeface="Helvetica World"/>
                <a:ea typeface="Helvetica World"/>
                <a:cs typeface="Helvetica World"/>
              </a:rPr>
              <a:t>One theory that promises to connect with ML, and therefore with artificial intelligence, is the Causal Calculus proposed by Judea Pearl (1987). It encodes cause-and-effect relationships among phenomena or events in a Directed Acyclic Graph.</a:t>
            </a:r>
          </a:p>
          <a:p>
            <a:pPr algn="l">
              <a:lnSpc>
                <a:spcPts val="3919"/>
              </a:lnSpc>
              <a:buNone/>
            </a:pPr>
            <a:endParaRPr sz="2799">
              <a:solidFill>
                <a:srgbClr val="1B1B1B"/>
              </a:solidFill>
              <a:latin typeface="Helvetica World"/>
              <a:ea typeface="Helvetica World"/>
              <a:cs typeface="Helvetica World"/>
            </a:endParaRPr>
          </a:p>
        </p:txBody>
      </p:sp>
    </p:spTree>
    <p:extLst>
      <p:ext uri="{BB962C8B-B14F-4D97-AF65-F5344CB8AC3E}">
        <p14:creationId xmlns:p14="http://schemas.microsoft.com/office/powerpoint/2010/main" val="1813526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25106490-3AFF-4291-A5EC-A73DCAC50D56}"/>
              </a:ext>
            </a:extLst>
          </p:cNvPr>
          <p:cNvSpPr>
            <a:spLocks noGrp="1"/>
          </p:cNvSpPr>
          <p:nvPr/>
        </p:nvSpPr>
        <p:spPr>
          <a:xfrm>
            <a:off x="1526459" y="1770217"/>
            <a:ext cx="6123923" cy="6225081"/>
          </a:xfrm>
          <a:custGeom>
            <a:avLst/>
            <a:gdLst/>
            <a:ahLst/>
            <a:cxnLst/>
            <a:rect l="l" t="t" r="r" b="b"/>
            <a:pathLst>
              <a:path w="6123923" h="6225081">
                <a:moveTo>
                  <a:pt x="0" y="0"/>
                </a:moveTo>
                <a:lnTo>
                  <a:pt x="6123923" y="0"/>
                </a:lnTo>
                <a:lnTo>
                  <a:pt x="6123923" y="6225081"/>
                </a:lnTo>
                <a:lnTo>
                  <a:pt x="0" y="6225081"/>
                </a:lnTo>
                <a:lnTo>
                  <a:pt x="0" y="0"/>
                </a:lnTo>
                <a:close/>
              </a:path>
            </a:pathLst>
          </a:custGeom>
          <a:blipFill>
            <a:blip r:embed="rId3"/>
            <a:stretch>
              <a:fillRect/>
            </a:stretch>
          </a:blipFill>
        </p:spPr>
        <p:txBody>
          <a:bodyPr/>
          <a:lstStyle/>
          <a:p>
            <a:endParaRPr lang="en-EC"/>
          </a:p>
        </p:txBody>
      </p:sp>
      <p:sp>
        <p:nvSpPr>
          <p:cNvPr id="3" name="Freeform 3">
            <a:extLst>
              <a:ext uri="{FF2B5EF4-FFF2-40B4-BE49-F238E27FC236}">
                <a16:creationId xmlns:a16="http://schemas.microsoft.com/office/drawing/2014/main" id="{66CD5614-8C8B-4E7B-A559-F07821378B79}"/>
              </a:ext>
            </a:extLst>
          </p:cNvPr>
          <p:cNvSpPr>
            <a:spLocks noGrp="1"/>
          </p:cNvSpPr>
          <p:nvPr/>
        </p:nvSpPr>
        <p:spPr>
          <a:xfrm>
            <a:off x="8376989" y="3863537"/>
            <a:ext cx="5081396" cy="5999956"/>
          </a:xfrm>
          <a:custGeom>
            <a:avLst/>
            <a:gdLst/>
            <a:ahLst/>
            <a:cxnLst/>
            <a:rect l="l" t="t" r="r" b="b"/>
            <a:pathLst>
              <a:path w="5081396" h="5999956">
                <a:moveTo>
                  <a:pt x="0" y="0"/>
                </a:moveTo>
                <a:lnTo>
                  <a:pt x="5081396" y="0"/>
                </a:lnTo>
                <a:lnTo>
                  <a:pt x="5081396" y="5999956"/>
                </a:lnTo>
                <a:lnTo>
                  <a:pt x="0" y="5999956"/>
                </a:lnTo>
                <a:lnTo>
                  <a:pt x="0" y="0"/>
                </a:lnTo>
                <a:close/>
              </a:path>
            </a:pathLst>
          </a:custGeom>
          <a:blipFill>
            <a:blip r:embed="rId4"/>
            <a:stretch>
              <a:fillRect/>
            </a:stretch>
          </a:blipFill>
        </p:spPr>
        <p:txBody>
          <a:bodyPr/>
          <a:lstStyle/>
          <a:p>
            <a:endParaRPr lang="en-EC"/>
          </a:p>
        </p:txBody>
      </p:sp>
      <p:sp>
        <p:nvSpPr>
          <p:cNvPr id="4" name="Freeform 4">
            <a:extLst>
              <a:ext uri="{FF2B5EF4-FFF2-40B4-BE49-F238E27FC236}">
                <a16:creationId xmlns:a16="http://schemas.microsoft.com/office/drawing/2014/main" id="{841F9F7C-ECAF-4019-A6B4-C93DA94FA210}"/>
              </a:ext>
            </a:extLst>
          </p:cNvPr>
          <p:cNvSpPr>
            <a:spLocks noGrp="1"/>
          </p:cNvSpPr>
          <p:nvPr/>
        </p:nvSpPr>
        <p:spPr>
          <a:xfrm>
            <a:off x="8376989" y="383423"/>
            <a:ext cx="7702511" cy="3177286"/>
          </a:xfrm>
          <a:custGeom>
            <a:avLst/>
            <a:gdLst/>
            <a:ahLst/>
            <a:cxnLst/>
            <a:rect l="l" t="t" r="r" b="b"/>
            <a:pathLst>
              <a:path w="7702511" h="3177286">
                <a:moveTo>
                  <a:pt x="0" y="0"/>
                </a:moveTo>
                <a:lnTo>
                  <a:pt x="7702511" y="0"/>
                </a:lnTo>
                <a:lnTo>
                  <a:pt x="7702511" y="3177285"/>
                </a:lnTo>
                <a:lnTo>
                  <a:pt x="0" y="3177285"/>
                </a:lnTo>
                <a:lnTo>
                  <a:pt x="0" y="0"/>
                </a:lnTo>
                <a:close/>
              </a:path>
            </a:pathLst>
          </a:custGeom>
          <a:blipFill>
            <a:blip r:embed="rId5"/>
            <a:stretch>
              <a:fillRect/>
            </a:stretch>
          </a:blipFill>
        </p:spPr>
        <p:txBody>
          <a:bodyPr/>
          <a:lstStyle/>
          <a:p>
            <a:endParaRPr lang="en-EC"/>
          </a:p>
        </p:txBody>
      </p:sp>
    </p:spTree>
    <p:extLst>
      <p:ext uri="{BB962C8B-B14F-4D97-AF65-F5344CB8AC3E}">
        <p14:creationId xmlns:p14="http://schemas.microsoft.com/office/powerpoint/2010/main" val="174220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58B614EC-C13A-451C-B34A-7369873C372C}"/>
              </a:ext>
            </a:extLst>
          </p:cNvPr>
          <p:cNvSpPr>
            <a:spLocks noGrp="1"/>
          </p:cNvSpPr>
          <p:nvPr/>
        </p:nvSpPr>
        <p:spPr>
          <a:xfrm>
            <a:off x="578691" y="1424910"/>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4" name="Freeform 4">
            <a:extLst>
              <a:ext uri="{FF2B5EF4-FFF2-40B4-BE49-F238E27FC236}">
                <a16:creationId xmlns:a16="http://schemas.microsoft.com/office/drawing/2014/main" id="{DF409498-A72B-4969-B4EF-D4B5D522CD22}"/>
              </a:ext>
            </a:extLst>
          </p:cNvPr>
          <p:cNvSpPr>
            <a:spLocks noGrp="1"/>
          </p:cNvSpPr>
          <p:nvPr/>
        </p:nvSpPr>
        <p:spPr>
          <a:xfrm>
            <a:off x="7340554" y="3255470"/>
            <a:ext cx="8651887" cy="6249989"/>
          </a:xfrm>
          <a:custGeom>
            <a:avLst/>
            <a:gdLst/>
            <a:ahLst/>
            <a:cxnLst/>
            <a:rect l="l" t="t" r="r" b="b"/>
            <a:pathLst>
              <a:path w="2278686" h="1646088">
                <a:moveTo>
                  <a:pt x="26845" y="0"/>
                </a:moveTo>
                <a:lnTo>
                  <a:pt x="2251841" y="0"/>
                </a:lnTo>
                <a:cubicBezTo>
                  <a:pt x="2266667" y="0"/>
                  <a:pt x="2278686" y="12019"/>
                  <a:pt x="2278686" y="26845"/>
                </a:cubicBezTo>
                <a:lnTo>
                  <a:pt x="2278686" y="1619243"/>
                </a:lnTo>
                <a:cubicBezTo>
                  <a:pt x="2278686" y="1626363"/>
                  <a:pt x="2275858" y="1633191"/>
                  <a:pt x="2270823" y="1638225"/>
                </a:cubicBezTo>
                <a:cubicBezTo>
                  <a:pt x="2265789" y="1643259"/>
                  <a:pt x="2258961" y="1646088"/>
                  <a:pt x="2251841" y="1646088"/>
                </a:cubicBezTo>
                <a:lnTo>
                  <a:pt x="26845" y="1646088"/>
                </a:lnTo>
                <a:cubicBezTo>
                  <a:pt x="12019" y="1646088"/>
                  <a:pt x="0" y="1634069"/>
                  <a:pt x="0" y="1619243"/>
                </a:cubicBezTo>
                <a:lnTo>
                  <a:pt x="0" y="26845"/>
                </a:lnTo>
                <a:cubicBezTo>
                  <a:pt x="0" y="12019"/>
                  <a:pt x="12019" y="0"/>
                  <a:pt x="26845" y="0"/>
                </a:cubicBezTo>
                <a:close/>
              </a:path>
            </a:pathLst>
          </a:custGeom>
          <a:solidFill>
            <a:srgbClr val="FFFFFF"/>
          </a:solidFill>
          <a:ln w="19050">
            <a:solidFill>
              <a:srgbClr val="A6A6A6"/>
            </a:solidFill>
            <a:prstDash val="solid"/>
          </a:ln>
        </p:spPr>
        <p:txBody>
          <a:bodyPr/>
          <a:lstStyle/>
          <a:p>
            <a:endParaRPr lang="en-EC"/>
          </a:p>
        </p:txBody>
      </p:sp>
      <p:sp>
        <p:nvSpPr>
          <p:cNvPr id="5" name="TextBox 5">
            <a:extLst>
              <a:ext uri="{FF2B5EF4-FFF2-40B4-BE49-F238E27FC236}">
                <a16:creationId xmlns:a16="http://schemas.microsoft.com/office/drawing/2014/main" id="{9DC6626D-5EDC-47FE-92C6-546EA74B7259}"/>
              </a:ext>
            </a:extLst>
          </p:cNvPr>
          <p:cNvSpPr>
            <a:spLocks noGrp="1"/>
          </p:cNvSpPr>
          <p:nvPr/>
        </p:nvSpPr>
        <p:spPr>
          <a:xfrm>
            <a:off x="7340554" y="3110810"/>
            <a:ext cx="8651887" cy="6394649"/>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B8B22731-0D52-4EED-BF1D-16BDA6667C26}"/>
              </a:ext>
            </a:extLst>
          </p:cNvPr>
          <p:cNvSpPr>
            <a:spLocks noGrp="1"/>
          </p:cNvSpPr>
          <p:nvPr/>
        </p:nvSpPr>
        <p:spPr>
          <a:xfrm flipV="1">
            <a:off x="578692" y="473599"/>
            <a:ext cx="222105" cy="172434"/>
          </a:xfrm>
          <a:custGeom>
            <a:avLst/>
            <a:gdLst/>
            <a:ahLst/>
            <a:cxnLst/>
            <a:rect l="l" t="t" r="r" b="b"/>
            <a:pathLst>
              <a:path w="222105" h="172434">
                <a:moveTo>
                  <a:pt x="0" y="172434"/>
                </a:moveTo>
                <a:lnTo>
                  <a:pt x="222104" y="172434"/>
                </a:lnTo>
                <a:lnTo>
                  <a:pt x="222104" y="0"/>
                </a:lnTo>
                <a:lnTo>
                  <a:pt x="0" y="0"/>
                </a:lnTo>
                <a:lnTo>
                  <a:pt x="0"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6E05A9DD-B20C-4F24-A8DE-86B0BEB8775B}"/>
              </a:ext>
            </a:extLst>
          </p:cNvPr>
          <p:cNvSpPr>
            <a:spLocks noGrp="1"/>
          </p:cNvSpPr>
          <p:nvPr/>
        </p:nvSpPr>
        <p:spPr>
          <a:xfrm flipH="1">
            <a:off x="4202454" y="1443184"/>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A19C2B3C-A730-4D56-B772-75EC627BC6EF}"/>
              </a:ext>
            </a:extLst>
          </p:cNvPr>
          <p:cNvSpPr>
            <a:spLocks noGrp="1"/>
          </p:cNvSpPr>
          <p:nvPr/>
        </p:nvSpPr>
        <p:spPr>
          <a:xfrm flipH="1" flipV="1">
            <a:off x="4202454" y="492278"/>
            <a:ext cx="222105" cy="172434"/>
          </a:xfrm>
          <a:custGeom>
            <a:avLst/>
            <a:gdLst/>
            <a:ahLst/>
            <a:cxnLst/>
            <a:rect l="l" t="t" r="r" b="b"/>
            <a:pathLst>
              <a:path w="222105" h="172434">
                <a:moveTo>
                  <a:pt x="222105" y="172434"/>
                </a:moveTo>
                <a:lnTo>
                  <a:pt x="0" y="172434"/>
                </a:lnTo>
                <a:lnTo>
                  <a:pt x="0" y="0"/>
                </a:lnTo>
                <a:lnTo>
                  <a:pt x="222105" y="0"/>
                </a:lnTo>
                <a:lnTo>
                  <a:pt x="222105"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Freeform 9">
            <a:extLst>
              <a:ext uri="{FF2B5EF4-FFF2-40B4-BE49-F238E27FC236}">
                <a16:creationId xmlns:a16="http://schemas.microsoft.com/office/drawing/2014/main" id="{C38BCA0E-30FF-41B4-BB6F-563946A75F32}"/>
              </a:ext>
            </a:extLst>
          </p:cNvPr>
          <p:cNvSpPr>
            <a:spLocks noGrp="1"/>
          </p:cNvSpPr>
          <p:nvPr/>
        </p:nvSpPr>
        <p:spPr>
          <a:xfrm>
            <a:off x="800796" y="2345801"/>
            <a:ext cx="3917598" cy="3482309"/>
          </a:xfrm>
          <a:custGeom>
            <a:avLst/>
            <a:gdLst/>
            <a:ahLst/>
            <a:cxnLst/>
            <a:rect l="l" t="t" r="r" b="b"/>
            <a:pathLst>
              <a:path w="3917598" h="3482309">
                <a:moveTo>
                  <a:pt x="0" y="0"/>
                </a:moveTo>
                <a:lnTo>
                  <a:pt x="3917599" y="0"/>
                </a:lnTo>
                <a:lnTo>
                  <a:pt x="3917599" y="3482310"/>
                </a:lnTo>
                <a:lnTo>
                  <a:pt x="0" y="3482310"/>
                </a:lnTo>
                <a:lnTo>
                  <a:pt x="0" y="0"/>
                </a:lnTo>
                <a:close/>
              </a:path>
            </a:pathLst>
          </a:custGeom>
          <a:blipFill>
            <a:blip r:embed="rId4"/>
            <a:stretch>
              <a:fillRect/>
            </a:stretch>
          </a:blipFill>
        </p:spPr>
        <p:txBody>
          <a:bodyPr/>
          <a:lstStyle/>
          <a:p>
            <a:endParaRPr lang="en-EC"/>
          </a:p>
        </p:txBody>
      </p:sp>
      <p:sp>
        <p:nvSpPr>
          <p:cNvPr id="10" name="Freeform 10">
            <a:extLst>
              <a:ext uri="{FF2B5EF4-FFF2-40B4-BE49-F238E27FC236}">
                <a16:creationId xmlns:a16="http://schemas.microsoft.com/office/drawing/2014/main" id="{5F63F511-6D0D-4B2F-8E4C-198E508D3D7B}"/>
              </a:ext>
            </a:extLst>
          </p:cNvPr>
          <p:cNvSpPr>
            <a:spLocks noGrp="1"/>
          </p:cNvSpPr>
          <p:nvPr/>
        </p:nvSpPr>
        <p:spPr>
          <a:xfrm>
            <a:off x="1745314" y="6113274"/>
            <a:ext cx="3707553" cy="3836511"/>
          </a:xfrm>
          <a:custGeom>
            <a:avLst/>
            <a:gdLst/>
            <a:ahLst/>
            <a:cxnLst/>
            <a:rect l="l" t="t" r="r" b="b"/>
            <a:pathLst>
              <a:path w="3707553" h="3836511">
                <a:moveTo>
                  <a:pt x="0" y="0"/>
                </a:moveTo>
                <a:lnTo>
                  <a:pt x="3707553" y="0"/>
                </a:lnTo>
                <a:lnTo>
                  <a:pt x="3707553" y="3836511"/>
                </a:lnTo>
                <a:lnTo>
                  <a:pt x="0" y="3836511"/>
                </a:lnTo>
                <a:lnTo>
                  <a:pt x="0" y="0"/>
                </a:lnTo>
                <a:close/>
              </a:path>
            </a:pathLst>
          </a:custGeom>
          <a:blipFill>
            <a:blip r:embed="rId5"/>
            <a:stretch>
              <a:fillRect/>
            </a:stretch>
          </a:blipFill>
        </p:spPr>
        <p:txBody>
          <a:bodyPr/>
          <a:lstStyle/>
          <a:p>
            <a:endParaRPr lang="en-EC"/>
          </a:p>
        </p:txBody>
      </p:sp>
      <p:sp>
        <p:nvSpPr>
          <p:cNvPr id="11" name="TextBox 11">
            <a:extLst>
              <a:ext uri="{FF2B5EF4-FFF2-40B4-BE49-F238E27FC236}">
                <a16:creationId xmlns:a16="http://schemas.microsoft.com/office/drawing/2014/main" id="{7420812F-03D0-45EE-8CB7-5F835D5A2390}"/>
              </a:ext>
            </a:extLst>
          </p:cNvPr>
          <p:cNvSpPr>
            <a:spLocks noGrp="1"/>
          </p:cNvSpPr>
          <p:nvPr/>
        </p:nvSpPr>
        <p:spPr>
          <a:xfrm>
            <a:off x="6073695" y="626491"/>
            <a:ext cx="11185605" cy="2238649"/>
          </a:xfrm>
          <a:prstGeom prst="rect">
            <a:avLst/>
          </a:prstGeom>
        </p:spPr>
        <p:txBody>
          <a:bodyPr lIns="0" tIns="0" rIns="0" bIns="0" anchor="t">
            <a:spAutoFit/>
          </a:bodyPr>
          <a:lstStyle/>
          <a:p>
            <a:pPr algn="l">
              <a:lnSpc>
                <a:spcPts val="8260"/>
              </a:lnSpc>
              <a:buNone/>
            </a:pPr>
            <a:r>
              <a:rPr sz="8260" b="1">
                <a:solidFill>
                  <a:srgbClr val="1B1B1B"/>
                </a:solidFill>
                <a:latin typeface="Telegraf Medium"/>
                <a:ea typeface="Telegraf Medium"/>
                <a:cs typeface="Telegraf Medium"/>
              </a:rPr>
              <a:t>Discovery and Study of a Shipwreck</a:t>
            </a:r>
          </a:p>
        </p:txBody>
      </p:sp>
      <p:sp>
        <p:nvSpPr>
          <p:cNvPr id="12" name="TextBox 12">
            <a:extLst>
              <a:ext uri="{FF2B5EF4-FFF2-40B4-BE49-F238E27FC236}">
                <a16:creationId xmlns:a16="http://schemas.microsoft.com/office/drawing/2014/main" id="{62818D2C-C7D3-4863-B298-4428BD605042}"/>
              </a:ext>
            </a:extLst>
          </p:cNvPr>
          <p:cNvSpPr>
            <a:spLocks noGrp="1"/>
          </p:cNvSpPr>
          <p:nvPr/>
        </p:nvSpPr>
        <p:spPr>
          <a:xfrm>
            <a:off x="7720260" y="3702209"/>
            <a:ext cx="7965261" cy="5932170"/>
          </a:xfrm>
          <a:prstGeom prst="rect">
            <a:avLst/>
          </a:prstGeom>
        </p:spPr>
        <p:txBody>
          <a:bodyPr lIns="0" tIns="0" rIns="0" bIns="0" anchor="t">
            <a:spAutoFit/>
          </a:bodyPr>
          <a:lstStyle/>
          <a:p>
            <a:pPr>
              <a:lnSpc>
                <a:spcPts val="3827"/>
              </a:lnSpc>
              <a:buNone/>
            </a:pPr>
            <a:r>
              <a:rPr sz="2899">
                <a:solidFill>
                  <a:srgbClr val="1B1B1B"/>
                </a:solidFill>
                <a:latin typeface="Helvetica World"/>
                <a:ea typeface="Helvetica World"/>
                <a:cs typeface="Helvetica World"/>
              </a:rPr>
              <a:t>In 1900, a group of divers recovered artifacts from an ancient shipwreck near the Greek island of Antikythera.</a:t>
            </a:r>
          </a:p>
          <a:p>
            <a:pPr>
              <a:lnSpc>
                <a:spcPts val="3827"/>
              </a:lnSpc>
              <a:buNone/>
            </a:pPr>
            <a:r>
              <a:rPr sz="2899">
                <a:solidFill>
                  <a:srgbClr val="1B1B1B"/>
                </a:solidFill>
                <a:latin typeface="Helvetica World"/>
                <a:ea typeface="Helvetica World"/>
                <a:cs typeface="Helvetica World"/>
              </a:rPr>
              <a:t>In 1902, Greek archaeologists examined the artifacts and discovered a gear embedded in a rock. They dismissed it because the mechanism seemed too advanced for the period.</a:t>
            </a:r>
          </a:p>
          <a:p>
            <a:pPr>
              <a:lnSpc>
                <a:spcPts val="3827"/>
              </a:lnSpc>
              <a:buNone/>
            </a:pPr>
            <a:r>
              <a:rPr sz="2899">
                <a:solidFill>
                  <a:srgbClr val="1B1B1B"/>
                </a:solidFill>
                <a:latin typeface="Helvetica World"/>
                <a:ea typeface="Helvetica World"/>
                <a:cs typeface="Helvetica World"/>
              </a:rPr>
              <a:t>In 1951, and again in 1971, its study resumed. After 82 fragments were analyzed with X-rays and gamma rays, researchers began studying this mechanism from approximately 200 BC.</a:t>
            </a:r>
          </a:p>
          <a:p>
            <a:pPr>
              <a:lnSpc>
                <a:spcPts val="4751"/>
              </a:lnSpc>
              <a:buNone/>
            </a:pPr>
            <a:endParaRPr sz="2899">
              <a:solidFill>
                <a:srgbClr val="1B1B1B"/>
              </a:solidFill>
              <a:latin typeface="Helvetica World"/>
              <a:ea typeface="Helvetica World"/>
              <a:cs typeface="Helvetica World"/>
            </a:endParaRPr>
          </a:p>
        </p:txBody>
      </p:sp>
      <p:sp>
        <p:nvSpPr>
          <p:cNvPr id="13" name="TextBox 13">
            <a:extLst>
              <a:ext uri="{FF2B5EF4-FFF2-40B4-BE49-F238E27FC236}">
                <a16:creationId xmlns:a16="http://schemas.microsoft.com/office/drawing/2014/main" id="{CC48869C-F976-45E5-AF7D-1A8642F00EC0}"/>
              </a:ext>
            </a:extLst>
          </p:cNvPr>
          <p:cNvSpPr>
            <a:spLocks noGrp="1"/>
          </p:cNvSpPr>
          <p:nvPr/>
        </p:nvSpPr>
        <p:spPr>
          <a:xfrm>
            <a:off x="788070" y="690650"/>
            <a:ext cx="3689694" cy="650178"/>
          </a:xfrm>
          <a:prstGeom prst="rect">
            <a:avLst/>
          </a:prstGeom>
        </p:spPr>
        <p:txBody>
          <a:bodyPr wrap="square" lIns="0" tIns="0" rIns="0" bIns="0" anchor="t">
            <a:spAutoFit/>
          </a:bodyPr>
          <a:lstStyle/>
          <a:p>
            <a:pPr algn="l">
              <a:lnSpc>
                <a:spcPts val="5000"/>
              </a:lnSpc>
              <a:buNone/>
            </a:pPr>
            <a:r>
              <a:rPr sz="5000" b="1" dirty="0">
                <a:solidFill>
                  <a:srgbClr val="1B1B1B"/>
                </a:solidFill>
                <a:latin typeface="Telegraf Medium"/>
                <a:ea typeface="Telegraf Medium"/>
                <a:cs typeface="Telegraf Medium"/>
              </a:rPr>
              <a:t>1970-1974</a:t>
            </a:r>
          </a:p>
        </p:txBody>
      </p:sp>
    </p:spTree>
    <p:extLst>
      <p:ext uri="{BB962C8B-B14F-4D97-AF65-F5344CB8AC3E}">
        <p14:creationId xmlns:p14="http://schemas.microsoft.com/office/powerpoint/2010/main" val="506674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D426BDD-72C7-4F33-82F5-258936CA5EA0}"/>
              </a:ext>
            </a:extLst>
          </p:cNvPr>
          <p:cNvSpPr>
            <a:spLocks noGrp="1"/>
          </p:cNvSpPr>
          <p:nvPr/>
        </p:nvSpPr>
        <p:spPr>
          <a:xfrm>
            <a:off x="1745314" y="1411367"/>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4" name="Freeform 4">
            <a:extLst>
              <a:ext uri="{FF2B5EF4-FFF2-40B4-BE49-F238E27FC236}">
                <a16:creationId xmlns:a16="http://schemas.microsoft.com/office/drawing/2014/main" id="{22E8C74B-E74A-49EE-A1EE-908375344AD5}"/>
              </a:ext>
            </a:extLst>
          </p:cNvPr>
          <p:cNvSpPr>
            <a:spLocks noGrp="1"/>
          </p:cNvSpPr>
          <p:nvPr/>
        </p:nvSpPr>
        <p:spPr>
          <a:xfrm>
            <a:off x="8352233" y="2092155"/>
            <a:ext cx="8685930" cy="5333733"/>
          </a:xfrm>
          <a:custGeom>
            <a:avLst/>
            <a:gdLst/>
            <a:ahLst/>
            <a:cxnLst/>
            <a:rect l="l" t="t" r="r" b="b"/>
            <a:pathLst>
              <a:path w="2287652" h="1404769">
                <a:moveTo>
                  <a:pt x="26740" y="0"/>
                </a:moveTo>
                <a:lnTo>
                  <a:pt x="2260913" y="0"/>
                </a:lnTo>
                <a:cubicBezTo>
                  <a:pt x="2268004" y="0"/>
                  <a:pt x="2274806" y="2817"/>
                  <a:pt x="2279820" y="7832"/>
                </a:cubicBezTo>
                <a:cubicBezTo>
                  <a:pt x="2284835" y="12846"/>
                  <a:pt x="2287652" y="19648"/>
                  <a:pt x="2287652" y="26740"/>
                </a:cubicBezTo>
                <a:lnTo>
                  <a:pt x="2287652" y="1378029"/>
                </a:lnTo>
                <a:cubicBezTo>
                  <a:pt x="2287652" y="1385121"/>
                  <a:pt x="2284835" y="1391922"/>
                  <a:pt x="2279820" y="1396937"/>
                </a:cubicBezTo>
                <a:cubicBezTo>
                  <a:pt x="2274806" y="1401951"/>
                  <a:pt x="2268004" y="1404769"/>
                  <a:pt x="2260913" y="1404769"/>
                </a:cubicBezTo>
                <a:lnTo>
                  <a:pt x="26740" y="1404769"/>
                </a:lnTo>
                <a:cubicBezTo>
                  <a:pt x="19648" y="1404769"/>
                  <a:pt x="12846" y="1401951"/>
                  <a:pt x="7832" y="1396937"/>
                </a:cubicBezTo>
                <a:cubicBezTo>
                  <a:pt x="2817" y="1391922"/>
                  <a:pt x="0" y="1385121"/>
                  <a:pt x="0" y="1378029"/>
                </a:cubicBezTo>
                <a:lnTo>
                  <a:pt x="0" y="26740"/>
                </a:lnTo>
                <a:cubicBezTo>
                  <a:pt x="0" y="19648"/>
                  <a:pt x="2817" y="12846"/>
                  <a:pt x="7832" y="7832"/>
                </a:cubicBezTo>
                <a:cubicBezTo>
                  <a:pt x="12846" y="2817"/>
                  <a:pt x="19648" y="0"/>
                  <a:pt x="26740" y="0"/>
                </a:cubicBezTo>
                <a:close/>
              </a:path>
            </a:pathLst>
          </a:custGeom>
          <a:solidFill>
            <a:srgbClr val="FFFFFF"/>
          </a:solidFill>
          <a:ln w="19050">
            <a:solidFill>
              <a:srgbClr val="A6A6A6"/>
            </a:solidFill>
            <a:prstDash val="solid"/>
          </a:ln>
        </p:spPr>
        <p:txBody>
          <a:bodyPr/>
          <a:lstStyle/>
          <a:p>
            <a:endParaRPr lang="en-EC"/>
          </a:p>
        </p:txBody>
      </p:sp>
      <p:sp>
        <p:nvSpPr>
          <p:cNvPr id="5" name="TextBox 5">
            <a:extLst>
              <a:ext uri="{FF2B5EF4-FFF2-40B4-BE49-F238E27FC236}">
                <a16:creationId xmlns:a16="http://schemas.microsoft.com/office/drawing/2014/main" id="{4573FFA6-37E4-4E04-A7D4-5E84FD45750D}"/>
              </a:ext>
            </a:extLst>
          </p:cNvPr>
          <p:cNvSpPr>
            <a:spLocks noGrp="1"/>
          </p:cNvSpPr>
          <p:nvPr/>
        </p:nvSpPr>
        <p:spPr>
          <a:xfrm>
            <a:off x="8352233" y="1947495"/>
            <a:ext cx="8685930" cy="5478390"/>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0600E764-EC72-4C4E-9F1F-490CE2B4EB9C}"/>
              </a:ext>
            </a:extLst>
          </p:cNvPr>
          <p:cNvSpPr>
            <a:spLocks noGrp="1"/>
          </p:cNvSpPr>
          <p:nvPr/>
        </p:nvSpPr>
        <p:spPr>
          <a:xfrm flipV="1">
            <a:off x="1745314" y="473599"/>
            <a:ext cx="222105" cy="172434"/>
          </a:xfrm>
          <a:custGeom>
            <a:avLst/>
            <a:gdLst/>
            <a:ahLst/>
            <a:cxnLst/>
            <a:rect l="l" t="t" r="r" b="b"/>
            <a:pathLst>
              <a:path w="222105" h="172434">
                <a:moveTo>
                  <a:pt x="0" y="172434"/>
                </a:moveTo>
                <a:lnTo>
                  <a:pt x="222105" y="172434"/>
                </a:lnTo>
                <a:lnTo>
                  <a:pt x="222105" y="0"/>
                </a:lnTo>
                <a:lnTo>
                  <a:pt x="0" y="0"/>
                </a:lnTo>
                <a:lnTo>
                  <a:pt x="0"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BFF8C72C-B0DD-40E6-A034-F60ECD07FC6A}"/>
              </a:ext>
            </a:extLst>
          </p:cNvPr>
          <p:cNvSpPr>
            <a:spLocks noGrp="1"/>
          </p:cNvSpPr>
          <p:nvPr/>
        </p:nvSpPr>
        <p:spPr>
          <a:xfrm flipH="1">
            <a:off x="4309006" y="1430256"/>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35085F12-EC87-4E03-9F49-6C9E58E09CC1}"/>
              </a:ext>
            </a:extLst>
          </p:cNvPr>
          <p:cNvSpPr>
            <a:spLocks noGrp="1"/>
          </p:cNvSpPr>
          <p:nvPr/>
        </p:nvSpPr>
        <p:spPr>
          <a:xfrm flipH="1" flipV="1">
            <a:off x="4309006" y="473599"/>
            <a:ext cx="222105" cy="172434"/>
          </a:xfrm>
          <a:custGeom>
            <a:avLst/>
            <a:gdLst/>
            <a:ahLst/>
            <a:cxnLst/>
            <a:rect l="l" t="t" r="r" b="b"/>
            <a:pathLst>
              <a:path w="222105" h="172434">
                <a:moveTo>
                  <a:pt x="222105" y="172434"/>
                </a:moveTo>
                <a:lnTo>
                  <a:pt x="0" y="172434"/>
                </a:lnTo>
                <a:lnTo>
                  <a:pt x="0" y="0"/>
                </a:lnTo>
                <a:lnTo>
                  <a:pt x="222105" y="0"/>
                </a:lnTo>
                <a:lnTo>
                  <a:pt x="222105"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10" name="Freeform 10">
            <a:extLst>
              <a:ext uri="{FF2B5EF4-FFF2-40B4-BE49-F238E27FC236}">
                <a16:creationId xmlns:a16="http://schemas.microsoft.com/office/drawing/2014/main" id="{C88DBD76-2FE5-4E4E-836E-9B499E541049}"/>
              </a:ext>
            </a:extLst>
          </p:cNvPr>
          <p:cNvSpPr>
            <a:spLocks noGrp="1"/>
          </p:cNvSpPr>
          <p:nvPr/>
        </p:nvSpPr>
        <p:spPr>
          <a:xfrm>
            <a:off x="1139752" y="2454241"/>
            <a:ext cx="4406308" cy="6804059"/>
          </a:xfrm>
          <a:custGeom>
            <a:avLst/>
            <a:gdLst/>
            <a:ahLst/>
            <a:cxnLst/>
            <a:rect l="l" t="t" r="r" b="b"/>
            <a:pathLst>
              <a:path w="4112260" h="6350000">
                <a:moveTo>
                  <a:pt x="4112260" y="623570"/>
                </a:moveTo>
                <a:lnTo>
                  <a:pt x="4112260" y="2641600"/>
                </a:lnTo>
                <a:cubicBezTo>
                  <a:pt x="4112260" y="2821940"/>
                  <a:pt x="4033520" y="2993390"/>
                  <a:pt x="3897630" y="3112770"/>
                </a:cubicBezTo>
                <a:cubicBezTo>
                  <a:pt x="3761740" y="3230880"/>
                  <a:pt x="3683000" y="3402330"/>
                  <a:pt x="3683000" y="3583940"/>
                </a:cubicBezTo>
                <a:lnTo>
                  <a:pt x="3683000" y="5726430"/>
                </a:lnTo>
                <a:cubicBezTo>
                  <a:pt x="3683000" y="6070600"/>
                  <a:pt x="3403600" y="6350000"/>
                  <a:pt x="3059430" y="6350000"/>
                </a:cubicBezTo>
                <a:lnTo>
                  <a:pt x="623570" y="6350000"/>
                </a:lnTo>
                <a:cubicBezTo>
                  <a:pt x="279400" y="6350000"/>
                  <a:pt x="0" y="6070600"/>
                  <a:pt x="0" y="5726430"/>
                </a:cubicBezTo>
                <a:lnTo>
                  <a:pt x="0" y="623570"/>
                </a:lnTo>
                <a:cubicBezTo>
                  <a:pt x="0" y="279400"/>
                  <a:pt x="279400" y="0"/>
                  <a:pt x="623570" y="0"/>
                </a:cubicBezTo>
                <a:lnTo>
                  <a:pt x="3489960" y="0"/>
                </a:lnTo>
                <a:cubicBezTo>
                  <a:pt x="3834130" y="0"/>
                  <a:pt x="4112260" y="279400"/>
                  <a:pt x="4112260" y="623570"/>
                </a:cubicBezTo>
                <a:close/>
              </a:path>
            </a:pathLst>
          </a:custGeom>
          <a:blipFill>
            <a:blip r:embed="rId4"/>
            <a:stretch>
              <a:fillRect l="-8001" r="-8001"/>
            </a:stretch>
          </a:blipFill>
        </p:spPr>
        <p:txBody>
          <a:bodyPr/>
          <a:lstStyle/>
          <a:p>
            <a:endParaRPr lang="en-EC"/>
          </a:p>
        </p:txBody>
      </p:sp>
      <p:sp>
        <p:nvSpPr>
          <p:cNvPr id="11" name="TextBox 11">
            <a:extLst>
              <a:ext uri="{FF2B5EF4-FFF2-40B4-BE49-F238E27FC236}">
                <a16:creationId xmlns:a16="http://schemas.microsoft.com/office/drawing/2014/main" id="{26A51BE3-9DC4-4485-943B-5321BB79E4D4}"/>
              </a:ext>
            </a:extLst>
          </p:cNvPr>
          <p:cNvSpPr>
            <a:spLocks noGrp="1"/>
          </p:cNvSpPr>
          <p:nvPr/>
        </p:nvSpPr>
        <p:spPr>
          <a:xfrm>
            <a:off x="5277853" y="8173186"/>
            <a:ext cx="13010147" cy="1077924"/>
          </a:xfrm>
          <a:prstGeom prst="rect">
            <a:avLst/>
          </a:prstGeom>
        </p:spPr>
        <p:txBody>
          <a:bodyPr wrap="square" lIns="0" tIns="0" rIns="0" bIns="0" anchor="t">
            <a:spAutoFit/>
          </a:bodyPr>
          <a:lstStyle/>
          <a:p>
            <a:pPr algn="l">
              <a:lnSpc>
                <a:spcPts val="8260"/>
              </a:lnSpc>
              <a:buNone/>
            </a:pPr>
            <a:r>
              <a:rPr sz="8260" b="1" dirty="0">
                <a:solidFill>
                  <a:srgbClr val="1B1B1B"/>
                </a:solidFill>
                <a:latin typeface="Telegraf Medium"/>
                <a:ea typeface="Telegraf Medium"/>
                <a:cs typeface="Telegraf Medium"/>
              </a:rPr>
              <a:t>Antikythera  Mechanism</a:t>
            </a:r>
          </a:p>
        </p:txBody>
      </p:sp>
      <p:sp>
        <p:nvSpPr>
          <p:cNvPr id="12" name="TextBox 12">
            <a:extLst>
              <a:ext uri="{FF2B5EF4-FFF2-40B4-BE49-F238E27FC236}">
                <a16:creationId xmlns:a16="http://schemas.microsoft.com/office/drawing/2014/main" id="{AADA5644-C957-4294-B105-AAD1B28913A0}"/>
              </a:ext>
            </a:extLst>
          </p:cNvPr>
          <p:cNvSpPr>
            <a:spLocks noGrp="1"/>
          </p:cNvSpPr>
          <p:nvPr/>
        </p:nvSpPr>
        <p:spPr>
          <a:xfrm>
            <a:off x="8596968" y="2318647"/>
            <a:ext cx="8038047" cy="5461445"/>
          </a:xfrm>
          <a:prstGeom prst="rect">
            <a:avLst/>
          </a:prstGeom>
        </p:spPr>
        <p:txBody>
          <a:bodyPr lIns="0" tIns="0" rIns="0" bIns="0" anchor="t">
            <a:spAutoFit/>
          </a:bodyPr>
          <a:lstStyle/>
          <a:p>
            <a:pPr marL="604513" indent="-302256">
              <a:lnSpc>
                <a:spcPts val="3695"/>
              </a:lnSpc>
              <a:buFont typeface="Arial"/>
              <a:buChar char="•"/>
            </a:pPr>
            <a:r>
              <a:rPr sz="2799">
                <a:solidFill>
                  <a:srgbClr val="1B1B1B"/>
                </a:solidFill>
                <a:latin typeface="Helvetica World"/>
                <a:ea typeface="Helvetica World"/>
                <a:cs typeface="Helvetica World"/>
              </a:rPr>
              <a:t>It is the earliest known analog computer, capable of calculating and predicting astronomical positions and eclipses up to 19 years ahead.</a:t>
            </a:r>
          </a:p>
          <a:p>
            <a:pPr marL="604513" indent="-302256">
              <a:lnSpc>
                <a:spcPts val="3695"/>
              </a:lnSpc>
              <a:buFont typeface="Arial"/>
              <a:buChar char="•"/>
            </a:pPr>
            <a:r>
              <a:rPr sz="2799">
                <a:solidFill>
                  <a:srgbClr val="1B1B1B"/>
                </a:solidFill>
                <a:latin typeface="Helvetica World"/>
                <a:ea typeface="Helvetica World"/>
                <a:cs typeface="Helvetica World"/>
              </a:rPr>
              <a:t>It could also calculate the dates of six ancient Greek competitions.</a:t>
            </a:r>
          </a:p>
          <a:p>
            <a:pPr marL="604513" indent="-302256">
              <a:lnSpc>
                <a:spcPts val="3695"/>
              </a:lnSpc>
              <a:buFont typeface="Arial"/>
              <a:buChar char="•"/>
            </a:pPr>
            <a:r>
              <a:rPr sz="2799" i="1">
                <a:solidFill>
                  <a:srgbClr val="1B1B1B"/>
                </a:solidFill>
                <a:latin typeface="Helvetica World Italics"/>
                <a:ea typeface="Helvetica World Italics"/>
                <a:cs typeface="Helvetica World Italics"/>
              </a:rPr>
              <a:t>This discovery fundamentally challenges the belief that human technological development has always been incremental.</a:t>
            </a:r>
          </a:p>
          <a:p>
            <a:pPr>
              <a:lnSpc>
                <a:spcPts val="4751"/>
              </a:lnSpc>
              <a:buNone/>
            </a:pPr>
            <a:endParaRPr sz="2799" i="1">
              <a:solidFill>
                <a:srgbClr val="1B1B1B"/>
              </a:solidFill>
              <a:latin typeface="Helvetica World Italics"/>
              <a:ea typeface="Helvetica World Italics"/>
              <a:cs typeface="Helvetica World Italics"/>
            </a:endParaRPr>
          </a:p>
        </p:txBody>
      </p:sp>
      <p:sp>
        <p:nvSpPr>
          <p:cNvPr id="13" name="TextBox 13">
            <a:extLst>
              <a:ext uri="{FF2B5EF4-FFF2-40B4-BE49-F238E27FC236}">
                <a16:creationId xmlns:a16="http://schemas.microsoft.com/office/drawing/2014/main" id="{73CFCCEC-D446-4D9C-9A1E-56B561ACD94F}"/>
              </a:ext>
            </a:extLst>
          </p:cNvPr>
          <p:cNvSpPr>
            <a:spLocks noGrp="1"/>
          </p:cNvSpPr>
          <p:nvPr/>
        </p:nvSpPr>
        <p:spPr>
          <a:xfrm>
            <a:off x="1967419" y="674608"/>
            <a:ext cx="2750976" cy="727075"/>
          </a:xfrm>
          <a:prstGeom prst="rect">
            <a:avLst/>
          </a:prstGeom>
        </p:spPr>
        <p:txBody>
          <a:bodyPr lIns="0" tIns="0" rIns="0" bIns="0" anchor="t">
            <a:spAutoFit/>
          </a:bodyPr>
          <a:lstStyle/>
          <a:p>
            <a:pPr algn="l">
              <a:lnSpc>
                <a:spcPts val="5000"/>
              </a:lnSpc>
              <a:buNone/>
            </a:pPr>
            <a:r>
              <a:rPr sz="5000" b="1">
                <a:solidFill>
                  <a:srgbClr val="1B1B1B"/>
                </a:solidFill>
                <a:latin typeface="Telegraf Medium"/>
                <a:ea typeface="Telegraf Medium"/>
                <a:cs typeface="Telegraf Medium"/>
              </a:rPr>
              <a:t>200 BC</a:t>
            </a:r>
          </a:p>
        </p:txBody>
      </p:sp>
    </p:spTree>
    <p:extLst>
      <p:ext uri="{BB962C8B-B14F-4D97-AF65-F5344CB8AC3E}">
        <p14:creationId xmlns:p14="http://schemas.microsoft.com/office/powerpoint/2010/main" val="141239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7AAD24EE-D4DF-4709-A637-5B67C58A9497}"/>
              </a:ext>
            </a:extLst>
          </p:cNvPr>
          <p:cNvSpPr>
            <a:spLocks noGrp="1"/>
          </p:cNvSpPr>
          <p:nvPr/>
        </p:nvSpPr>
        <p:spPr>
          <a:xfrm>
            <a:off x="1745314" y="1411367"/>
            <a:ext cx="222105" cy="172434"/>
          </a:xfrm>
          <a:custGeom>
            <a:avLst/>
            <a:gdLst/>
            <a:ahLst/>
            <a:cxnLst/>
            <a:rect l="l" t="t" r="r" b="b"/>
            <a:pathLst>
              <a:path w="222105" h="172434">
                <a:moveTo>
                  <a:pt x="0" y="0"/>
                </a:moveTo>
                <a:lnTo>
                  <a:pt x="222105" y="0"/>
                </a:lnTo>
                <a:lnTo>
                  <a:pt x="222105" y="172434"/>
                </a:lnTo>
                <a:lnTo>
                  <a:pt x="0" y="17243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4" name="Freeform 4">
            <a:extLst>
              <a:ext uri="{FF2B5EF4-FFF2-40B4-BE49-F238E27FC236}">
                <a16:creationId xmlns:a16="http://schemas.microsoft.com/office/drawing/2014/main" id="{6AA981E7-EC18-478C-B262-CE02CE2F8B3F}"/>
              </a:ext>
            </a:extLst>
          </p:cNvPr>
          <p:cNvSpPr>
            <a:spLocks noGrp="1"/>
          </p:cNvSpPr>
          <p:nvPr/>
        </p:nvSpPr>
        <p:spPr>
          <a:xfrm>
            <a:off x="8352233" y="3068630"/>
            <a:ext cx="8685930" cy="3359943"/>
          </a:xfrm>
          <a:custGeom>
            <a:avLst/>
            <a:gdLst/>
            <a:ahLst/>
            <a:cxnLst/>
            <a:rect l="l" t="t" r="r" b="b"/>
            <a:pathLst>
              <a:path w="2287652" h="884923">
                <a:moveTo>
                  <a:pt x="26740" y="0"/>
                </a:moveTo>
                <a:lnTo>
                  <a:pt x="2260913" y="0"/>
                </a:lnTo>
                <a:cubicBezTo>
                  <a:pt x="2268004" y="0"/>
                  <a:pt x="2274806" y="2817"/>
                  <a:pt x="2279820" y="7832"/>
                </a:cubicBezTo>
                <a:cubicBezTo>
                  <a:pt x="2284835" y="12846"/>
                  <a:pt x="2287652" y="19648"/>
                  <a:pt x="2287652" y="26740"/>
                </a:cubicBezTo>
                <a:lnTo>
                  <a:pt x="2287652" y="858184"/>
                </a:lnTo>
                <a:cubicBezTo>
                  <a:pt x="2287652" y="865275"/>
                  <a:pt x="2284835" y="872077"/>
                  <a:pt x="2279820" y="877091"/>
                </a:cubicBezTo>
                <a:cubicBezTo>
                  <a:pt x="2274806" y="882106"/>
                  <a:pt x="2268004" y="884923"/>
                  <a:pt x="2260913" y="884923"/>
                </a:cubicBezTo>
                <a:lnTo>
                  <a:pt x="26740" y="884923"/>
                </a:lnTo>
                <a:cubicBezTo>
                  <a:pt x="19648" y="884923"/>
                  <a:pt x="12846" y="882106"/>
                  <a:pt x="7832" y="877091"/>
                </a:cubicBezTo>
                <a:cubicBezTo>
                  <a:pt x="2817" y="872077"/>
                  <a:pt x="0" y="865275"/>
                  <a:pt x="0" y="858184"/>
                </a:cubicBezTo>
                <a:lnTo>
                  <a:pt x="0" y="26740"/>
                </a:lnTo>
                <a:cubicBezTo>
                  <a:pt x="0" y="19648"/>
                  <a:pt x="2817" y="12846"/>
                  <a:pt x="7832" y="7832"/>
                </a:cubicBezTo>
                <a:cubicBezTo>
                  <a:pt x="12846" y="2817"/>
                  <a:pt x="19648" y="0"/>
                  <a:pt x="26740" y="0"/>
                </a:cubicBezTo>
                <a:close/>
              </a:path>
            </a:pathLst>
          </a:custGeom>
          <a:solidFill>
            <a:srgbClr val="FFFFFF"/>
          </a:solidFill>
          <a:ln w="19050">
            <a:solidFill>
              <a:srgbClr val="A6A6A6"/>
            </a:solidFill>
            <a:prstDash val="solid"/>
          </a:ln>
        </p:spPr>
        <p:txBody>
          <a:bodyPr/>
          <a:lstStyle/>
          <a:p>
            <a:endParaRPr lang="en-EC"/>
          </a:p>
        </p:txBody>
      </p:sp>
      <p:sp>
        <p:nvSpPr>
          <p:cNvPr id="5" name="TextBox 5">
            <a:extLst>
              <a:ext uri="{FF2B5EF4-FFF2-40B4-BE49-F238E27FC236}">
                <a16:creationId xmlns:a16="http://schemas.microsoft.com/office/drawing/2014/main" id="{E4314186-4658-462E-A8E1-10E5BC677984}"/>
              </a:ext>
            </a:extLst>
          </p:cNvPr>
          <p:cNvSpPr>
            <a:spLocks noGrp="1"/>
          </p:cNvSpPr>
          <p:nvPr/>
        </p:nvSpPr>
        <p:spPr>
          <a:xfrm>
            <a:off x="8352233" y="2923970"/>
            <a:ext cx="8685930" cy="3504603"/>
          </a:xfrm>
          <a:prstGeom prst="rect">
            <a:avLst/>
          </a:prstGeom>
        </p:spPr>
        <p:txBody>
          <a:bodyPr lIns="50800" tIns="50800" rIns="50800" bIns="50800" anchor="ctr"/>
          <a:lstStyle/>
          <a:p>
            <a:pPr algn="ctr">
              <a:lnSpc>
                <a:spcPts val="2659"/>
              </a:lnSpc>
              <a:buNone/>
            </a:pPr>
            <a:endParaRPr/>
          </a:p>
        </p:txBody>
      </p:sp>
      <p:sp>
        <p:nvSpPr>
          <p:cNvPr id="6" name="Freeform 6">
            <a:extLst>
              <a:ext uri="{FF2B5EF4-FFF2-40B4-BE49-F238E27FC236}">
                <a16:creationId xmlns:a16="http://schemas.microsoft.com/office/drawing/2014/main" id="{AB50E2AE-73E1-4147-8632-77FE6E7AF280}"/>
              </a:ext>
            </a:extLst>
          </p:cNvPr>
          <p:cNvSpPr>
            <a:spLocks noGrp="1"/>
          </p:cNvSpPr>
          <p:nvPr/>
        </p:nvSpPr>
        <p:spPr>
          <a:xfrm flipV="1">
            <a:off x="1745314" y="516558"/>
            <a:ext cx="222105" cy="172434"/>
          </a:xfrm>
          <a:custGeom>
            <a:avLst/>
            <a:gdLst/>
            <a:ahLst/>
            <a:cxnLst/>
            <a:rect l="l" t="t" r="r" b="b"/>
            <a:pathLst>
              <a:path w="222105" h="172434">
                <a:moveTo>
                  <a:pt x="0" y="172434"/>
                </a:moveTo>
                <a:lnTo>
                  <a:pt x="222105" y="172434"/>
                </a:lnTo>
                <a:lnTo>
                  <a:pt x="222105" y="0"/>
                </a:lnTo>
                <a:lnTo>
                  <a:pt x="0" y="0"/>
                </a:lnTo>
                <a:lnTo>
                  <a:pt x="0"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7" name="Freeform 7">
            <a:extLst>
              <a:ext uri="{FF2B5EF4-FFF2-40B4-BE49-F238E27FC236}">
                <a16:creationId xmlns:a16="http://schemas.microsoft.com/office/drawing/2014/main" id="{2D24B08F-BD6A-420B-A5E4-5E934D8AE532}"/>
              </a:ext>
            </a:extLst>
          </p:cNvPr>
          <p:cNvSpPr>
            <a:spLocks noGrp="1"/>
          </p:cNvSpPr>
          <p:nvPr/>
        </p:nvSpPr>
        <p:spPr>
          <a:xfrm flipH="1">
            <a:off x="5033992" y="1411367"/>
            <a:ext cx="222105" cy="172434"/>
          </a:xfrm>
          <a:custGeom>
            <a:avLst/>
            <a:gdLst/>
            <a:ahLst/>
            <a:cxnLst/>
            <a:rect l="l" t="t" r="r" b="b"/>
            <a:pathLst>
              <a:path w="222105" h="172434">
                <a:moveTo>
                  <a:pt x="222105" y="0"/>
                </a:moveTo>
                <a:lnTo>
                  <a:pt x="0" y="0"/>
                </a:lnTo>
                <a:lnTo>
                  <a:pt x="0" y="172434"/>
                </a:lnTo>
                <a:lnTo>
                  <a:pt x="222105" y="172434"/>
                </a:lnTo>
                <a:lnTo>
                  <a:pt x="222105"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8" name="Freeform 8">
            <a:extLst>
              <a:ext uri="{FF2B5EF4-FFF2-40B4-BE49-F238E27FC236}">
                <a16:creationId xmlns:a16="http://schemas.microsoft.com/office/drawing/2014/main" id="{74A16235-B9E8-4882-A711-C346709058AD}"/>
              </a:ext>
            </a:extLst>
          </p:cNvPr>
          <p:cNvSpPr>
            <a:spLocks noGrp="1"/>
          </p:cNvSpPr>
          <p:nvPr/>
        </p:nvSpPr>
        <p:spPr>
          <a:xfrm flipH="1" flipV="1">
            <a:off x="5033991" y="487983"/>
            <a:ext cx="222105" cy="172434"/>
          </a:xfrm>
          <a:custGeom>
            <a:avLst/>
            <a:gdLst/>
            <a:ahLst/>
            <a:cxnLst/>
            <a:rect l="l" t="t" r="r" b="b"/>
            <a:pathLst>
              <a:path w="222105" h="172434">
                <a:moveTo>
                  <a:pt x="222105" y="172434"/>
                </a:moveTo>
                <a:lnTo>
                  <a:pt x="0" y="172434"/>
                </a:lnTo>
                <a:lnTo>
                  <a:pt x="0" y="0"/>
                </a:lnTo>
                <a:lnTo>
                  <a:pt x="222105" y="0"/>
                </a:lnTo>
                <a:lnTo>
                  <a:pt x="222105" y="172434"/>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EC"/>
          </a:p>
        </p:txBody>
      </p:sp>
      <p:sp>
        <p:nvSpPr>
          <p:cNvPr id="9" name="Freeform 9">
            <a:extLst>
              <a:ext uri="{FF2B5EF4-FFF2-40B4-BE49-F238E27FC236}">
                <a16:creationId xmlns:a16="http://schemas.microsoft.com/office/drawing/2014/main" id="{CF9960BE-7D40-4F81-8EE4-C4B940E6558F}"/>
              </a:ext>
            </a:extLst>
          </p:cNvPr>
          <p:cNvSpPr>
            <a:spLocks noGrp="1"/>
          </p:cNvSpPr>
          <p:nvPr/>
        </p:nvSpPr>
        <p:spPr>
          <a:xfrm>
            <a:off x="1659557" y="2525261"/>
            <a:ext cx="5076793" cy="5076793"/>
          </a:xfrm>
          <a:custGeom>
            <a:avLst/>
            <a:gdLst/>
            <a:ahLst/>
            <a:cxnLst/>
            <a:rect l="l" t="t" r="r" b="b"/>
            <a:pathLst>
              <a:path w="5076793" h="5076793">
                <a:moveTo>
                  <a:pt x="0" y="0"/>
                </a:moveTo>
                <a:lnTo>
                  <a:pt x="5076793" y="0"/>
                </a:lnTo>
                <a:lnTo>
                  <a:pt x="5076793" y="5076793"/>
                </a:lnTo>
                <a:lnTo>
                  <a:pt x="0" y="5076793"/>
                </a:lnTo>
                <a:lnTo>
                  <a:pt x="0" y="0"/>
                </a:lnTo>
                <a:close/>
              </a:path>
            </a:pathLst>
          </a:custGeom>
          <a:blipFill>
            <a:blip r:embed="rId4"/>
            <a:stretch>
              <a:fillRect/>
            </a:stretch>
          </a:blipFill>
        </p:spPr>
        <p:txBody>
          <a:bodyPr/>
          <a:lstStyle/>
          <a:p>
            <a:endParaRPr lang="en-EC"/>
          </a:p>
        </p:txBody>
      </p:sp>
      <p:sp>
        <p:nvSpPr>
          <p:cNvPr id="10" name="TextBox 10">
            <a:extLst>
              <a:ext uri="{FF2B5EF4-FFF2-40B4-BE49-F238E27FC236}">
                <a16:creationId xmlns:a16="http://schemas.microsoft.com/office/drawing/2014/main" id="{EA1BFC1B-47FD-4EAE-8664-62E719E0B165}"/>
              </a:ext>
            </a:extLst>
          </p:cNvPr>
          <p:cNvSpPr>
            <a:spLocks noGrp="1"/>
          </p:cNvSpPr>
          <p:nvPr/>
        </p:nvSpPr>
        <p:spPr>
          <a:xfrm>
            <a:off x="8676174" y="3634683"/>
            <a:ext cx="8038047" cy="3583687"/>
          </a:xfrm>
          <a:prstGeom prst="rect">
            <a:avLst/>
          </a:prstGeom>
        </p:spPr>
        <p:txBody>
          <a:bodyPr lIns="0" tIns="0" rIns="0" bIns="0" anchor="t">
            <a:spAutoFit/>
          </a:bodyPr>
          <a:lstStyle/>
          <a:p>
            <a:pPr>
              <a:lnSpc>
                <a:spcPts val="4751"/>
              </a:lnSpc>
              <a:buNone/>
            </a:pPr>
            <a:r>
              <a:rPr sz="3599">
                <a:solidFill>
                  <a:srgbClr val="1B1B1B"/>
                </a:solidFill>
                <a:latin typeface="Helvetica World"/>
                <a:ea typeface="Helvetica World"/>
                <a:cs typeface="Helvetica World"/>
              </a:rPr>
              <a:t>The Iliad describes Talos:</a:t>
            </a:r>
          </a:p>
          <a:p>
            <a:pPr>
              <a:lnSpc>
                <a:spcPts val="4751"/>
              </a:lnSpc>
              <a:buNone/>
            </a:pPr>
            <a:r>
              <a:rPr sz="3599">
                <a:solidFill>
                  <a:srgbClr val="1B1B1B"/>
                </a:solidFill>
                <a:latin typeface="Helvetica World"/>
                <a:ea typeface="Helvetica World"/>
                <a:cs typeface="Helvetica World"/>
              </a:rPr>
              <a:t>A giant (automaton) made of bronze who protected Europa on Crete from pirates and invaders.</a:t>
            </a:r>
          </a:p>
          <a:p>
            <a:pPr>
              <a:lnSpc>
                <a:spcPts val="4751"/>
              </a:lnSpc>
              <a:buNone/>
            </a:pPr>
            <a:r>
              <a:rPr sz="3599">
                <a:solidFill>
                  <a:srgbClr val="1B1B1B"/>
                </a:solidFill>
                <a:latin typeface="Helvetica World"/>
                <a:ea typeface="Helvetica World"/>
                <a:cs typeface="Helvetica World"/>
              </a:rPr>
              <a:t> </a:t>
            </a:r>
          </a:p>
          <a:p>
            <a:pPr>
              <a:lnSpc>
                <a:spcPts val="4751"/>
              </a:lnSpc>
              <a:buNone/>
            </a:pPr>
            <a:endParaRPr sz="3599">
              <a:solidFill>
                <a:srgbClr val="1B1B1B"/>
              </a:solidFill>
              <a:latin typeface="Helvetica World"/>
              <a:ea typeface="Helvetica World"/>
              <a:cs typeface="Helvetica World"/>
            </a:endParaRPr>
          </a:p>
        </p:txBody>
      </p:sp>
      <p:sp>
        <p:nvSpPr>
          <p:cNvPr id="11" name="TextBox 11">
            <a:extLst>
              <a:ext uri="{FF2B5EF4-FFF2-40B4-BE49-F238E27FC236}">
                <a16:creationId xmlns:a16="http://schemas.microsoft.com/office/drawing/2014/main" id="{1F386ED5-99C4-4DB5-972F-EDA863D3490C}"/>
              </a:ext>
            </a:extLst>
          </p:cNvPr>
          <p:cNvSpPr>
            <a:spLocks noGrp="1"/>
          </p:cNvSpPr>
          <p:nvPr/>
        </p:nvSpPr>
        <p:spPr>
          <a:xfrm>
            <a:off x="2078471" y="674608"/>
            <a:ext cx="3177626" cy="727075"/>
          </a:xfrm>
          <a:prstGeom prst="rect">
            <a:avLst/>
          </a:prstGeom>
        </p:spPr>
        <p:txBody>
          <a:bodyPr lIns="0" tIns="0" rIns="0" bIns="0" anchor="t">
            <a:spAutoFit/>
          </a:bodyPr>
          <a:lstStyle/>
          <a:p>
            <a:pPr algn="l">
              <a:lnSpc>
                <a:spcPts val="5000"/>
              </a:lnSpc>
              <a:buNone/>
            </a:pPr>
            <a:r>
              <a:rPr sz="5000" b="1">
                <a:solidFill>
                  <a:srgbClr val="1B1B1B"/>
                </a:solidFill>
                <a:latin typeface="Telegraf Medium"/>
                <a:ea typeface="Telegraf Medium"/>
                <a:cs typeface="Telegraf Medium"/>
              </a:rPr>
              <a:t>800 BC?</a:t>
            </a:r>
          </a:p>
        </p:txBody>
      </p:sp>
    </p:spTree>
    <p:extLst>
      <p:ext uri="{BB962C8B-B14F-4D97-AF65-F5344CB8AC3E}">
        <p14:creationId xmlns:p14="http://schemas.microsoft.com/office/powerpoint/2010/main" val="293685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1204</Words>
  <Application>Microsoft Macintosh PowerPoint</Application>
  <DocSecurity>0</DocSecurity>
  <PresentationFormat>Custom</PresentationFormat>
  <Paragraphs>150</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Calibri</vt:lpstr>
      <vt:lpstr>Arial</vt:lpstr>
      <vt:lpstr>Helvetica World Bold Italics</vt:lpstr>
      <vt:lpstr>Helvetica World Bold</vt:lpstr>
      <vt:lpstr>Telegraf</vt:lpstr>
      <vt:lpstr>Helvetica World</vt:lpstr>
      <vt:lpstr>Telegraf Bold</vt:lpstr>
      <vt:lpstr>Helvetica World Italics</vt:lpstr>
      <vt:lpstr>Telegraf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Daniel Riofrío</cp:lastModifiedBy>
  <cp:revision>2</cp:revision>
  <dcterms:created xsi:type="dcterms:W3CDTF">2026-07-18T04:27:10Z</dcterms:created>
  <dcterms:modified xsi:type="dcterms:W3CDTF">2026-07-18T15:30:45Z</dcterms:modified>
</cp:coreProperties>
</file>